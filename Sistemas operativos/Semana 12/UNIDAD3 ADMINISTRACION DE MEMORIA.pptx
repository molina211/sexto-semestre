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81" r:id="rId12"/>
    <p:sldId id="266" r:id="rId13"/>
    <p:sldId id="267" r:id="rId14"/>
    <p:sldId id="268" r:id="rId15"/>
    <p:sldId id="269" r:id="rId16"/>
    <p:sldId id="270" r:id="rId17"/>
    <p:sldId id="271" r:id="rId18"/>
    <p:sldId id="272" r:id="rId19"/>
    <p:sldId id="273" r:id="rId20"/>
    <p:sldId id="274" r:id="rId21"/>
    <p:sldId id="275" r:id="rId22"/>
    <p:sldId id="282" r:id="rId23"/>
    <p:sldId id="276" r:id="rId24"/>
    <p:sldId id="277" r:id="rId25"/>
    <p:sldId id="278" r:id="rId26"/>
    <p:sldId id="279" r:id="rId27"/>
    <p:sldId id="280" r:id="rId28"/>
    <p:sldId id="283"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06" autoAdjust="0"/>
    <p:restoredTop sz="94660"/>
  </p:normalViewPr>
  <p:slideViewPr>
    <p:cSldViewPr snapToGrid="0">
      <p:cViewPr varScale="1">
        <p:scale>
          <a:sx n="72" d="100"/>
          <a:sy n="72" d="100"/>
        </p:scale>
        <p:origin x="67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2184601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2644235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2000163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98E9128-2A2A-4D7A-9F51-22C57D0056A9}" type="datetimeFigureOut">
              <a:rPr lang="es-CO" smtClean="0"/>
              <a:t>21/03/2024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3900490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98E9128-2A2A-4D7A-9F51-22C57D0056A9}" type="datetimeFigureOut">
              <a:rPr lang="es-CO" smtClean="0"/>
              <a:t>21/03/2024</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3191847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98E9128-2A2A-4D7A-9F51-22C57D0056A9}" type="datetimeFigureOut">
              <a:rPr lang="es-CO" smtClean="0"/>
              <a:t>21/03/2024</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623428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8E9128-2A2A-4D7A-9F51-22C57D0056A9}" type="datetimeFigureOut">
              <a:rPr lang="es-CO" smtClean="0"/>
              <a:t>21/03/2024</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308100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A98E9128-2A2A-4D7A-9F51-22C57D0056A9}" type="datetimeFigureOut">
              <a:rPr lang="es-CO" smtClean="0"/>
              <a:t>21/03/2024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3307052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A98E9128-2A2A-4D7A-9F51-22C57D0056A9}" type="datetimeFigureOut">
              <a:rPr lang="es-CO" smtClean="0"/>
              <a:t>21/03/2024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3010622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2049226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38983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964568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73192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2321333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3317630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8E9128-2A2A-4D7A-9F51-22C57D0056A9}" type="datetimeFigureOut">
              <a:rPr lang="es-CO" smtClean="0"/>
              <a:t>21/03/2024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3A47C5F-F502-4EB1-8D4C-862FD521F21C}" type="slidenum">
              <a:rPr lang="es-CO" smtClean="0"/>
              <a:t>‹Nº›</a:t>
            </a:fld>
            <a:endParaRPr lang="es-CO"/>
          </a:p>
        </p:txBody>
      </p:sp>
    </p:spTree>
    <p:extLst>
      <p:ext uri="{BB962C8B-B14F-4D97-AF65-F5344CB8AC3E}">
        <p14:creationId xmlns:p14="http://schemas.microsoft.com/office/powerpoint/2010/main" val="1119691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98E9128-2A2A-4D7A-9F51-22C57D0056A9}" type="datetimeFigureOut">
              <a:rPr lang="es-CO" smtClean="0"/>
              <a:t>21/03/2024</a:t>
            </a:fld>
            <a:endParaRPr lang="es-CO"/>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3A47C5F-F502-4EB1-8D4C-862FD521F21C}" type="slidenum">
              <a:rPr lang="es-CO" smtClean="0"/>
              <a:t>‹Nº›</a:t>
            </a:fld>
            <a:endParaRPr lang="es-CO"/>
          </a:p>
        </p:txBody>
      </p:sp>
    </p:spTree>
    <p:extLst>
      <p:ext uri="{BB962C8B-B14F-4D97-AF65-F5344CB8AC3E}">
        <p14:creationId xmlns:p14="http://schemas.microsoft.com/office/powerpoint/2010/main" val="6928156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UNIDAD3%20ADMON%20DE%20MEMORIA%20EJERCICIOS%20RESUELTOS.docx" TargetMode="Externa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888642" y="515155"/>
            <a:ext cx="10637950" cy="4524315"/>
          </a:xfrm>
          <a:prstGeom prst="rect">
            <a:avLst/>
          </a:prstGeom>
          <a:noFill/>
        </p:spPr>
        <p:txBody>
          <a:bodyPr wrap="square" rtlCol="0">
            <a:spAutoFit/>
          </a:bodyPr>
          <a:lstStyle/>
          <a:p>
            <a:pPr algn="ctr"/>
            <a:endParaRPr lang="es-CO" sz="3600" dirty="0"/>
          </a:p>
          <a:p>
            <a:pPr algn="ctr"/>
            <a:endParaRPr lang="es-CO" sz="3600" dirty="0"/>
          </a:p>
          <a:p>
            <a:pPr algn="ctr"/>
            <a:r>
              <a:rPr lang="es-CO" sz="3600" b="1" dirty="0">
                <a:solidFill>
                  <a:srgbClr val="00B050"/>
                </a:solidFill>
              </a:rPr>
              <a:t>SISTEMAS OPERATIVOS</a:t>
            </a:r>
          </a:p>
          <a:p>
            <a:pPr algn="ctr"/>
            <a:endParaRPr lang="es-CO" sz="3600" b="1" dirty="0">
              <a:solidFill>
                <a:srgbClr val="00B050"/>
              </a:solidFill>
            </a:endParaRPr>
          </a:p>
          <a:p>
            <a:pPr algn="ctr"/>
            <a:endParaRPr lang="es-CO" sz="3600" b="1" dirty="0">
              <a:solidFill>
                <a:srgbClr val="00B050"/>
              </a:solidFill>
            </a:endParaRPr>
          </a:p>
          <a:p>
            <a:pPr algn="ctr"/>
            <a:endParaRPr lang="es-CO" sz="3600" b="1" dirty="0">
              <a:solidFill>
                <a:srgbClr val="00B050"/>
              </a:solidFill>
            </a:endParaRPr>
          </a:p>
          <a:p>
            <a:pPr algn="ctr"/>
            <a:r>
              <a:rPr lang="es-CO" sz="3600" b="1" dirty="0">
                <a:solidFill>
                  <a:srgbClr val="00B050"/>
                </a:solidFill>
              </a:rPr>
              <a:t>UNIDAD 3</a:t>
            </a:r>
          </a:p>
          <a:p>
            <a:pPr algn="ctr"/>
            <a:r>
              <a:rPr lang="es-CO" sz="3600" b="1" dirty="0">
                <a:solidFill>
                  <a:srgbClr val="00B050"/>
                </a:solidFill>
              </a:rPr>
              <a:t>ADMINISTRACION DE MEMORIA</a:t>
            </a: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Tree>
    <p:extLst>
      <p:ext uri="{BB962C8B-B14F-4D97-AF65-F5344CB8AC3E}">
        <p14:creationId xmlns:p14="http://schemas.microsoft.com/office/powerpoint/2010/main" val="3028972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2356834" y="528034"/>
            <a:ext cx="6928834" cy="461665"/>
          </a:xfrm>
          <a:prstGeom prst="rect">
            <a:avLst/>
          </a:prstGeom>
          <a:noFill/>
        </p:spPr>
        <p:txBody>
          <a:bodyPr wrap="square" rtlCol="0">
            <a:spAutoFit/>
          </a:bodyPr>
          <a:lstStyle/>
          <a:p>
            <a:pPr algn="ctr"/>
            <a:r>
              <a:rPr lang="es-CO" sz="2400" dirty="0"/>
              <a:t>ESTRUCTURA DE LA MEMORIA</a:t>
            </a:r>
          </a:p>
        </p:txBody>
      </p:sp>
      <p:graphicFrame>
        <p:nvGraphicFramePr>
          <p:cNvPr id="10" name="Tabla 9"/>
          <p:cNvGraphicFramePr>
            <a:graphicFrameLocks noGrp="1"/>
          </p:cNvGraphicFramePr>
          <p:nvPr>
            <p:extLst>
              <p:ext uri="{D42A27DB-BD31-4B8C-83A1-F6EECF244321}">
                <p14:modId xmlns:p14="http://schemas.microsoft.com/office/powerpoint/2010/main" val="2070552513"/>
              </p:ext>
            </p:extLst>
          </p:nvPr>
        </p:nvGraphicFramePr>
        <p:xfrm>
          <a:off x="1741063" y="1236373"/>
          <a:ext cx="8536277" cy="4752309"/>
        </p:xfrm>
        <a:graphic>
          <a:graphicData uri="http://schemas.openxmlformats.org/drawingml/2006/table">
            <a:tbl>
              <a:tblPr>
                <a:tableStyleId>{5C22544A-7EE6-4342-B048-85BDC9FD1C3A}</a:tableStyleId>
              </a:tblPr>
              <a:tblGrid>
                <a:gridCol w="962738">
                  <a:extLst>
                    <a:ext uri="{9D8B030D-6E8A-4147-A177-3AD203B41FA5}">
                      <a16:colId xmlns:a16="http://schemas.microsoft.com/office/drawing/2014/main" val="20000"/>
                    </a:ext>
                  </a:extLst>
                </a:gridCol>
                <a:gridCol w="962738">
                  <a:extLst>
                    <a:ext uri="{9D8B030D-6E8A-4147-A177-3AD203B41FA5}">
                      <a16:colId xmlns:a16="http://schemas.microsoft.com/office/drawing/2014/main" val="20001"/>
                    </a:ext>
                  </a:extLst>
                </a:gridCol>
                <a:gridCol w="962738">
                  <a:extLst>
                    <a:ext uri="{9D8B030D-6E8A-4147-A177-3AD203B41FA5}">
                      <a16:colId xmlns:a16="http://schemas.microsoft.com/office/drawing/2014/main" val="20002"/>
                    </a:ext>
                  </a:extLst>
                </a:gridCol>
                <a:gridCol w="962738">
                  <a:extLst>
                    <a:ext uri="{9D8B030D-6E8A-4147-A177-3AD203B41FA5}">
                      <a16:colId xmlns:a16="http://schemas.microsoft.com/office/drawing/2014/main" val="20003"/>
                    </a:ext>
                  </a:extLst>
                </a:gridCol>
                <a:gridCol w="2759849">
                  <a:extLst>
                    <a:ext uri="{9D8B030D-6E8A-4147-A177-3AD203B41FA5}">
                      <a16:colId xmlns:a16="http://schemas.microsoft.com/office/drawing/2014/main" val="20004"/>
                    </a:ext>
                  </a:extLst>
                </a:gridCol>
                <a:gridCol w="962738">
                  <a:extLst>
                    <a:ext uri="{9D8B030D-6E8A-4147-A177-3AD203B41FA5}">
                      <a16:colId xmlns:a16="http://schemas.microsoft.com/office/drawing/2014/main" val="20005"/>
                    </a:ext>
                  </a:extLst>
                </a:gridCol>
                <a:gridCol w="962738">
                  <a:extLst>
                    <a:ext uri="{9D8B030D-6E8A-4147-A177-3AD203B41FA5}">
                      <a16:colId xmlns:a16="http://schemas.microsoft.com/office/drawing/2014/main" val="20006"/>
                    </a:ext>
                  </a:extLst>
                </a:gridCol>
              </a:tblGrid>
              <a:tr h="356780">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0"/>
                  </a:ext>
                </a:extLst>
              </a:tr>
              <a:tr h="356780">
                <a:tc>
                  <a:txBody>
                    <a:bodyPr/>
                    <a:lstStyle/>
                    <a:p>
                      <a:pPr algn="ctr" fontAlgn="b"/>
                      <a:r>
                        <a:rPr lang="es-CO" sz="1600" u="none" strike="noStrike" dirty="0" err="1">
                          <a:effectLst/>
                        </a:rPr>
                        <a:t>Indice</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tc>
                <a:tc>
                  <a:txBody>
                    <a:bodyPr/>
                    <a:lstStyle/>
                    <a:p>
                      <a:pPr algn="l" fontAlgn="b"/>
                      <a:r>
                        <a:rPr lang="es-CO" sz="1400" u="none" strike="noStrike" dirty="0">
                          <a:effectLst/>
                        </a:rPr>
                        <a:t>0</a:t>
                      </a:r>
                      <a:endParaRPr lang="es-CO" sz="14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1"/>
                  </a:ext>
                </a:extLst>
              </a:tr>
              <a:tr h="356780">
                <a:tc>
                  <a:txBody>
                    <a:bodyPr/>
                    <a:lstStyle/>
                    <a:p>
                      <a:pPr algn="ctr" fontAlgn="b"/>
                      <a:r>
                        <a:rPr lang="es-CO" sz="1600" u="none" strike="noStrike" dirty="0">
                          <a:effectLst/>
                        </a:rPr>
                        <a:t>0</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gridSpan="3">
                  <a:txBody>
                    <a:bodyPr/>
                    <a:lstStyle/>
                    <a:p>
                      <a:pPr algn="l" fontAlgn="b"/>
                      <a:r>
                        <a:rPr lang="es-CO" sz="1400" u="none" strike="noStrike" dirty="0">
                          <a:effectLst/>
                        </a:rPr>
                        <a:t> una casilla = 1 byte = 8 bits ;      1Bit</a:t>
                      </a:r>
                      <a:endParaRPr lang="es-CO" sz="1400" b="0" i="0" u="none" strike="noStrike" dirty="0">
                        <a:solidFill>
                          <a:srgbClr val="000000"/>
                        </a:solidFill>
                        <a:effectLst/>
                        <a:latin typeface="Calibri" panose="020F0502020204030204" pitchFamily="34" charset="0"/>
                      </a:endParaRPr>
                    </a:p>
                  </a:txBody>
                  <a:tcPr marL="0" marR="0" marT="0" marB="0" anchor="b"/>
                </a:tc>
                <a:tc hMerge="1">
                  <a:txBody>
                    <a:bodyPr/>
                    <a:lstStyle/>
                    <a:p>
                      <a:endParaRPr lang="es-CO"/>
                    </a:p>
                  </a:txBody>
                  <a:tcPr/>
                </a:tc>
                <a:tc hMerge="1">
                  <a:txBody>
                    <a:bodyPr/>
                    <a:lstStyle/>
                    <a:p>
                      <a:endParaRPr lang="es-CO"/>
                    </a:p>
                  </a:txBody>
                  <a:tcPr/>
                </a:tc>
                <a:tc>
                  <a:txBody>
                    <a:bodyPr/>
                    <a:lstStyle/>
                    <a:p>
                      <a:pPr algn="ctr"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2"/>
                  </a:ext>
                </a:extLst>
              </a:tr>
              <a:tr h="356780">
                <a:tc>
                  <a:txBody>
                    <a:bodyPr/>
                    <a:lstStyle/>
                    <a:p>
                      <a:pPr algn="ctr" fontAlgn="b"/>
                      <a:r>
                        <a:rPr lang="es-CO" sz="1600" u="none" strike="noStrike" dirty="0">
                          <a:effectLst/>
                        </a:rPr>
                        <a:t>1</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CO" sz="1400" u="none" strike="noStrike" dirty="0">
                          <a:effectLst/>
                        </a:rPr>
                        <a:t>1</a:t>
                      </a:r>
                      <a:endParaRPr lang="es-CO" sz="14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3"/>
                  </a:ext>
                </a:extLst>
              </a:tr>
              <a:tr h="285424">
                <a:tc>
                  <a:txBody>
                    <a:bodyPr/>
                    <a:lstStyle/>
                    <a:p>
                      <a:pPr algn="ctr" fontAlgn="b"/>
                      <a:r>
                        <a:rPr lang="es-CO" sz="1600" u="none" strike="noStrike" dirty="0">
                          <a:effectLst/>
                        </a:rPr>
                        <a:t>2</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4"/>
                  </a:ext>
                </a:extLst>
              </a:tr>
              <a:tr h="356780">
                <a:tc>
                  <a:txBody>
                    <a:bodyPr/>
                    <a:lstStyle/>
                    <a:p>
                      <a:pPr algn="ctr" fontAlgn="b"/>
                      <a:r>
                        <a:rPr lang="es-CO" sz="1600" u="none" strike="noStrike" dirty="0">
                          <a:effectLst/>
                        </a:rPr>
                        <a:t>3</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5"/>
                  </a:ext>
                </a:extLst>
              </a:tr>
              <a:tr h="356780">
                <a:tc>
                  <a:txBody>
                    <a:bodyPr/>
                    <a:lstStyle/>
                    <a:p>
                      <a:pPr algn="ctr" fontAlgn="b"/>
                      <a:r>
                        <a:rPr lang="es-CO" sz="1600" u="none" strike="noStrike" dirty="0">
                          <a:effectLst/>
                        </a:rPr>
                        <a:t>4</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s-CO" sz="1400" u="none" strike="noStrike">
                          <a:effectLst/>
                        </a:rPr>
                        <a:t>Binario</a:t>
                      </a:r>
                      <a:endParaRPr lang="es-CO" sz="14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s-CO" sz="1400" u="none" strike="noStrike">
                          <a:effectLst/>
                        </a:rPr>
                        <a:t>Decimal</a:t>
                      </a:r>
                      <a:endParaRPr lang="es-CO" sz="14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6"/>
                  </a:ext>
                </a:extLst>
              </a:tr>
              <a:tr h="356780">
                <a:tc>
                  <a:txBody>
                    <a:bodyPr/>
                    <a:lstStyle/>
                    <a:p>
                      <a:pPr algn="ctr" fontAlgn="b"/>
                      <a:r>
                        <a:rPr lang="es-CO" sz="1600" u="none" strike="noStrike" dirty="0">
                          <a:effectLst/>
                        </a:rPr>
                        <a:t>.</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CO" sz="1400" u="none" strike="noStrike">
                          <a:effectLst/>
                        </a:rPr>
                        <a:t>1 Byte = </a:t>
                      </a:r>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CO" sz="1400" u="none" strike="noStrike">
                          <a:effectLst/>
                        </a:rPr>
                        <a:t>0    0    0     0    0    0     0      0</a:t>
                      </a:r>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s-CO" sz="1400" u="none" strike="noStrike">
                          <a:effectLst/>
                        </a:rPr>
                        <a:t>0</a:t>
                      </a:r>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7"/>
                  </a:ext>
                </a:extLst>
              </a:tr>
              <a:tr h="399593">
                <a:tc>
                  <a:txBody>
                    <a:bodyPr/>
                    <a:lstStyle/>
                    <a:p>
                      <a:pPr algn="ctr" fontAlgn="b"/>
                      <a:r>
                        <a:rPr lang="es-CO" sz="1600" u="none" strike="noStrike" dirty="0">
                          <a:effectLst/>
                        </a:rPr>
                        <a:t>.</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CO" sz="1400" u="none" strike="noStrike" dirty="0">
                          <a:effectLst/>
                        </a:rPr>
                        <a:t>2</a:t>
                      </a:r>
                      <a:r>
                        <a:rPr lang="es-CO" sz="1400" u="none" strike="noStrike" baseline="30000" dirty="0">
                          <a:effectLst/>
                        </a:rPr>
                        <a:t>7 </a:t>
                      </a:r>
                      <a:r>
                        <a:rPr lang="es-CO" sz="1400" u="none" strike="noStrike" dirty="0">
                          <a:effectLst/>
                        </a:rPr>
                        <a:t>  2</a:t>
                      </a:r>
                      <a:r>
                        <a:rPr lang="es-CO" sz="1400" u="none" strike="noStrike" baseline="30000" dirty="0">
                          <a:effectLst/>
                        </a:rPr>
                        <a:t>6    </a:t>
                      </a:r>
                      <a:r>
                        <a:rPr lang="es-CO" sz="1400" u="none" strike="noStrike" dirty="0">
                          <a:effectLst/>
                        </a:rPr>
                        <a:t>2</a:t>
                      </a:r>
                      <a:r>
                        <a:rPr lang="es-CO" sz="1400" u="none" strike="noStrike" baseline="30000" dirty="0">
                          <a:effectLst/>
                        </a:rPr>
                        <a:t> 5     </a:t>
                      </a:r>
                      <a:r>
                        <a:rPr lang="es-CO" sz="1400" u="none" strike="noStrike" dirty="0">
                          <a:effectLst/>
                        </a:rPr>
                        <a:t>2</a:t>
                      </a:r>
                      <a:r>
                        <a:rPr lang="es-CO" sz="1400" u="none" strike="noStrike" baseline="30000" dirty="0">
                          <a:effectLst/>
                        </a:rPr>
                        <a:t>4     </a:t>
                      </a:r>
                      <a:r>
                        <a:rPr lang="es-CO" sz="1400" u="none" strike="noStrike" dirty="0">
                          <a:effectLst/>
                        </a:rPr>
                        <a:t>2 </a:t>
                      </a:r>
                      <a:r>
                        <a:rPr lang="es-CO" sz="1400" u="none" strike="noStrike" baseline="30000" dirty="0">
                          <a:effectLst/>
                        </a:rPr>
                        <a:t>3  </a:t>
                      </a:r>
                      <a:r>
                        <a:rPr lang="es-CO" sz="1400" u="none" strike="noStrike" dirty="0">
                          <a:effectLst/>
                        </a:rPr>
                        <a:t> 2</a:t>
                      </a:r>
                      <a:r>
                        <a:rPr lang="es-CO" sz="1400" u="none" strike="noStrike" baseline="30000" dirty="0">
                          <a:effectLst/>
                        </a:rPr>
                        <a:t>2     </a:t>
                      </a:r>
                      <a:r>
                        <a:rPr lang="es-CO" sz="1400" u="none" strike="noStrike" dirty="0">
                          <a:effectLst/>
                        </a:rPr>
                        <a:t>2</a:t>
                      </a:r>
                      <a:r>
                        <a:rPr lang="es-CO" sz="1400" u="none" strike="noStrike" baseline="30000" dirty="0">
                          <a:effectLst/>
                        </a:rPr>
                        <a:t>1       </a:t>
                      </a:r>
                      <a:r>
                        <a:rPr lang="es-CO" sz="1400" u="none" strike="noStrike" dirty="0">
                          <a:effectLst/>
                        </a:rPr>
                        <a:t>2</a:t>
                      </a:r>
                      <a:r>
                        <a:rPr lang="es-CO" sz="1400" u="none" strike="noStrike" baseline="30000" dirty="0">
                          <a:effectLst/>
                        </a:rPr>
                        <a:t>0</a:t>
                      </a:r>
                      <a:endParaRPr lang="es-CO" sz="14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CO" sz="1400" u="none" strike="noStrike">
                          <a:effectLst/>
                        </a:rPr>
                        <a:t>255</a:t>
                      </a:r>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8"/>
                  </a:ext>
                </a:extLst>
              </a:tr>
              <a:tr h="356780">
                <a:tc>
                  <a:txBody>
                    <a:bodyPr/>
                    <a:lstStyle/>
                    <a:p>
                      <a:pPr algn="ctr" fontAlgn="b"/>
                      <a:r>
                        <a:rPr lang="es-CO" sz="1600" u="none" strike="noStrike" dirty="0">
                          <a:effectLst/>
                        </a:rPr>
                        <a:t>.</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09"/>
                  </a:ext>
                </a:extLst>
              </a:tr>
              <a:tr h="356780">
                <a:tc>
                  <a:txBody>
                    <a:bodyPr/>
                    <a:lstStyle/>
                    <a:p>
                      <a:pPr algn="ctr" fontAlgn="b"/>
                      <a:r>
                        <a:rPr lang="es-CO" sz="1600" u="none" strike="noStrike" dirty="0">
                          <a:effectLst/>
                        </a:rPr>
                        <a:t>.</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10"/>
                  </a:ext>
                </a:extLst>
              </a:tr>
              <a:tr h="285424">
                <a:tc>
                  <a:txBody>
                    <a:bodyPr/>
                    <a:lstStyle/>
                    <a:p>
                      <a:pPr algn="ctr" fontAlgn="b"/>
                      <a:r>
                        <a:rPr lang="es-CO" sz="1600" u="none" strike="noStrike" dirty="0">
                          <a:effectLst/>
                        </a:rPr>
                        <a:t>65535</a:t>
                      </a:r>
                      <a:endParaRPr lang="es-CO" sz="16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s-CO" sz="1100" u="none" strike="noStrike" dirty="0">
                          <a:effectLst/>
                        </a:rPr>
                        <a:t> </a:t>
                      </a:r>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11"/>
                  </a:ext>
                </a:extLst>
              </a:tr>
              <a:tr h="285424">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12"/>
                  </a:ext>
                </a:extLst>
              </a:tr>
              <a:tr h="285424">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CO"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013"/>
                  </a:ext>
                </a:extLst>
              </a:tr>
            </a:tbl>
          </a:graphicData>
        </a:graphic>
      </p:graphicFrame>
      <p:cxnSp>
        <p:nvCxnSpPr>
          <p:cNvPr id="11" name="Conector recto de flecha 10"/>
          <p:cNvCxnSpPr/>
          <p:nvPr/>
        </p:nvCxnSpPr>
        <p:spPr>
          <a:xfrm flipV="1">
            <a:off x="6962104" y="1893194"/>
            <a:ext cx="1074313" cy="292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p:nvPr/>
        </p:nvCxnSpPr>
        <p:spPr>
          <a:xfrm>
            <a:off x="6952579" y="2195234"/>
            <a:ext cx="1083838" cy="316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a 14"/>
          <p:cNvGraphicFramePr>
            <a:graphicFrameLocks noGrp="1"/>
          </p:cNvGraphicFramePr>
          <p:nvPr>
            <p:extLst>
              <p:ext uri="{D42A27DB-BD31-4B8C-83A1-F6EECF244321}">
                <p14:modId xmlns:p14="http://schemas.microsoft.com/office/powerpoint/2010/main" val="2506103104"/>
              </p:ext>
            </p:extLst>
          </p:nvPr>
        </p:nvGraphicFramePr>
        <p:xfrm>
          <a:off x="2856371" y="2034858"/>
          <a:ext cx="762000" cy="3464420"/>
        </p:xfrm>
        <a:graphic>
          <a:graphicData uri="http://schemas.openxmlformats.org/drawingml/2006/table">
            <a:tbl>
              <a:tblPr firstRow="1" firstCol="1" bandRow="1">
                <a:tableStyleId>{5C22544A-7EE6-4342-B048-85BDC9FD1C3A}</a:tableStyleId>
              </a:tblPr>
              <a:tblGrid>
                <a:gridCol w="762000">
                  <a:extLst>
                    <a:ext uri="{9D8B030D-6E8A-4147-A177-3AD203B41FA5}">
                      <a16:colId xmlns:a16="http://schemas.microsoft.com/office/drawing/2014/main" val="20000"/>
                    </a:ext>
                  </a:extLst>
                </a:gridCol>
              </a:tblGrid>
              <a:tr h="356422">
                <a:tc>
                  <a:txBody>
                    <a:bodyPr/>
                    <a:lstStyle/>
                    <a:p>
                      <a:pPr>
                        <a:lnSpc>
                          <a:spcPct val="107000"/>
                        </a:lnSpc>
                        <a:spcAft>
                          <a:spcPts val="0"/>
                        </a:spcAft>
                      </a:pPr>
                      <a:r>
                        <a:rPr lang="es-CO" sz="1100" dirty="0">
                          <a:effectLst/>
                        </a:rPr>
                        <a:t> </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0"/>
                  </a:ext>
                </a:extLst>
              </a:tr>
              <a:tr h="356422">
                <a:tc>
                  <a:txBody>
                    <a:bodyPr/>
                    <a:lstStyle/>
                    <a:p>
                      <a:pPr>
                        <a:lnSpc>
                          <a:spcPct val="107000"/>
                        </a:lnSpc>
                        <a:spcAft>
                          <a:spcPts val="0"/>
                        </a:spcAft>
                      </a:pPr>
                      <a:r>
                        <a:rPr lang="es-CO" sz="1100" dirty="0">
                          <a:effectLst/>
                        </a:rPr>
                        <a:t> </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1"/>
                  </a:ext>
                </a:extLst>
              </a:tr>
              <a:tr h="285137">
                <a:tc>
                  <a:txBody>
                    <a:bodyPr/>
                    <a:lstStyle/>
                    <a:p>
                      <a:pPr>
                        <a:lnSpc>
                          <a:spcPct val="107000"/>
                        </a:lnSpc>
                        <a:spcAft>
                          <a:spcPts val="0"/>
                        </a:spcAft>
                      </a:pPr>
                      <a:r>
                        <a:rPr lang="es-CO" sz="1100">
                          <a:effectLst/>
                        </a:rPr>
                        <a:t> </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2"/>
                  </a:ext>
                </a:extLst>
              </a:tr>
              <a:tr h="356422">
                <a:tc>
                  <a:txBody>
                    <a:bodyPr/>
                    <a:lstStyle/>
                    <a:p>
                      <a:pPr>
                        <a:lnSpc>
                          <a:spcPct val="107000"/>
                        </a:lnSpc>
                        <a:spcAft>
                          <a:spcPts val="0"/>
                        </a:spcAft>
                      </a:pPr>
                      <a:r>
                        <a:rPr lang="es-CO" sz="1100">
                          <a:effectLst/>
                        </a:rPr>
                        <a:t> </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3"/>
                  </a:ext>
                </a:extLst>
              </a:tr>
              <a:tr h="356422">
                <a:tc>
                  <a:txBody>
                    <a:bodyPr/>
                    <a:lstStyle/>
                    <a:p>
                      <a:pPr>
                        <a:lnSpc>
                          <a:spcPct val="107000"/>
                        </a:lnSpc>
                        <a:spcAft>
                          <a:spcPts val="0"/>
                        </a:spcAft>
                      </a:pPr>
                      <a:r>
                        <a:rPr lang="es-CO" sz="1100">
                          <a:effectLst/>
                        </a:rPr>
                        <a:t> </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4"/>
                  </a:ext>
                </a:extLst>
              </a:tr>
              <a:tr h="356422">
                <a:tc>
                  <a:txBody>
                    <a:bodyPr/>
                    <a:lstStyle/>
                    <a:p>
                      <a:pPr>
                        <a:lnSpc>
                          <a:spcPct val="107000"/>
                        </a:lnSpc>
                        <a:spcAft>
                          <a:spcPts val="0"/>
                        </a:spcAft>
                      </a:pPr>
                      <a:r>
                        <a:rPr lang="es-CO" sz="1100" dirty="0">
                          <a:effectLst/>
                        </a:rPr>
                        <a:t> </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5"/>
                  </a:ext>
                </a:extLst>
              </a:tr>
              <a:tr h="399192">
                <a:tc>
                  <a:txBody>
                    <a:bodyPr/>
                    <a:lstStyle/>
                    <a:p>
                      <a:pPr>
                        <a:lnSpc>
                          <a:spcPct val="107000"/>
                        </a:lnSpc>
                        <a:spcAft>
                          <a:spcPts val="0"/>
                        </a:spcAft>
                      </a:pPr>
                      <a:r>
                        <a:rPr lang="es-CO" sz="1100">
                          <a:effectLst/>
                        </a:rPr>
                        <a:t> </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6"/>
                  </a:ext>
                </a:extLst>
              </a:tr>
              <a:tr h="356422">
                <a:tc>
                  <a:txBody>
                    <a:bodyPr/>
                    <a:lstStyle/>
                    <a:p>
                      <a:pPr>
                        <a:lnSpc>
                          <a:spcPct val="107000"/>
                        </a:lnSpc>
                        <a:spcAft>
                          <a:spcPts val="0"/>
                        </a:spcAft>
                      </a:pPr>
                      <a:r>
                        <a:rPr lang="es-CO" sz="1100">
                          <a:effectLst/>
                        </a:rPr>
                        <a:t> </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7"/>
                  </a:ext>
                </a:extLst>
              </a:tr>
              <a:tr h="356422">
                <a:tc>
                  <a:txBody>
                    <a:bodyPr/>
                    <a:lstStyle/>
                    <a:p>
                      <a:pPr>
                        <a:lnSpc>
                          <a:spcPct val="107000"/>
                        </a:lnSpc>
                        <a:spcAft>
                          <a:spcPts val="0"/>
                        </a:spcAft>
                      </a:pPr>
                      <a:r>
                        <a:rPr lang="es-CO" sz="1100" dirty="0">
                          <a:effectLst/>
                        </a:rPr>
                        <a:t> </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8"/>
                  </a:ext>
                </a:extLst>
              </a:tr>
              <a:tr h="285137">
                <a:tc>
                  <a:txBody>
                    <a:bodyPr/>
                    <a:lstStyle/>
                    <a:p>
                      <a:pPr>
                        <a:lnSpc>
                          <a:spcPct val="107000"/>
                        </a:lnSpc>
                        <a:spcAft>
                          <a:spcPts val="0"/>
                        </a:spcAft>
                      </a:pPr>
                      <a:r>
                        <a:rPr lang="es-CO" sz="1100" dirty="0">
                          <a:effectLst/>
                        </a:rPr>
                        <a:t> </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9"/>
                  </a:ext>
                </a:extLst>
              </a:tr>
            </a:tbl>
          </a:graphicData>
        </a:graphic>
      </p:graphicFrame>
      <p:sp>
        <p:nvSpPr>
          <p:cNvPr id="18" name="Rectángulo 17"/>
          <p:cNvSpPr/>
          <p:nvPr/>
        </p:nvSpPr>
        <p:spPr>
          <a:xfrm>
            <a:off x="2871989" y="2021983"/>
            <a:ext cx="710288" cy="373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rgbClr val="FFFF00"/>
              </a:solidFill>
            </a:endParaRPr>
          </a:p>
        </p:txBody>
      </p:sp>
    </p:spTree>
    <p:extLst>
      <p:ext uri="{BB962C8B-B14F-4D97-AF65-F5344CB8AC3E}">
        <p14:creationId xmlns:p14="http://schemas.microsoft.com/office/powerpoint/2010/main" val="3658147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1731818" y="609600"/>
            <a:ext cx="8825346" cy="584775"/>
          </a:xfrm>
          <a:prstGeom prst="rect">
            <a:avLst/>
          </a:prstGeom>
          <a:noFill/>
        </p:spPr>
        <p:txBody>
          <a:bodyPr wrap="square" rtlCol="0">
            <a:spAutoFit/>
          </a:bodyPr>
          <a:lstStyle/>
          <a:p>
            <a:r>
              <a:rPr lang="es-CO" sz="3200" dirty="0"/>
              <a:t>Como se almacena una variable en la memoria</a:t>
            </a:r>
          </a:p>
        </p:txBody>
      </p:sp>
      <p:sp>
        <p:nvSpPr>
          <p:cNvPr id="4" name="CuadroTexto 3"/>
          <p:cNvSpPr txBox="1"/>
          <p:nvPr/>
        </p:nvSpPr>
        <p:spPr>
          <a:xfrm>
            <a:off x="1731818" y="1676400"/>
            <a:ext cx="2729346" cy="4154984"/>
          </a:xfrm>
          <a:prstGeom prst="rect">
            <a:avLst/>
          </a:prstGeom>
          <a:noFill/>
        </p:spPr>
        <p:txBody>
          <a:bodyPr wrap="square" rtlCol="0">
            <a:spAutoFit/>
          </a:bodyPr>
          <a:lstStyle/>
          <a:p>
            <a:r>
              <a:rPr lang="es-CO" sz="2400" dirty="0"/>
              <a:t># </a:t>
            </a:r>
            <a:r>
              <a:rPr lang="es-CO" sz="2400" dirty="0" err="1"/>
              <a:t>include</a:t>
            </a:r>
            <a:r>
              <a:rPr lang="es-CO" sz="2400" dirty="0"/>
              <a:t> &lt; </a:t>
            </a:r>
            <a:r>
              <a:rPr lang="es-CO" sz="2400" dirty="0" err="1"/>
              <a:t>iostream</a:t>
            </a:r>
            <a:r>
              <a:rPr lang="es-CO" sz="2400" dirty="0"/>
              <a:t> &gt;</a:t>
            </a:r>
          </a:p>
          <a:p>
            <a:r>
              <a:rPr lang="es-CO" sz="2400" dirty="0" err="1"/>
              <a:t>Using</a:t>
            </a:r>
            <a:r>
              <a:rPr lang="es-CO" sz="2400" dirty="0"/>
              <a:t> </a:t>
            </a:r>
            <a:r>
              <a:rPr lang="es-CO" sz="2400" dirty="0" err="1"/>
              <a:t>namespace</a:t>
            </a:r>
            <a:r>
              <a:rPr lang="es-CO" sz="2400" dirty="0"/>
              <a:t> </a:t>
            </a:r>
            <a:r>
              <a:rPr lang="es-CO" sz="2400" dirty="0" err="1"/>
              <a:t>std</a:t>
            </a:r>
            <a:r>
              <a:rPr lang="es-CO" sz="2400" dirty="0"/>
              <a:t>;</a:t>
            </a:r>
          </a:p>
          <a:p>
            <a:r>
              <a:rPr lang="es-CO" sz="2400" dirty="0" err="1"/>
              <a:t>Int</a:t>
            </a:r>
            <a:r>
              <a:rPr lang="es-CO" sz="2400" dirty="0"/>
              <a:t> </a:t>
            </a:r>
            <a:r>
              <a:rPr lang="es-CO" sz="2400" dirty="0" err="1"/>
              <a:t>main</a:t>
            </a:r>
            <a:r>
              <a:rPr lang="es-CO" sz="2400" dirty="0"/>
              <a:t>() {</a:t>
            </a:r>
          </a:p>
          <a:p>
            <a:r>
              <a:rPr lang="es-CO" sz="2400" dirty="0"/>
              <a:t>     </a:t>
            </a:r>
            <a:r>
              <a:rPr lang="es-CO" sz="2400" dirty="0" err="1"/>
              <a:t>int</a:t>
            </a:r>
            <a:r>
              <a:rPr lang="es-CO" sz="2400" dirty="0"/>
              <a:t> a = 15;</a:t>
            </a:r>
          </a:p>
          <a:p>
            <a:r>
              <a:rPr lang="es-CO" sz="2400" dirty="0"/>
              <a:t>     </a:t>
            </a:r>
            <a:r>
              <a:rPr lang="es-CO" sz="2400" dirty="0" err="1"/>
              <a:t>bool</a:t>
            </a:r>
            <a:r>
              <a:rPr lang="es-CO" sz="2400" dirty="0"/>
              <a:t> b;</a:t>
            </a:r>
          </a:p>
          <a:p>
            <a:r>
              <a:rPr lang="es-CO" sz="2400" dirty="0"/>
              <a:t>     </a:t>
            </a:r>
            <a:r>
              <a:rPr lang="es-CO" sz="2400" dirty="0" err="1"/>
              <a:t>char</a:t>
            </a:r>
            <a:r>
              <a:rPr lang="es-CO" sz="2400" dirty="0"/>
              <a:t> c = “a”;</a:t>
            </a:r>
          </a:p>
          <a:p>
            <a:r>
              <a:rPr lang="es-CO" sz="2400" dirty="0"/>
              <a:t>     doublé r = 1.2;</a:t>
            </a:r>
          </a:p>
          <a:p>
            <a:r>
              <a:rPr lang="es-CO" sz="2400" dirty="0"/>
              <a:t>     </a:t>
            </a:r>
            <a:r>
              <a:rPr lang="es-CO" sz="2400" dirty="0" err="1"/>
              <a:t>string</a:t>
            </a:r>
            <a:endParaRPr lang="es-CO" sz="2400" dirty="0"/>
          </a:p>
          <a:p>
            <a:r>
              <a:rPr lang="es-CO" sz="2400" dirty="0"/>
              <a:t>}</a:t>
            </a:r>
          </a:p>
        </p:txBody>
      </p:sp>
      <p:pic>
        <p:nvPicPr>
          <p:cNvPr id="8" name="Imagen 7"/>
          <p:cNvPicPr>
            <a:picLocks noChangeAspect="1"/>
          </p:cNvPicPr>
          <p:nvPr/>
        </p:nvPicPr>
        <p:blipFill>
          <a:blip r:embed="rId5"/>
          <a:stretch>
            <a:fillRect/>
          </a:stretch>
        </p:blipFill>
        <p:spPr>
          <a:xfrm>
            <a:off x="5429333" y="1352809"/>
            <a:ext cx="1539503" cy="4794453"/>
          </a:xfrm>
          <a:prstGeom prst="rect">
            <a:avLst/>
          </a:prstGeom>
        </p:spPr>
      </p:pic>
      <p:sp>
        <p:nvSpPr>
          <p:cNvPr id="9" name="CuadroTexto 8"/>
          <p:cNvSpPr txBox="1"/>
          <p:nvPr/>
        </p:nvSpPr>
        <p:spPr>
          <a:xfrm>
            <a:off x="6968836" y="2840182"/>
            <a:ext cx="2687782" cy="3139321"/>
          </a:xfrm>
          <a:prstGeom prst="rect">
            <a:avLst/>
          </a:prstGeom>
          <a:noFill/>
        </p:spPr>
        <p:txBody>
          <a:bodyPr wrap="square" rtlCol="0">
            <a:spAutoFit/>
          </a:bodyPr>
          <a:lstStyle/>
          <a:p>
            <a:endParaRPr lang="es-CO" sz="1200" dirty="0"/>
          </a:p>
          <a:p>
            <a:r>
              <a:rPr lang="es-CO" sz="1400" dirty="0"/>
              <a:t>4 bytes</a:t>
            </a:r>
          </a:p>
          <a:p>
            <a:endParaRPr lang="es-CO" sz="1400" dirty="0"/>
          </a:p>
          <a:p>
            <a:endParaRPr lang="es-CO" sz="1400" dirty="0"/>
          </a:p>
          <a:p>
            <a:r>
              <a:rPr lang="es-CO" sz="1400" dirty="0"/>
              <a:t>1 byte</a:t>
            </a:r>
          </a:p>
          <a:p>
            <a:r>
              <a:rPr lang="es-CO" sz="1400" dirty="0"/>
              <a:t>1 byte</a:t>
            </a:r>
          </a:p>
          <a:p>
            <a:endParaRPr lang="es-CO" sz="1400" dirty="0"/>
          </a:p>
          <a:p>
            <a:endParaRPr lang="es-CO" sz="1400" dirty="0"/>
          </a:p>
          <a:p>
            <a:endParaRPr lang="es-CO" sz="1400" dirty="0"/>
          </a:p>
          <a:p>
            <a:r>
              <a:rPr lang="es-CO" sz="1400" dirty="0"/>
              <a:t>8 bytes</a:t>
            </a:r>
          </a:p>
          <a:p>
            <a:endParaRPr lang="es-CO" sz="1200" dirty="0"/>
          </a:p>
          <a:p>
            <a:endParaRPr lang="es-CO" sz="1200" dirty="0"/>
          </a:p>
          <a:p>
            <a:endParaRPr lang="es-CO" sz="1200" dirty="0"/>
          </a:p>
          <a:p>
            <a:r>
              <a:rPr lang="es-CO" sz="2400" dirty="0"/>
              <a:t>ASCII = 0 A 255</a:t>
            </a:r>
          </a:p>
        </p:txBody>
      </p:sp>
      <p:cxnSp>
        <p:nvCxnSpPr>
          <p:cNvPr id="11" name="Conector curvado 10"/>
          <p:cNvCxnSpPr>
            <a:endCxn id="12" idx="1"/>
          </p:cNvCxnSpPr>
          <p:nvPr/>
        </p:nvCxnSpPr>
        <p:spPr>
          <a:xfrm flipV="1">
            <a:off x="6269231" y="2373684"/>
            <a:ext cx="886691" cy="66437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uadroTexto 11"/>
          <p:cNvSpPr txBox="1"/>
          <p:nvPr/>
        </p:nvSpPr>
        <p:spPr>
          <a:xfrm>
            <a:off x="7155922" y="2189018"/>
            <a:ext cx="505642" cy="369332"/>
          </a:xfrm>
          <a:prstGeom prst="rect">
            <a:avLst/>
          </a:prstGeom>
          <a:noFill/>
        </p:spPr>
        <p:txBody>
          <a:bodyPr wrap="square" rtlCol="0">
            <a:spAutoFit/>
          </a:bodyPr>
          <a:lstStyle/>
          <a:p>
            <a:r>
              <a:rPr lang="es-CO" dirty="0"/>
              <a:t>a</a:t>
            </a:r>
          </a:p>
        </p:txBody>
      </p:sp>
    </p:spTree>
    <p:extLst>
      <p:ext uri="{BB962C8B-B14F-4D97-AF65-F5344CB8AC3E}">
        <p14:creationId xmlns:p14="http://schemas.microsoft.com/office/powerpoint/2010/main" val="2078496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2286000" y="222205"/>
            <a:ext cx="7481455" cy="1200329"/>
          </a:xfrm>
          <a:prstGeom prst="rect">
            <a:avLst/>
          </a:prstGeom>
          <a:noFill/>
        </p:spPr>
        <p:txBody>
          <a:bodyPr wrap="square" rtlCol="0">
            <a:spAutoFit/>
          </a:bodyPr>
          <a:lstStyle/>
          <a:p>
            <a:pPr algn="ctr"/>
            <a:r>
              <a:rPr lang="es-CO" sz="3600" dirty="0"/>
              <a:t>Mostrar el tamaño que ocupa un tipo de dato en memoria</a:t>
            </a:r>
          </a:p>
        </p:txBody>
      </p:sp>
      <p:sp>
        <p:nvSpPr>
          <p:cNvPr id="7" name="CuadroTexto 6"/>
          <p:cNvSpPr txBox="1"/>
          <p:nvPr/>
        </p:nvSpPr>
        <p:spPr>
          <a:xfrm>
            <a:off x="624347" y="2304772"/>
            <a:ext cx="5818907" cy="3416320"/>
          </a:xfrm>
          <a:prstGeom prst="rect">
            <a:avLst/>
          </a:prstGeom>
          <a:noFill/>
        </p:spPr>
        <p:txBody>
          <a:bodyPr wrap="square" rtlCol="0">
            <a:spAutoFit/>
          </a:bodyPr>
          <a:lstStyle/>
          <a:p>
            <a:r>
              <a:rPr lang="es-CO" sz="2400" dirty="0"/>
              <a:t># </a:t>
            </a:r>
            <a:r>
              <a:rPr lang="es-CO" sz="2400" dirty="0" err="1"/>
              <a:t>include</a:t>
            </a:r>
            <a:r>
              <a:rPr lang="es-CO" sz="2400" dirty="0"/>
              <a:t> &lt; </a:t>
            </a:r>
            <a:r>
              <a:rPr lang="es-CO" sz="2400" dirty="0" err="1"/>
              <a:t>iostream</a:t>
            </a:r>
            <a:r>
              <a:rPr lang="es-CO" sz="2400" dirty="0"/>
              <a:t> &gt;</a:t>
            </a:r>
          </a:p>
          <a:p>
            <a:r>
              <a:rPr lang="es-CO" sz="2400" dirty="0" err="1"/>
              <a:t>Using</a:t>
            </a:r>
            <a:r>
              <a:rPr lang="es-CO" sz="2400" dirty="0"/>
              <a:t> </a:t>
            </a:r>
            <a:r>
              <a:rPr lang="es-CO" sz="2400" dirty="0" err="1"/>
              <a:t>namespace</a:t>
            </a:r>
            <a:r>
              <a:rPr lang="es-CO" sz="2400" dirty="0"/>
              <a:t> </a:t>
            </a:r>
            <a:r>
              <a:rPr lang="es-CO" sz="2400" dirty="0" err="1"/>
              <a:t>std</a:t>
            </a:r>
            <a:r>
              <a:rPr lang="es-CO" sz="2400" dirty="0"/>
              <a:t>;</a:t>
            </a:r>
          </a:p>
          <a:p>
            <a:r>
              <a:rPr lang="es-CO" sz="2400" dirty="0" err="1"/>
              <a:t>Int</a:t>
            </a:r>
            <a:r>
              <a:rPr lang="es-CO" sz="2400" dirty="0"/>
              <a:t> </a:t>
            </a:r>
            <a:r>
              <a:rPr lang="es-CO" sz="2400" dirty="0" err="1"/>
              <a:t>main</a:t>
            </a:r>
            <a:r>
              <a:rPr lang="es-CO" sz="2400" dirty="0"/>
              <a:t>() {</a:t>
            </a:r>
          </a:p>
          <a:p>
            <a:r>
              <a:rPr lang="es-CO" sz="2400" dirty="0"/>
              <a:t> </a:t>
            </a:r>
            <a:r>
              <a:rPr lang="es-CO" sz="2400" dirty="0" err="1"/>
              <a:t>count</a:t>
            </a:r>
            <a:r>
              <a:rPr lang="es-CO" sz="2400" dirty="0"/>
              <a:t> &lt;&lt; “</a:t>
            </a:r>
            <a:r>
              <a:rPr lang="es-CO" sz="2400" dirty="0" err="1"/>
              <a:t>int</a:t>
            </a:r>
            <a:r>
              <a:rPr lang="es-CO" sz="2400" dirty="0"/>
              <a:t>      ” </a:t>
            </a:r>
            <a:r>
              <a:rPr lang="es-CO" sz="2400" dirty="0" err="1"/>
              <a:t>sizeof</a:t>
            </a:r>
            <a:r>
              <a:rPr lang="es-CO" sz="2400" dirty="0"/>
              <a:t> (</a:t>
            </a:r>
            <a:r>
              <a:rPr lang="es-CO" sz="2400" dirty="0" err="1"/>
              <a:t>int</a:t>
            </a:r>
            <a:r>
              <a:rPr lang="es-CO" sz="2400" dirty="0"/>
              <a:t>)&lt;&lt; </a:t>
            </a:r>
            <a:r>
              <a:rPr lang="es-CO" sz="2400" dirty="0" err="1"/>
              <a:t>endl</a:t>
            </a:r>
            <a:r>
              <a:rPr lang="es-CO" sz="2400" dirty="0"/>
              <a:t>;</a:t>
            </a:r>
          </a:p>
          <a:p>
            <a:r>
              <a:rPr lang="es-CO" sz="2400" dirty="0"/>
              <a:t> </a:t>
            </a:r>
            <a:r>
              <a:rPr lang="es-CO" sz="2400" dirty="0" err="1"/>
              <a:t>count</a:t>
            </a:r>
            <a:r>
              <a:rPr lang="es-CO" sz="2400" dirty="0"/>
              <a:t> &lt;&lt; “</a:t>
            </a:r>
            <a:r>
              <a:rPr lang="es-CO" sz="2400" dirty="0" err="1"/>
              <a:t>char</a:t>
            </a:r>
            <a:r>
              <a:rPr lang="es-CO" sz="2400" dirty="0"/>
              <a:t>    ” </a:t>
            </a:r>
            <a:r>
              <a:rPr lang="es-CO" sz="2400" dirty="0" err="1"/>
              <a:t>sizeof</a:t>
            </a:r>
            <a:r>
              <a:rPr lang="es-CO" sz="2400" dirty="0"/>
              <a:t> (</a:t>
            </a:r>
            <a:r>
              <a:rPr lang="es-CO" sz="2400" dirty="0" err="1"/>
              <a:t>int</a:t>
            </a:r>
            <a:r>
              <a:rPr lang="es-CO" sz="2400" dirty="0"/>
              <a:t>)&lt;&lt; </a:t>
            </a:r>
            <a:r>
              <a:rPr lang="es-CO" sz="2400" dirty="0" err="1"/>
              <a:t>endl</a:t>
            </a:r>
            <a:r>
              <a:rPr lang="es-CO" sz="2400" dirty="0"/>
              <a:t>;</a:t>
            </a:r>
          </a:p>
          <a:p>
            <a:r>
              <a:rPr lang="es-CO" sz="2400" dirty="0"/>
              <a:t> </a:t>
            </a:r>
            <a:r>
              <a:rPr lang="es-CO" sz="2400" dirty="0" err="1"/>
              <a:t>count</a:t>
            </a:r>
            <a:r>
              <a:rPr lang="es-CO" sz="2400" dirty="0"/>
              <a:t> &lt;&lt; “</a:t>
            </a:r>
            <a:r>
              <a:rPr lang="es-CO" sz="2400" dirty="0" err="1"/>
              <a:t>bool</a:t>
            </a:r>
            <a:r>
              <a:rPr lang="es-CO" sz="2400" dirty="0"/>
              <a:t>    ” </a:t>
            </a:r>
            <a:r>
              <a:rPr lang="es-CO" sz="2400" dirty="0" err="1"/>
              <a:t>sizeof</a:t>
            </a:r>
            <a:r>
              <a:rPr lang="es-CO" sz="2400" dirty="0"/>
              <a:t> (</a:t>
            </a:r>
            <a:r>
              <a:rPr lang="es-CO" sz="2400" dirty="0" err="1"/>
              <a:t>int</a:t>
            </a:r>
            <a:r>
              <a:rPr lang="es-CO" sz="2400" dirty="0"/>
              <a:t>)&lt;&lt; </a:t>
            </a:r>
            <a:r>
              <a:rPr lang="es-CO" sz="2400" dirty="0" err="1"/>
              <a:t>endl</a:t>
            </a:r>
            <a:r>
              <a:rPr lang="es-CO" sz="2400" dirty="0"/>
              <a:t>;</a:t>
            </a:r>
          </a:p>
          <a:p>
            <a:r>
              <a:rPr lang="es-CO" sz="2400" dirty="0"/>
              <a:t> </a:t>
            </a:r>
            <a:r>
              <a:rPr lang="es-CO" sz="2400" dirty="0" err="1"/>
              <a:t>count</a:t>
            </a:r>
            <a:r>
              <a:rPr lang="es-CO" sz="2400" dirty="0"/>
              <a:t> &lt;&lt; “</a:t>
            </a:r>
            <a:r>
              <a:rPr lang="es-CO" sz="2400" dirty="0" err="1"/>
              <a:t>double</a:t>
            </a:r>
            <a:r>
              <a:rPr lang="es-CO" sz="2400" dirty="0"/>
              <a:t> ” </a:t>
            </a:r>
            <a:r>
              <a:rPr lang="es-CO" sz="2400" dirty="0" err="1"/>
              <a:t>sizeof</a:t>
            </a:r>
            <a:r>
              <a:rPr lang="es-CO" sz="2400" dirty="0"/>
              <a:t> (</a:t>
            </a:r>
            <a:r>
              <a:rPr lang="es-CO" sz="2400" dirty="0" err="1"/>
              <a:t>int</a:t>
            </a:r>
            <a:r>
              <a:rPr lang="es-CO" sz="2400" dirty="0"/>
              <a:t>)&lt;&lt; </a:t>
            </a:r>
            <a:r>
              <a:rPr lang="es-CO" sz="2400" dirty="0" err="1"/>
              <a:t>endl</a:t>
            </a:r>
            <a:r>
              <a:rPr lang="es-CO" sz="2400" dirty="0"/>
              <a:t>;</a:t>
            </a:r>
          </a:p>
          <a:p>
            <a:r>
              <a:rPr lang="es-CO" sz="2400" dirty="0"/>
              <a:t> </a:t>
            </a:r>
            <a:r>
              <a:rPr lang="es-CO" sz="2400" dirty="0" err="1"/>
              <a:t>count</a:t>
            </a:r>
            <a:r>
              <a:rPr lang="es-CO" sz="2400" dirty="0"/>
              <a:t> &lt;&lt; “</a:t>
            </a:r>
            <a:r>
              <a:rPr lang="es-CO" sz="2400" dirty="0" err="1"/>
              <a:t>string</a:t>
            </a:r>
            <a:r>
              <a:rPr lang="es-CO" sz="2400" dirty="0"/>
              <a:t>   ” </a:t>
            </a:r>
            <a:r>
              <a:rPr lang="es-CO" sz="2400" dirty="0" err="1"/>
              <a:t>sizeof</a:t>
            </a:r>
            <a:r>
              <a:rPr lang="es-CO" sz="2400" dirty="0"/>
              <a:t> (</a:t>
            </a:r>
            <a:r>
              <a:rPr lang="es-CO" sz="2400" dirty="0" err="1"/>
              <a:t>int</a:t>
            </a:r>
            <a:r>
              <a:rPr lang="es-CO" sz="2400" dirty="0"/>
              <a:t>)&lt;&lt; </a:t>
            </a:r>
            <a:r>
              <a:rPr lang="es-CO" sz="2400" dirty="0" err="1"/>
              <a:t>endl</a:t>
            </a:r>
            <a:r>
              <a:rPr lang="es-CO" sz="2400" dirty="0"/>
              <a:t>;</a:t>
            </a:r>
          </a:p>
          <a:p>
            <a:r>
              <a:rPr lang="es-CO" sz="2400" dirty="0"/>
              <a:t>}</a:t>
            </a:r>
          </a:p>
        </p:txBody>
      </p:sp>
      <p:sp>
        <p:nvSpPr>
          <p:cNvPr id="4" name="CuadroTexto 3"/>
          <p:cNvSpPr txBox="1"/>
          <p:nvPr/>
        </p:nvSpPr>
        <p:spPr>
          <a:xfrm>
            <a:off x="7633855" y="2304772"/>
            <a:ext cx="3200400" cy="2677656"/>
          </a:xfrm>
          <a:prstGeom prst="rect">
            <a:avLst/>
          </a:prstGeom>
          <a:noFill/>
        </p:spPr>
        <p:txBody>
          <a:bodyPr wrap="square" rtlCol="0">
            <a:spAutoFit/>
          </a:bodyPr>
          <a:lstStyle/>
          <a:p>
            <a:r>
              <a:rPr lang="es-CO" sz="2400" dirty="0"/>
              <a:t>Pantalla</a:t>
            </a:r>
          </a:p>
          <a:p>
            <a:endParaRPr lang="es-CO" sz="2400" dirty="0"/>
          </a:p>
          <a:p>
            <a:r>
              <a:rPr lang="es-CO" sz="2400" dirty="0" err="1"/>
              <a:t>Int</a:t>
            </a:r>
            <a:r>
              <a:rPr lang="es-CO" sz="2400" dirty="0"/>
              <a:t>:      4</a:t>
            </a:r>
          </a:p>
          <a:p>
            <a:r>
              <a:rPr lang="es-CO" sz="2400" dirty="0" err="1"/>
              <a:t>Char</a:t>
            </a:r>
            <a:r>
              <a:rPr lang="es-CO" sz="2400" dirty="0"/>
              <a:t>:    1</a:t>
            </a:r>
          </a:p>
          <a:p>
            <a:r>
              <a:rPr lang="es-CO" sz="2400" dirty="0" err="1"/>
              <a:t>Bool</a:t>
            </a:r>
            <a:r>
              <a:rPr lang="es-CO" sz="2400" dirty="0"/>
              <a:t>:     1</a:t>
            </a:r>
          </a:p>
          <a:p>
            <a:r>
              <a:rPr lang="es-CO" sz="2400" dirty="0" err="1"/>
              <a:t>Double</a:t>
            </a:r>
            <a:r>
              <a:rPr lang="es-CO" sz="2400" dirty="0"/>
              <a:t>: 8</a:t>
            </a:r>
          </a:p>
          <a:p>
            <a:r>
              <a:rPr lang="es-CO" sz="2400" dirty="0" err="1"/>
              <a:t>String</a:t>
            </a:r>
            <a:r>
              <a:rPr lang="es-CO" sz="2400" dirty="0"/>
              <a:t>:   4</a:t>
            </a:r>
          </a:p>
        </p:txBody>
      </p:sp>
      <p:sp>
        <p:nvSpPr>
          <p:cNvPr id="8" name="Rectángulo redondeado 7"/>
          <p:cNvSpPr/>
          <p:nvPr/>
        </p:nvSpPr>
        <p:spPr>
          <a:xfrm>
            <a:off x="7245927" y="2078182"/>
            <a:ext cx="2424546" cy="326967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90892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1904570" y="383701"/>
            <a:ext cx="8236957" cy="646331"/>
          </a:xfrm>
          <a:prstGeom prst="rect">
            <a:avLst/>
          </a:prstGeom>
          <a:noFill/>
        </p:spPr>
        <p:txBody>
          <a:bodyPr wrap="square" rtlCol="0">
            <a:spAutoFit/>
          </a:bodyPr>
          <a:lstStyle/>
          <a:p>
            <a:r>
              <a:rPr lang="es-CO" sz="3600" dirty="0"/>
              <a:t>Esquemas de organización de memoria</a:t>
            </a:r>
          </a:p>
        </p:txBody>
      </p:sp>
      <p:pic>
        <p:nvPicPr>
          <p:cNvPr id="4" name="Imagen 3"/>
          <p:cNvPicPr>
            <a:picLocks noChangeAspect="1"/>
          </p:cNvPicPr>
          <p:nvPr/>
        </p:nvPicPr>
        <p:blipFill>
          <a:blip r:embed="rId5"/>
          <a:stretch>
            <a:fillRect/>
          </a:stretch>
        </p:blipFill>
        <p:spPr>
          <a:xfrm>
            <a:off x="1019078" y="1333222"/>
            <a:ext cx="10397166" cy="4594728"/>
          </a:xfrm>
          <a:prstGeom prst="rect">
            <a:avLst/>
          </a:prstGeom>
        </p:spPr>
      </p:pic>
    </p:spTree>
    <p:extLst>
      <p:ext uri="{BB962C8B-B14F-4D97-AF65-F5344CB8AC3E}">
        <p14:creationId xmlns:p14="http://schemas.microsoft.com/office/powerpoint/2010/main" val="853826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1634836" y="581891"/>
            <a:ext cx="9185564" cy="584775"/>
          </a:xfrm>
          <a:prstGeom prst="rect">
            <a:avLst/>
          </a:prstGeom>
          <a:noFill/>
        </p:spPr>
        <p:txBody>
          <a:bodyPr wrap="square" rtlCol="0">
            <a:spAutoFit/>
          </a:bodyPr>
          <a:lstStyle/>
          <a:p>
            <a:r>
              <a:rPr lang="es-CO" sz="3200" dirty="0"/>
              <a:t>Estrategias de administración de memoria virtual</a:t>
            </a:r>
          </a:p>
        </p:txBody>
      </p:sp>
      <p:sp>
        <p:nvSpPr>
          <p:cNvPr id="4" name="CuadroTexto 3"/>
          <p:cNvSpPr txBox="1"/>
          <p:nvPr/>
        </p:nvSpPr>
        <p:spPr>
          <a:xfrm>
            <a:off x="1765784" y="1717411"/>
            <a:ext cx="9310255" cy="3662541"/>
          </a:xfrm>
          <a:prstGeom prst="rect">
            <a:avLst/>
          </a:prstGeom>
          <a:noFill/>
        </p:spPr>
        <p:txBody>
          <a:bodyPr wrap="square" rtlCol="0">
            <a:spAutoFit/>
          </a:bodyPr>
          <a:lstStyle/>
          <a:p>
            <a:r>
              <a:rPr lang="es-CO" sz="2400" dirty="0" err="1"/>
              <a:t>Fetch</a:t>
            </a:r>
            <a:r>
              <a:rPr lang="es-CO" sz="2400" dirty="0"/>
              <a:t>                     por demanda</a:t>
            </a:r>
          </a:p>
          <a:p>
            <a:r>
              <a:rPr lang="es-CO" sz="1600" dirty="0">
                <a:solidFill>
                  <a:srgbClr val="FF0000"/>
                </a:solidFill>
              </a:rPr>
              <a:t>Traer, ir a buscar</a:t>
            </a:r>
          </a:p>
          <a:p>
            <a:r>
              <a:rPr lang="es-CO" sz="1600" dirty="0">
                <a:solidFill>
                  <a:srgbClr val="FF0000"/>
                </a:solidFill>
              </a:rPr>
              <a:t>Cargar                                  </a:t>
            </a:r>
            <a:r>
              <a:rPr lang="es-CO" sz="2400" dirty="0"/>
              <a:t>Por anticipado</a:t>
            </a:r>
          </a:p>
          <a:p>
            <a:endParaRPr lang="es-CO" sz="2400" b="1" dirty="0"/>
          </a:p>
          <a:p>
            <a:endParaRPr lang="es-CO" sz="2400" b="1" dirty="0"/>
          </a:p>
          <a:p>
            <a:r>
              <a:rPr lang="es-CO" sz="2400" b="1" dirty="0"/>
              <a:t>Colocación</a:t>
            </a:r>
          </a:p>
          <a:p>
            <a:endParaRPr lang="es-CO" sz="2400" dirty="0"/>
          </a:p>
          <a:p>
            <a:endParaRPr lang="es-CO" sz="2400" dirty="0"/>
          </a:p>
          <a:p>
            <a:endParaRPr lang="es-CO" sz="2400" dirty="0"/>
          </a:p>
          <a:p>
            <a:r>
              <a:rPr lang="es-CO" sz="2400" dirty="0"/>
              <a:t>Reemplazo</a:t>
            </a:r>
          </a:p>
        </p:txBody>
      </p:sp>
      <p:sp>
        <p:nvSpPr>
          <p:cNvPr id="7" name="Cerrar llave 6"/>
          <p:cNvSpPr/>
          <p:nvPr/>
        </p:nvSpPr>
        <p:spPr>
          <a:xfrm>
            <a:off x="3782291" y="1801091"/>
            <a:ext cx="429491" cy="101138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8" name="Abrir llave 7"/>
          <p:cNvSpPr/>
          <p:nvPr/>
        </p:nvSpPr>
        <p:spPr>
          <a:xfrm>
            <a:off x="7093527" y="1801091"/>
            <a:ext cx="277091" cy="101138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9" name="CuadroTexto 8"/>
          <p:cNvSpPr txBox="1"/>
          <p:nvPr/>
        </p:nvSpPr>
        <p:spPr>
          <a:xfrm>
            <a:off x="7536873" y="1801091"/>
            <a:ext cx="2632363" cy="923330"/>
          </a:xfrm>
          <a:prstGeom prst="rect">
            <a:avLst/>
          </a:prstGeom>
          <a:noFill/>
        </p:spPr>
        <p:txBody>
          <a:bodyPr wrap="square" rtlCol="0">
            <a:spAutoFit/>
          </a:bodyPr>
          <a:lstStyle/>
          <a:p>
            <a:r>
              <a:rPr lang="es-CO" dirty="0"/>
              <a:t>Traer una página de memoria secundaria a memoria primaria</a:t>
            </a:r>
          </a:p>
        </p:txBody>
      </p:sp>
      <p:sp>
        <p:nvSpPr>
          <p:cNvPr id="10" name="Abrir llave 9"/>
          <p:cNvSpPr/>
          <p:nvPr/>
        </p:nvSpPr>
        <p:spPr>
          <a:xfrm>
            <a:off x="4336473" y="3158836"/>
            <a:ext cx="637309" cy="1066800"/>
          </a:xfrm>
          <a:prstGeom prst="leftBrace">
            <a:avLst>
              <a:gd name="adj1" fmla="val 8333"/>
              <a:gd name="adj2" fmla="val 5389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3" name="CuadroTexto 12"/>
          <p:cNvSpPr txBox="1"/>
          <p:nvPr/>
        </p:nvSpPr>
        <p:spPr>
          <a:xfrm>
            <a:off x="5243946" y="4523664"/>
            <a:ext cx="4585854" cy="1200329"/>
          </a:xfrm>
          <a:prstGeom prst="rect">
            <a:avLst/>
          </a:prstGeom>
          <a:noFill/>
        </p:spPr>
        <p:txBody>
          <a:bodyPr wrap="square" rtlCol="0">
            <a:spAutoFit/>
          </a:bodyPr>
          <a:lstStyle/>
          <a:p>
            <a:r>
              <a:rPr lang="es-CO" dirty="0"/>
              <a:t>Que página o segmento debe reemplazarse para hacer espacio a una página nueva o segmento cuando la memoria primaria esta llena</a:t>
            </a:r>
          </a:p>
        </p:txBody>
      </p:sp>
      <p:sp>
        <p:nvSpPr>
          <p:cNvPr id="14" name="CuadroTexto 13"/>
          <p:cNvSpPr txBox="1"/>
          <p:nvPr/>
        </p:nvSpPr>
        <p:spPr>
          <a:xfrm>
            <a:off x="5284839" y="3132171"/>
            <a:ext cx="2632363" cy="1200329"/>
          </a:xfrm>
          <a:prstGeom prst="rect">
            <a:avLst/>
          </a:prstGeom>
          <a:noFill/>
        </p:spPr>
        <p:txBody>
          <a:bodyPr wrap="square" rtlCol="0">
            <a:spAutoFit/>
          </a:bodyPr>
          <a:lstStyle/>
          <a:p>
            <a:r>
              <a:rPr lang="es-CO" dirty="0"/>
              <a:t>Donde poner en memoria </a:t>
            </a:r>
            <a:r>
              <a:rPr lang="es-CO"/>
              <a:t>real  un </a:t>
            </a:r>
            <a:r>
              <a:rPr lang="es-CO" dirty="0"/>
              <a:t>segmento o página nueva</a:t>
            </a:r>
          </a:p>
        </p:txBody>
      </p:sp>
      <p:sp>
        <p:nvSpPr>
          <p:cNvPr id="15" name="Abrir llave 14"/>
          <p:cNvSpPr/>
          <p:nvPr/>
        </p:nvSpPr>
        <p:spPr>
          <a:xfrm>
            <a:off x="4267201" y="4640354"/>
            <a:ext cx="637309" cy="1066800"/>
          </a:xfrm>
          <a:prstGeom prst="leftBrace">
            <a:avLst>
              <a:gd name="adj1" fmla="val 8333"/>
              <a:gd name="adj2" fmla="val 5389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Tree>
    <p:extLst>
      <p:ext uri="{BB962C8B-B14F-4D97-AF65-F5344CB8AC3E}">
        <p14:creationId xmlns:p14="http://schemas.microsoft.com/office/powerpoint/2010/main" val="3211887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1939636" y="415636"/>
            <a:ext cx="8077200" cy="646331"/>
          </a:xfrm>
          <a:prstGeom prst="rect">
            <a:avLst/>
          </a:prstGeom>
          <a:noFill/>
        </p:spPr>
        <p:txBody>
          <a:bodyPr wrap="square" rtlCol="0">
            <a:spAutoFit/>
          </a:bodyPr>
          <a:lstStyle/>
          <a:p>
            <a:pPr algn="ctr"/>
            <a:r>
              <a:rPr lang="es-CO" sz="3600" dirty="0"/>
              <a:t>Memoria virtual </a:t>
            </a:r>
            <a:r>
              <a:rPr lang="es-CO" sz="3600"/>
              <a:t>y memoria Real</a:t>
            </a:r>
          </a:p>
        </p:txBody>
      </p:sp>
      <p:sp>
        <p:nvSpPr>
          <p:cNvPr id="4" name="CuadroTexto 3"/>
          <p:cNvSpPr txBox="1"/>
          <p:nvPr/>
        </p:nvSpPr>
        <p:spPr>
          <a:xfrm>
            <a:off x="968354" y="1532585"/>
            <a:ext cx="10019763" cy="5632311"/>
          </a:xfrm>
          <a:prstGeom prst="rect">
            <a:avLst/>
          </a:prstGeom>
          <a:noFill/>
        </p:spPr>
        <p:txBody>
          <a:bodyPr wrap="square" rtlCol="0">
            <a:spAutoFit/>
          </a:bodyPr>
          <a:lstStyle/>
          <a:p>
            <a:endParaRPr lang="es-CO" sz="2400"/>
          </a:p>
          <a:p>
            <a:endParaRPr lang="es-CO" sz="2400"/>
          </a:p>
          <a:p>
            <a:endParaRPr lang="es-CO" sz="2400"/>
          </a:p>
          <a:p>
            <a:endParaRPr lang="es-CO" sz="2400"/>
          </a:p>
          <a:p>
            <a:endParaRPr lang="es-CO" sz="2400"/>
          </a:p>
          <a:p>
            <a:endParaRPr lang="es-CO" sz="2400"/>
          </a:p>
          <a:p>
            <a:r>
              <a:rPr lang="es-CO" sz="2400"/>
              <a:t>Memoria</a:t>
            </a:r>
          </a:p>
          <a:p>
            <a:endParaRPr lang="es-CO" sz="2400"/>
          </a:p>
          <a:p>
            <a:endParaRPr lang="es-CO" sz="2400"/>
          </a:p>
          <a:p>
            <a:endParaRPr lang="es-CO" sz="2400"/>
          </a:p>
          <a:p>
            <a:endParaRPr lang="es-CO" sz="2400"/>
          </a:p>
          <a:p>
            <a:endParaRPr lang="es-CO" sz="2400"/>
          </a:p>
          <a:p>
            <a:endParaRPr lang="es-CO" sz="2400"/>
          </a:p>
          <a:p>
            <a:endParaRPr lang="es-CO" sz="2400"/>
          </a:p>
          <a:p>
            <a:endParaRPr lang="es-CO" sz="2400" dirty="0"/>
          </a:p>
        </p:txBody>
      </p:sp>
      <p:sp>
        <p:nvSpPr>
          <p:cNvPr id="7" name="Abrir llave 6"/>
          <p:cNvSpPr/>
          <p:nvPr/>
        </p:nvSpPr>
        <p:spPr>
          <a:xfrm>
            <a:off x="2252142" y="1333222"/>
            <a:ext cx="842201" cy="52584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8" name="CuadroTexto 7"/>
          <p:cNvSpPr txBox="1"/>
          <p:nvPr/>
        </p:nvSpPr>
        <p:spPr>
          <a:xfrm>
            <a:off x="3094343" y="1532585"/>
            <a:ext cx="3039414" cy="4893647"/>
          </a:xfrm>
          <a:prstGeom prst="rect">
            <a:avLst/>
          </a:prstGeom>
          <a:noFill/>
        </p:spPr>
        <p:txBody>
          <a:bodyPr wrap="square" rtlCol="0">
            <a:spAutoFit/>
          </a:bodyPr>
          <a:lstStyle/>
          <a:p>
            <a:pPr algn="just"/>
            <a:r>
              <a:rPr lang="es-CO" sz="2400" dirty="0"/>
              <a:t>Real</a:t>
            </a:r>
          </a:p>
          <a:p>
            <a:pPr algn="just"/>
            <a:r>
              <a:rPr lang="es-CO" dirty="0"/>
              <a:t>Se requiere que el alojamiento sea contiguo, es decir el proceso se debe cargar completo en memoria</a:t>
            </a:r>
          </a:p>
          <a:p>
            <a:pPr algn="just"/>
            <a:endParaRPr lang="es-CO" sz="2400" dirty="0"/>
          </a:p>
          <a:p>
            <a:pPr algn="just"/>
            <a:endParaRPr lang="es-CO" sz="2400" dirty="0"/>
          </a:p>
          <a:p>
            <a:pPr algn="just"/>
            <a:r>
              <a:rPr lang="es-CO" sz="2400" dirty="0"/>
              <a:t>Virtual </a:t>
            </a:r>
          </a:p>
          <a:p>
            <a:pPr algn="just"/>
            <a:r>
              <a:rPr lang="es-CO" dirty="0"/>
              <a:t>El alojamiento es disperso, eso significa que un proceso se puede dividir en porciones mas pequeñas e ir moviendo a memoria estas porciones con forme se van requiriendo.</a:t>
            </a:r>
          </a:p>
        </p:txBody>
      </p:sp>
      <p:sp>
        <p:nvSpPr>
          <p:cNvPr id="9" name="Abrir llave 8"/>
          <p:cNvSpPr/>
          <p:nvPr/>
        </p:nvSpPr>
        <p:spPr>
          <a:xfrm>
            <a:off x="6349285" y="1333222"/>
            <a:ext cx="347729" cy="23758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0" name="Abrir llave 9"/>
          <p:cNvSpPr/>
          <p:nvPr/>
        </p:nvSpPr>
        <p:spPr>
          <a:xfrm>
            <a:off x="6349284" y="3979408"/>
            <a:ext cx="347729" cy="23758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1" name="CuadroTexto 10"/>
          <p:cNvSpPr txBox="1"/>
          <p:nvPr/>
        </p:nvSpPr>
        <p:spPr>
          <a:xfrm>
            <a:off x="6697013" y="1333222"/>
            <a:ext cx="2421229" cy="2308324"/>
          </a:xfrm>
          <a:prstGeom prst="rect">
            <a:avLst/>
          </a:prstGeom>
          <a:noFill/>
        </p:spPr>
        <p:txBody>
          <a:bodyPr wrap="square" rtlCol="0">
            <a:spAutoFit/>
          </a:bodyPr>
          <a:lstStyle/>
          <a:p>
            <a:pPr marL="285750" indent="-285750">
              <a:buFont typeface="Arial" panose="020B0604020202020204" pitchFamily="34" charset="0"/>
              <a:buChar char="•"/>
            </a:pPr>
            <a:r>
              <a:rPr lang="es-CO" dirty="0"/>
              <a:t>Sistema dedicado a un solo usuario o memoria contigua de usuario único</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dirty="0"/>
              <a:t>Sistemas de   multiprogramación</a:t>
            </a:r>
          </a:p>
        </p:txBody>
      </p:sp>
      <p:sp>
        <p:nvSpPr>
          <p:cNvPr id="12" name="CuadroTexto 11"/>
          <p:cNvSpPr txBox="1"/>
          <p:nvPr/>
        </p:nvSpPr>
        <p:spPr>
          <a:xfrm>
            <a:off x="9518812" y="2762098"/>
            <a:ext cx="2014667" cy="1200329"/>
          </a:xfrm>
          <a:prstGeom prst="rect">
            <a:avLst/>
          </a:prstGeom>
          <a:noFill/>
        </p:spPr>
        <p:txBody>
          <a:bodyPr wrap="square" rtlCol="0">
            <a:spAutoFit/>
          </a:bodyPr>
          <a:lstStyle/>
          <a:p>
            <a:r>
              <a:rPr lang="es-CO" dirty="0"/>
              <a:t>Particiones fijas</a:t>
            </a:r>
          </a:p>
          <a:p>
            <a:endParaRPr lang="es-CO" dirty="0"/>
          </a:p>
          <a:p>
            <a:r>
              <a:rPr lang="es-CO" dirty="0"/>
              <a:t>Particiones variables</a:t>
            </a:r>
          </a:p>
        </p:txBody>
      </p:sp>
      <p:cxnSp>
        <p:nvCxnSpPr>
          <p:cNvPr id="14" name="Conector recto de flecha 13"/>
          <p:cNvCxnSpPr/>
          <p:nvPr/>
        </p:nvCxnSpPr>
        <p:spPr>
          <a:xfrm flipV="1">
            <a:off x="8973450" y="2975021"/>
            <a:ext cx="415249" cy="296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p:cNvCxnSpPr/>
          <p:nvPr/>
        </p:nvCxnSpPr>
        <p:spPr>
          <a:xfrm>
            <a:off x="8973450" y="3271234"/>
            <a:ext cx="545362" cy="37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CuadroTexto 17"/>
          <p:cNvSpPr txBox="1"/>
          <p:nvPr/>
        </p:nvSpPr>
        <p:spPr>
          <a:xfrm>
            <a:off x="6762070" y="4844188"/>
            <a:ext cx="2484061" cy="646331"/>
          </a:xfrm>
          <a:prstGeom prst="rect">
            <a:avLst/>
          </a:prstGeom>
          <a:noFill/>
        </p:spPr>
        <p:txBody>
          <a:bodyPr wrap="square" rtlCol="0">
            <a:spAutoFit/>
          </a:bodyPr>
          <a:lstStyle/>
          <a:p>
            <a:pPr marL="285750" indent="-285750">
              <a:buFont typeface="Arial" panose="020B0604020202020204" pitchFamily="34" charset="0"/>
              <a:buChar char="•"/>
            </a:pPr>
            <a:r>
              <a:rPr lang="es-CO" dirty="0"/>
              <a:t>Sistemas de multiprogramación</a:t>
            </a:r>
          </a:p>
        </p:txBody>
      </p:sp>
      <p:sp>
        <p:nvSpPr>
          <p:cNvPr id="19" name="CuadroTexto 18"/>
          <p:cNvSpPr txBox="1"/>
          <p:nvPr/>
        </p:nvSpPr>
        <p:spPr>
          <a:xfrm>
            <a:off x="9659155" y="4237149"/>
            <a:ext cx="2176530" cy="1754326"/>
          </a:xfrm>
          <a:prstGeom prst="rect">
            <a:avLst/>
          </a:prstGeom>
          <a:noFill/>
        </p:spPr>
        <p:txBody>
          <a:bodyPr wrap="square" rtlCol="0">
            <a:spAutoFit/>
          </a:bodyPr>
          <a:lstStyle/>
          <a:p>
            <a:r>
              <a:rPr lang="es-CO" dirty="0"/>
              <a:t>Paginación</a:t>
            </a:r>
          </a:p>
          <a:p>
            <a:endParaRPr lang="es-CO" dirty="0"/>
          </a:p>
          <a:p>
            <a:r>
              <a:rPr lang="es-CO" dirty="0"/>
              <a:t>Segmentación</a:t>
            </a:r>
          </a:p>
          <a:p>
            <a:endParaRPr lang="es-CO" dirty="0"/>
          </a:p>
          <a:p>
            <a:r>
              <a:rPr lang="es-CO" dirty="0"/>
              <a:t>Segmentación + paginación</a:t>
            </a:r>
          </a:p>
        </p:txBody>
      </p:sp>
      <p:cxnSp>
        <p:nvCxnSpPr>
          <p:cNvPr id="21" name="Conector recto de flecha 20"/>
          <p:cNvCxnSpPr>
            <a:stCxn id="18" idx="3"/>
          </p:cNvCxnSpPr>
          <p:nvPr/>
        </p:nvCxnSpPr>
        <p:spPr>
          <a:xfrm flipV="1">
            <a:off x="9246131" y="4481848"/>
            <a:ext cx="413024" cy="685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p:cNvCxnSpPr>
            <a:stCxn id="18" idx="3"/>
          </p:cNvCxnSpPr>
          <p:nvPr/>
        </p:nvCxnSpPr>
        <p:spPr>
          <a:xfrm flipV="1">
            <a:off x="9246131" y="4971245"/>
            <a:ext cx="413024" cy="196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p:nvPr/>
        </p:nvCxnSpPr>
        <p:spPr>
          <a:xfrm>
            <a:off x="9246131" y="5167354"/>
            <a:ext cx="413024" cy="486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898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1893196" y="482575"/>
            <a:ext cx="8371266" cy="830997"/>
          </a:xfrm>
          <a:prstGeom prst="rect">
            <a:avLst/>
          </a:prstGeom>
          <a:noFill/>
        </p:spPr>
        <p:txBody>
          <a:bodyPr wrap="square" rtlCol="0">
            <a:spAutoFit/>
          </a:bodyPr>
          <a:lstStyle/>
          <a:p>
            <a:r>
              <a:rPr lang="es-CO" sz="2800" dirty="0"/>
              <a:t>Dispositivos de memoria y su velocidad de acceso</a:t>
            </a:r>
          </a:p>
          <a:p>
            <a:r>
              <a:rPr lang="es-CO" sz="2000" dirty="0"/>
              <a:t>Parámetros: velocidad, tamaño, costo</a:t>
            </a:r>
          </a:p>
        </p:txBody>
      </p:sp>
      <p:sp>
        <p:nvSpPr>
          <p:cNvPr id="4" name="Triángulo isósceles 3"/>
          <p:cNvSpPr/>
          <p:nvPr/>
        </p:nvSpPr>
        <p:spPr>
          <a:xfrm>
            <a:off x="3541690" y="1818997"/>
            <a:ext cx="3992450" cy="4224271"/>
          </a:xfrm>
          <a:prstGeom prst="triangl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de flecha 7"/>
          <p:cNvCxnSpPr/>
          <p:nvPr/>
        </p:nvCxnSpPr>
        <p:spPr>
          <a:xfrm flipV="1">
            <a:off x="3245476" y="2202288"/>
            <a:ext cx="1674254" cy="34386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p:cNvSpPr txBox="1"/>
          <p:nvPr/>
        </p:nvSpPr>
        <p:spPr>
          <a:xfrm>
            <a:off x="3015415" y="3117273"/>
            <a:ext cx="1352280" cy="923330"/>
          </a:xfrm>
          <a:prstGeom prst="rect">
            <a:avLst/>
          </a:prstGeom>
          <a:noFill/>
        </p:spPr>
        <p:txBody>
          <a:bodyPr wrap="square" rtlCol="0">
            <a:spAutoFit/>
          </a:bodyPr>
          <a:lstStyle/>
          <a:p>
            <a:r>
              <a:rPr lang="es-CO" dirty="0"/>
              <a:t>Velocidad, tamaño,</a:t>
            </a:r>
          </a:p>
          <a:p>
            <a:r>
              <a:rPr lang="es-CO" dirty="0"/>
              <a:t>costo</a:t>
            </a:r>
          </a:p>
        </p:txBody>
      </p:sp>
      <p:cxnSp>
        <p:nvCxnSpPr>
          <p:cNvPr id="12" name="Conector recto 11"/>
          <p:cNvCxnSpPr>
            <a:stCxn id="4" idx="1"/>
            <a:endCxn id="4" idx="5"/>
          </p:cNvCxnSpPr>
          <p:nvPr/>
        </p:nvCxnSpPr>
        <p:spPr>
          <a:xfrm>
            <a:off x="4539803" y="3931133"/>
            <a:ext cx="199622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Conector recto 13"/>
          <p:cNvCxnSpPr/>
          <p:nvPr/>
        </p:nvCxnSpPr>
        <p:spPr>
          <a:xfrm>
            <a:off x="4919730" y="3228109"/>
            <a:ext cx="1287106" cy="277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Conector recto 22"/>
          <p:cNvCxnSpPr/>
          <p:nvPr/>
        </p:nvCxnSpPr>
        <p:spPr>
          <a:xfrm>
            <a:off x="4267200" y="4546028"/>
            <a:ext cx="2535382" cy="1211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4082603" y="5029200"/>
            <a:ext cx="2941652" cy="692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Conector recto 29"/>
          <p:cNvCxnSpPr/>
          <p:nvPr/>
        </p:nvCxnSpPr>
        <p:spPr>
          <a:xfrm>
            <a:off x="3691555" y="5599558"/>
            <a:ext cx="362364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Conector recto 31"/>
          <p:cNvCxnSpPr/>
          <p:nvPr/>
        </p:nvCxnSpPr>
        <p:spPr>
          <a:xfrm>
            <a:off x="5140036" y="2632364"/>
            <a:ext cx="789709" cy="1385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CuadroTexto 32"/>
          <p:cNvSpPr txBox="1"/>
          <p:nvPr/>
        </p:nvSpPr>
        <p:spPr>
          <a:xfrm>
            <a:off x="4367695" y="1818997"/>
            <a:ext cx="2656560" cy="4185761"/>
          </a:xfrm>
          <a:prstGeom prst="rect">
            <a:avLst/>
          </a:prstGeom>
          <a:noFill/>
        </p:spPr>
        <p:txBody>
          <a:bodyPr wrap="square" rtlCol="0">
            <a:spAutoFit/>
          </a:bodyPr>
          <a:lstStyle/>
          <a:p>
            <a:r>
              <a:rPr lang="es-CO" sz="1400" dirty="0"/>
              <a:t>              </a:t>
            </a:r>
          </a:p>
          <a:p>
            <a:r>
              <a:rPr lang="es-CO" sz="1400" dirty="0"/>
              <a:t>              Registros</a:t>
            </a:r>
          </a:p>
          <a:p>
            <a:endParaRPr lang="es-CO" sz="1400" dirty="0"/>
          </a:p>
          <a:p>
            <a:endParaRPr lang="es-CO" sz="1400" dirty="0"/>
          </a:p>
          <a:p>
            <a:endParaRPr lang="es-CO" sz="1400" dirty="0"/>
          </a:p>
          <a:p>
            <a:r>
              <a:rPr lang="es-CO" sz="1400" dirty="0"/>
              <a:t>               Cache </a:t>
            </a:r>
          </a:p>
          <a:p>
            <a:endParaRPr lang="es-CO" sz="1400" dirty="0"/>
          </a:p>
          <a:p>
            <a:endParaRPr lang="es-CO" sz="1400" dirty="0"/>
          </a:p>
          <a:p>
            <a:r>
              <a:rPr lang="es-CO" sz="1400" dirty="0"/>
              <a:t>      Memoria principal</a:t>
            </a:r>
          </a:p>
          <a:p>
            <a:endParaRPr lang="es-CO" sz="1400" dirty="0"/>
          </a:p>
          <a:p>
            <a:endParaRPr lang="es-CO" sz="1400" dirty="0"/>
          </a:p>
          <a:p>
            <a:r>
              <a:rPr lang="es-CO" sz="1400" dirty="0"/>
              <a:t>  Discos de estado sólido</a:t>
            </a:r>
          </a:p>
          <a:p>
            <a:endParaRPr lang="es-CO" sz="1400" dirty="0"/>
          </a:p>
          <a:p>
            <a:r>
              <a:rPr lang="es-CO" sz="1400" dirty="0"/>
              <a:t>     Discos magnéticos</a:t>
            </a:r>
          </a:p>
          <a:p>
            <a:endParaRPr lang="es-CO" sz="1400" dirty="0"/>
          </a:p>
          <a:p>
            <a:endParaRPr lang="es-CO" sz="1400" dirty="0"/>
          </a:p>
          <a:p>
            <a:r>
              <a:rPr lang="es-CO" sz="1400" dirty="0"/>
              <a:t>       Discos ópticos </a:t>
            </a:r>
          </a:p>
          <a:p>
            <a:endParaRPr lang="es-CO" sz="1400" dirty="0"/>
          </a:p>
          <a:p>
            <a:r>
              <a:rPr lang="es-CO" sz="1400" dirty="0"/>
              <a:t>Tapes, Cintas, cartuchos   </a:t>
            </a:r>
          </a:p>
        </p:txBody>
      </p:sp>
      <p:sp>
        <p:nvSpPr>
          <p:cNvPr id="34" name="Abrir llave 33"/>
          <p:cNvSpPr/>
          <p:nvPr/>
        </p:nvSpPr>
        <p:spPr>
          <a:xfrm>
            <a:off x="7590825" y="3931133"/>
            <a:ext cx="396514" cy="21121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5" name="CuadroTexto 34"/>
          <p:cNvSpPr txBox="1"/>
          <p:nvPr/>
        </p:nvSpPr>
        <p:spPr>
          <a:xfrm>
            <a:off x="7913676" y="4202370"/>
            <a:ext cx="2934834" cy="1569660"/>
          </a:xfrm>
          <a:prstGeom prst="rect">
            <a:avLst/>
          </a:prstGeom>
          <a:noFill/>
        </p:spPr>
        <p:txBody>
          <a:bodyPr wrap="square" rtlCol="0">
            <a:spAutoFit/>
          </a:bodyPr>
          <a:lstStyle/>
          <a:p>
            <a:r>
              <a:rPr lang="es-CO" sz="1600" dirty="0"/>
              <a:t>Esa conexión con la CPU no es de forma directa, Necesitan de un dispositivo intermedio</a:t>
            </a:r>
          </a:p>
          <a:p>
            <a:r>
              <a:rPr lang="es-CO" sz="1600" dirty="0"/>
              <a:t>Llamado controlador que lo que hace es no distraer a la CPU atendiendo al dispositivo  </a:t>
            </a:r>
          </a:p>
        </p:txBody>
      </p:sp>
      <p:sp>
        <p:nvSpPr>
          <p:cNvPr id="37" name="Abrir llave 36"/>
          <p:cNvSpPr/>
          <p:nvPr/>
        </p:nvSpPr>
        <p:spPr>
          <a:xfrm>
            <a:off x="7590825" y="1621020"/>
            <a:ext cx="396514" cy="21121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8" name="CuadroTexto 37"/>
          <p:cNvSpPr txBox="1"/>
          <p:nvPr/>
        </p:nvSpPr>
        <p:spPr>
          <a:xfrm>
            <a:off x="7848503" y="1978829"/>
            <a:ext cx="2415959" cy="1169551"/>
          </a:xfrm>
          <a:prstGeom prst="rect">
            <a:avLst/>
          </a:prstGeom>
          <a:noFill/>
        </p:spPr>
        <p:txBody>
          <a:bodyPr wrap="square" rtlCol="0">
            <a:spAutoFit/>
          </a:bodyPr>
          <a:lstStyle/>
          <a:p>
            <a:r>
              <a:rPr lang="es-CO" sz="1400" dirty="0" err="1"/>
              <a:t>Estan</a:t>
            </a:r>
            <a:r>
              <a:rPr lang="es-CO" sz="1400" dirty="0"/>
              <a:t> conectadas directamente a la CPU, por eso la CPU las puede </a:t>
            </a:r>
            <a:r>
              <a:rPr lang="es-CO" sz="1400" dirty="0" err="1"/>
              <a:t>Accesar</a:t>
            </a:r>
            <a:r>
              <a:rPr lang="es-CO" sz="1400" dirty="0"/>
              <a:t> de forma  directa lo que las hace muy rápidas</a:t>
            </a:r>
          </a:p>
        </p:txBody>
      </p:sp>
    </p:spTree>
    <p:extLst>
      <p:ext uri="{BB962C8B-B14F-4D97-AF65-F5344CB8AC3E}">
        <p14:creationId xmlns:p14="http://schemas.microsoft.com/office/powerpoint/2010/main" val="1298668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2424433" y="1005795"/>
            <a:ext cx="6991350" cy="5581650"/>
          </a:xfrm>
          <a:prstGeom prst="rect">
            <a:avLst/>
          </a:prstGeom>
        </p:spPr>
      </p:pic>
      <p:sp>
        <p:nvSpPr>
          <p:cNvPr id="4" name="CuadroTexto 3"/>
          <p:cNvSpPr txBox="1"/>
          <p:nvPr/>
        </p:nvSpPr>
        <p:spPr>
          <a:xfrm>
            <a:off x="1385455" y="304465"/>
            <a:ext cx="9690584" cy="584775"/>
          </a:xfrm>
          <a:prstGeom prst="rect">
            <a:avLst/>
          </a:prstGeom>
          <a:noFill/>
        </p:spPr>
        <p:txBody>
          <a:bodyPr wrap="square" rtlCol="0">
            <a:spAutoFit/>
          </a:bodyPr>
          <a:lstStyle/>
          <a:p>
            <a:r>
              <a:rPr lang="es-CO" sz="3200" dirty="0"/>
              <a:t>Etapas por las que pasa un proceso para ejecutarlo</a:t>
            </a:r>
          </a:p>
        </p:txBody>
      </p:sp>
      <p:sp>
        <p:nvSpPr>
          <p:cNvPr id="7" name="CuadroTexto 6"/>
          <p:cNvSpPr txBox="1"/>
          <p:nvPr/>
        </p:nvSpPr>
        <p:spPr>
          <a:xfrm>
            <a:off x="9581612" y="1170824"/>
            <a:ext cx="1668803" cy="923330"/>
          </a:xfrm>
          <a:prstGeom prst="rect">
            <a:avLst/>
          </a:prstGeom>
          <a:noFill/>
        </p:spPr>
        <p:txBody>
          <a:bodyPr wrap="square" rtlCol="0">
            <a:spAutoFit/>
          </a:bodyPr>
          <a:lstStyle/>
          <a:p>
            <a:r>
              <a:rPr lang="es-CO" dirty="0"/>
              <a:t>Nombres usados por el programador</a:t>
            </a:r>
          </a:p>
        </p:txBody>
      </p:sp>
      <p:sp>
        <p:nvSpPr>
          <p:cNvPr id="8" name="CuadroTexto 7"/>
          <p:cNvSpPr txBox="1"/>
          <p:nvPr/>
        </p:nvSpPr>
        <p:spPr>
          <a:xfrm>
            <a:off x="9634425" y="3152588"/>
            <a:ext cx="2305588" cy="1477328"/>
          </a:xfrm>
          <a:prstGeom prst="rect">
            <a:avLst/>
          </a:prstGeom>
          <a:noFill/>
        </p:spPr>
        <p:txBody>
          <a:bodyPr wrap="square" rtlCol="0">
            <a:spAutoFit/>
          </a:bodyPr>
          <a:lstStyle/>
          <a:p>
            <a:r>
              <a:rPr lang="es-CO" dirty="0"/>
              <a:t>Las etiquetas son cambiadas por un desplazamiento dentro del programa en memoria</a:t>
            </a:r>
          </a:p>
        </p:txBody>
      </p:sp>
    </p:spTree>
    <p:extLst>
      <p:ext uri="{BB962C8B-B14F-4D97-AF65-F5344CB8AC3E}">
        <p14:creationId xmlns:p14="http://schemas.microsoft.com/office/powerpoint/2010/main" val="177593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1714828" y="489671"/>
            <a:ext cx="8742217" cy="5828002"/>
          </a:xfrm>
          <a:prstGeom prst="rect">
            <a:avLst/>
          </a:prstGeom>
        </p:spPr>
      </p:pic>
    </p:spTree>
    <p:extLst>
      <p:ext uri="{BB962C8B-B14F-4D97-AF65-F5344CB8AC3E}">
        <p14:creationId xmlns:p14="http://schemas.microsoft.com/office/powerpoint/2010/main" val="4000137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495357" y="1328200"/>
            <a:ext cx="8395618" cy="3578651"/>
          </a:xfrm>
          <a:prstGeom prst="rect">
            <a:avLst/>
          </a:prstGeom>
        </p:spPr>
      </p:pic>
      <p:sp>
        <p:nvSpPr>
          <p:cNvPr id="5" name="CuadroTexto 4"/>
          <p:cNvSpPr txBox="1"/>
          <p:nvPr/>
        </p:nvSpPr>
        <p:spPr>
          <a:xfrm>
            <a:off x="1495357" y="309093"/>
            <a:ext cx="8717589" cy="646331"/>
          </a:xfrm>
          <a:prstGeom prst="rect">
            <a:avLst/>
          </a:prstGeom>
          <a:noFill/>
        </p:spPr>
        <p:txBody>
          <a:bodyPr wrap="square" rtlCol="0">
            <a:spAutoFit/>
          </a:bodyPr>
          <a:lstStyle/>
          <a:p>
            <a:r>
              <a:rPr lang="es-CO" sz="3600" dirty="0"/>
              <a:t>Direcciones lógica vs direcciones físicas</a:t>
            </a:r>
          </a:p>
        </p:txBody>
      </p:sp>
      <p:sp>
        <p:nvSpPr>
          <p:cNvPr id="6" name="CuadroTexto 5"/>
          <p:cNvSpPr txBox="1"/>
          <p:nvPr/>
        </p:nvSpPr>
        <p:spPr>
          <a:xfrm>
            <a:off x="837830" y="4919019"/>
            <a:ext cx="9710671" cy="1631216"/>
          </a:xfrm>
          <a:prstGeom prst="rect">
            <a:avLst/>
          </a:prstGeom>
          <a:noFill/>
        </p:spPr>
        <p:txBody>
          <a:bodyPr wrap="square" rtlCol="0">
            <a:spAutoFit/>
          </a:bodyPr>
          <a:lstStyle/>
          <a:p>
            <a:r>
              <a:rPr lang="es-CO" sz="2000" dirty="0"/>
              <a:t>Un programa maneja direcciones lógicas, estas direcciones son las que toma la CPU y se las pasa MMU para sumarle el registro base y con este calcular la dirección física y ubicar esta dirección en memoria principal o real.</a:t>
            </a:r>
          </a:p>
          <a:p>
            <a:r>
              <a:rPr lang="es-CO" sz="2000" dirty="0"/>
              <a:t>En resumen el espacio de las direcciones lógicas, virtuales o relativas pueden ser diferentes a las direcciones físicas o reales.</a:t>
            </a:r>
          </a:p>
        </p:txBody>
      </p:sp>
    </p:spTree>
    <p:extLst>
      <p:ext uri="{BB962C8B-B14F-4D97-AF65-F5344CB8AC3E}">
        <p14:creationId xmlns:p14="http://schemas.microsoft.com/office/powerpoint/2010/main" val="2840392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3232597" y="222205"/>
            <a:ext cx="4610636" cy="646331"/>
          </a:xfrm>
          <a:prstGeom prst="rect">
            <a:avLst/>
          </a:prstGeom>
          <a:noFill/>
        </p:spPr>
        <p:txBody>
          <a:bodyPr wrap="square" rtlCol="0">
            <a:spAutoFit/>
          </a:bodyPr>
          <a:lstStyle/>
          <a:p>
            <a:pPr algn="ctr"/>
            <a:r>
              <a:rPr lang="es-CO" sz="3600" dirty="0"/>
              <a:t>Técnica de </a:t>
            </a:r>
            <a:r>
              <a:rPr lang="es-CO" sz="3600" dirty="0" err="1"/>
              <a:t>overlays</a:t>
            </a:r>
            <a:endParaRPr lang="es-CO" sz="3600" dirty="0"/>
          </a:p>
        </p:txBody>
      </p:sp>
      <p:sp>
        <p:nvSpPr>
          <p:cNvPr id="4" name="CuadroTexto 3"/>
          <p:cNvSpPr txBox="1"/>
          <p:nvPr/>
        </p:nvSpPr>
        <p:spPr>
          <a:xfrm>
            <a:off x="811369" y="1005795"/>
            <a:ext cx="9710671" cy="923330"/>
          </a:xfrm>
          <a:prstGeom prst="rect">
            <a:avLst/>
          </a:prstGeom>
          <a:noFill/>
        </p:spPr>
        <p:txBody>
          <a:bodyPr wrap="square" rtlCol="0">
            <a:spAutoFit/>
          </a:bodyPr>
          <a:lstStyle/>
          <a:p>
            <a:pPr algn="just"/>
            <a:r>
              <a:rPr lang="es-CO" dirty="0"/>
              <a:t>Se usa cuando el programa que se quiere cargar no se necesita tenerlo todo en memoria principal, es decir solo cargar en memoria aquellos datos que se necesitan. El programa se divide en porciones.</a:t>
            </a:r>
          </a:p>
        </p:txBody>
      </p:sp>
      <p:pic>
        <p:nvPicPr>
          <p:cNvPr id="8" name="Imagen 7"/>
          <p:cNvPicPr>
            <a:picLocks noChangeAspect="1"/>
          </p:cNvPicPr>
          <p:nvPr/>
        </p:nvPicPr>
        <p:blipFill>
          <a:blip r:embed="rId5"/>
          <a:stretch>
            <a:fillRect/>
          </a:stretch>
        </p:blipFill>
        <p:spPr>
          <a:xfrm>
            <a:off x="2386629" y="1929125"/>
            <a:ext cx="5901207" cy="4548948"/>
          </a:xfrm>
          <a:prstGeom prst="rect">
            <a:avLst/>
          </a:prstGeom>
        </p:spPr>
      </p:pic>
      <p:sp>
        <p:nvSpPr>
          <p:cNvPr id="9" name="CuadroTexto 8"/>
          <p:cNvSpPr txBox="1"/>
          <p:nvPr/>
        </p:nvSpPr>
        <p:spPr>
          <a:xfrm>
            <a:off x="8287836" y="3335629"/>
            <a:ext cx="3303150" cy="1477328"/>
          </a:xfrm>
          <a:prstGeom prst="rect">
            <a:avLst/>
          </a:prstGeom>
          <a:noFill/>
        </p:spPr>
        <p:txBody>
          <a:bodyPr wrap="square" rtlCol="0">
            <a:spAutoFit/>
          </a:bodyPr>
          <a:lstStyle/>
          <a:p>
            <a:r>
              <a:rPr lang="es-CO" dirty="0"/>
              <a:t>Por ejemplo un sistema de nómina:</a:t>
            </a:r>
          </a:p>
          <a:p>
            <a:pPr marL="285750" indent="-285750">
              <a:buFont typeface="Arial" panose="020B0604020202020204" pitchFamily="34" charset="0"/>
              <a:buChar char="•"/>
            </a:pPr>
            <a:r>
              <a:rPr lang="es-CO" dirty="0"/>
              <a:t>Inicialización de archivos</a:t>
            </a:r>
          </a:p>
          <a:p>
            <a:pPr marL="285750" indent="-285750">
              <a:buFont typeface="Arial" panose="020B0604020202020204" pitchFamily="34" charset="0"/>
              <a:buChar char="•"/>
            </a:pPr>
            <a:r>
              <a:rPr lang="es-CO" dirty="0"/>
              <a:t>Procesamiento</a:t>
            </a:r>
          </a:p>
          <a:p>
            <a:pPr marL="285750" indent="-285750">
              <a:buFont typeface="Arial" panose="020B0604020202020204" pitchFamily="34" charset="0"/>
              <a:buChar char="•"/>
            </a:pPr>
            <a:r>
              <a:rPr lang="es-CO" dirty="0"/>
              <a:t>impresión</a:t>
            </a:r>
          </a:p>
        </p:txBody>
      </p:sp>
    </p:spTree>
    <p:extLst>
      <p:ext uri="{BB962C8B-B14F-4D97-AF65-F5344CB8AC3E}">
        <p14:creationId xmlns:p14="http://schemas.microsoft.com/office/powerpoint/2010/main" val="4217728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1268502" y="503216"/>
            <a:ext cx="7205797" cy="5847896"/>
          </a:xfrm>
          <a:prstGeom prst="rect">
            <a:avLst/>
          </a:prstGeom>
        </p:spPr>
      </p:pic>
      <p:sp>
        <p:nvSpPr>
          <p:cNvPr id="4" name="CuadroTexto 3"/>
          <p:cNvSpPr txBox="1"/>
          <p:nvPr/>
        </p:nvSpPr>
        <p:spPr>
          <a:xfrm>
            <a:off x="8608489" y="2511380"/>
            <a:ext cx="2673564" cy="2585323"/>
          </a:xfrm>
          <a:prstGeom prst="rect">
            <a:avLst/>
          </a:prstGeom>
          <a:noFill/>
        </p:spPr>
        <p:txBody>
          <a:bodyPr wrap="square" rtlCol="0">
            <a:spAutoFit/>
          </a:bodyPr>
          <a:lstStyle/>
          <a:p>
            <a:r>
              <a:rPr lang="es-CO" dirty="0"/>
              <a:t>En resumen el programa se divide en porciones que se llaman </a:t>
            </a:r>
            <a:r>
              <a:rPr lang="es-CO" dirty="0" err="1"/>
              <a:t>overlays</a:t>
            </a:r>
            <a:r>
              <a:rPr lang="es-CO" dirty="0"/>
              <a:t> e ir cargando a memoria de acuerdo a un programa principal cada una de estas porciones a medida que se </a:t>
            </a:r>
            <a:r>
              <a:rPr lang="es-CO"/>
              <a:t>van requiriendo</a:t>
            </a:r>
            <a:endParaRPr lang="es-CO" dirty="0"/>
          </a:p>
        </p:txBody>
      </p:sp>
    </p:spTree>
    <p:extLst>
      <p:ext uri="{BB962C8B-B14F-4D97-AF65-F5344CB8AC3E}">
        <p14:creationId xmlns:p14="http://schemas.microsoft.com/office/powerpoint/2010/main" val="537616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3232597" y="222205"/>
            <a:ext cx="4610636" cy="646331"/>
          </a:xfrm>
          <a:prstGeom prst="rect">
            <a:avLst/>
          </a:prstGeom>
          <a:noFill/>
        </p:spPr>
        <p:txBody>
          <a:bodyPr wrap="square" rtlCol="0">
            <a:spAutoFit/>
          </a:bodyPr>
          <a:lstStyle/>
          <a:p>
            <a:pPr algn="ctr"/>
            <a:r>
              <a:rPr lang="es-CO" sz="3600" dirty="0"/>
              <a:t>Técnica de </a:t>
            </a:r>
            <a:r>
              <a:rPr lang="es-CO" sz="3600" dirty="0" err="1"/>
              <a:t>swapping</a:t>
            </a:r>
            <a:endParaRPr lang="es-CO" sz="3600" dirty="0"/>
          </a:p>
        </p:txBody>
      </p:sp>
      <p:sp>
        <p:nvSpPr>
          <p:cNvPr id="2" name="CuadroTexto 1"/>
          <p:cNvSpPr txBox="1"/>
          <p:nvPr/>
        </p:nvSpPr>
        <p:spPr>
          <a:xfrm>
            <a:off x="953037" y="1333222"/>
            <a:ext cx="9775064" cy="923330"/>
          </a:xfrm>
          <a:prstGeom prst="rect">
            <a:avLst/>
          </a:prstGeom>
          <a:noFill/>
        </p:spPr>
        <p:txBody>
          <a:bodyPr wrap="square" rtlCol="0">
            <a:spAutoFit/>
          </a:bodyPr>
          <a:lstStyle/>
          <a:p>
            <a:r>
              <a:rPr lang="es-CO" dirty="0"/>
              <a:t>A diferencia del </a:t>
            </a:r>
            <a:r>
              <a:rPr lang="es-CO" dirty="0" err="1"/>
              <a:t>overlays</a:t>
            </a:r>
            <a:r>
              <a:rPr lang="es-CO" dirty="0"/>
              <a:t> aquí se trata de mover a memoria programas completos que por lo general residen en memoria virtual (DD), pero la memoria se llena y no puede cargarlo todos al mismo tiempo.</a:t>
            </a:r>
          </a:p>
        </p:txBody>
      </p:sp>
      <p:pic>
        <p:nvPicPr>
          <p:cNvPr id="4" name="Imagen 3"/>
          <p:cNvPicPr>
            <a:picLocks noChangeAspect="1"/>
          </p:cNvPicPr>
          <p:nvPr/>
        </p:nvPicPr>
        <p:blipFill>
          <a:blip r:embed="rId5"/>
          <a:stretch>
            <a:fillRect/>
          </a:stretch>
        </p:blipFill>
        <p:spPr>
          <a:xfrm>
            <a:off x="1095835" y="2304772"/>
            <a:ext cx="5981700" cy="4267583"/>
          </a:xfrm>
          <a:prstGeom prst="rect">
            <a:avLst/>
          </a:prstGeom>
        </p:spPr>
      </p:pic>
      <p:sp>
        <p:nvSpPr>
          <p:cNvPr id="8" name="CuadroTexto 7"/>
          <p:cNvSpPr txBox="1"/>
          <p:nvPr/>
        </p:nvSpPr>
        <p:spPr>
          <a:xfrm>
            <a:off x="7225049" y="2871442"/>
            <a:ext cx="3400022" cy="2308324"/>
          </a:xfrm>
          <a:prstGeom prst="rect">
            <a:avLst/>
          </a:prstGeom>
          <a:noFill/>
        </p:spPr>
        <p:txBody>
          <a:bodyPr wrap="square" rtlCol="0">
            <a:spAutoFit/>
          </a:bodyPr>
          <a:lstStyle/>
          <a:p>
            <a:r>
              <a:rPr lang="es-CO" dirty="0"/>
              <a:t>El S.O. hace swap </a:t>
            </a:r>
            <a:r>
              <a:rPr lang="es-CO" dirty="0" err="1"/>
              <a:t>out</a:t>
            </a:r>
            <a:r>
              <a:rPr lang="es-CO" dirty="0"/>
              <a:t> cuando la copia del proceso que esta en memoria (copia del que esta en el disco) es alterada por algún procesamiento, de lo contrario no hace swap </a:t>
            </a:r>
            <a:r>
              <a:rPr lang="es-CO" dirty="0" err="1"/>
              <a:t>out</a:t>
            </a:r>
            <a:r>
              <a:rPr lang="es-CO" dirty="0"/>
              <a:t> para evitarse </a:t>
            </a:r>
            <a:r>
              <a:rPr lang="es-CO"/>
              <a:t>una operación </a:t>
            </a:r>
            <a:r>
              <a:rPr lang="es-CO" dirty="0"/>
              <a:t>de E/S a disco.</a:t>
            </a:r>
          </a:p>
        </p:txBody>
      </p:sp>
    </p:spTree>
    <p:extLst>
      <p:ext uri="{BB962C8B-B14F-4D97-AF65-F5344CB8AC3E}">
        <p14:creationId xmlns:p14="http://schemas.microsoft.com/office/powerpoint/2010/main" val="620457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506828" y="222205"/>
            <a:ext cx="9569211" cy="1200329"/>
          </a:xfrm>
          <a:prstGeom prst="rect">
            <a:avLst/>
          </a:prstGeom>
          <a:noFill/>
        </p:spPr>
        <p:txBody>
          <a:bodyPr wrap="square" rtlCol="0">
            <a:spAutoFit/>
          </a:bodyPr>
          <a:lstStyle/>
          <a:p>
            <a:pPr algn="ctr"/>
            <a:r>
              <a:rPr lang="es-CO" sz="3600" dirty="0"/>
              <a:t>Retornando a los esquemas de </a:t>
            </a:r>
            <a:r>
              <a:rPr lang="es-CO" sz="3600" dirty="0" err="1"/>
              <a:t>admon</a:t>
            </a:r>
            <a:r>
              <a:rPr lang="es-CO" sz="3600" dirty="0"/>
              <a:t> de memoria</a:t>
            </a:r>
          </a:p>
        </p:txBody>
      </p:sp>
      <p:sp>
        <p:nvSpPr>
          <p:cNvPr id="2" name="CuadroTexto 1"/>
          <p:cNvSpPr txBox="1"/>
          <p:nvPr/>
        </p:nvSpPr>
        <p:spPr>
          <a:xfrm>
            <a:off x="888642" y="1818997"/>
            <a:ext cx="9865217" cy="4247317"/>
          </a:xfrm>
          <a:prstGeom prst="rect">
            <a:avLst/>
          </a:prstGeom>
          <a:noFill/>
        </p:spPr>
        <p:txBody>
          <a:bodyPr wrap="square" rtlCol="0">
            <a:spAutoFit/>
          </a:bodyPr>
          <a:lstStyle/>
          <a:p>
            <a:endParaRPr lang="es-CO" dirty="0"/>
          </a:p>
          <a:p>
            <a:endParaRPr lang="es-CO" dirty="0"/>
          </a:p>
          <a:p>
            <a:pPr marL="285750" indent="-285750">
              <a:buFont typeface="Wingdings" panose="05000000000000000000" pitchFamily="2" charset="2"/>
              <a:buChar char="§"/>
            </a:pPr>
            <a:r>
              <a:rPr lang="es-CO" dirty="0"/>
              <a:t>Almacenamiento contiguo</a:t>
            </a:r>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r>
              <a:rPr lang="es-CO" dirty="0"/>
              <a:t>Almacenamiento disperso</a:t>
            </a:r>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endParaRPr lang="es-CO" dirty="0"/>
          </a:p>
        </p:txBody>
      </p:sp>
      <p:sp>
        <p:nvSpPr>
          <p:cNvPr id="4" name="Abrir llave 3"/>
          <p:cNvSpPr/>
          <p:nvPr/>
        </p:nvSpPr>
        <p:spPr>
          <a:xfrm>
            <a:off x="3940935" y="1700011"/>
            <a:ext cx="309093" cy="17128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8" name="Abrir llave 7"/>
          <p:cNvSpPr/>
          <p:nvPr/>
        </p:nvSpPr>
        <p:spPr>
          <a:xfrm>
            <a:off x="3940934" y="3935203"/>
            <a:ext cx="309093" cy="1712890"/>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9" name="CuadroTexto 8"/>
          <p:cNvSpPr txBox="1"/>
          <p:nvPr/>
        </p:nvSpPr>
        <p:spPr>
          <a:xfrm>
            <a:off x="4250028" y="1687132"/>
            <a:ext cx="2614411" cy="1754326"/>
          </a:xfrm>
          <a:prstGeom prst="rect">
            <a:avLst/>
          </a:prstGeom>
          <a:noFill/>
        </p:spPr>
        <p:txBody>
          <a:bodyPr wrap="square" rtlCol="0">
            <a:spAutoFit/>
          </a:bodyPr>
          <a:lstStyle/>
          <a:p>
            <a:pPr marL="285750" indent="-285750">
              <a:buFont typeface="Arial" panose="020B0604020202020204" pitchFamily="34" charset="0"/>
              <a:buChar char="•"/>
            </a:pPr>
            <a:r>
              <a:rPr lang="es-CO" dirty="0"/>
              <a:t>Memoria contigua de usuario único</a:t>
            </a:r>
          </a:p>
          <a:p>
            <a:endParaRPr lang="es-CO" dirty="0"/>
          </a:p>
          <a:p>
            <a:pPr marL="285750" indent="-285750">
              <a:buFont typeface="Arial" panose="020B0604020202020204" pitchFamily="34" charset="0"/>
              <a:buChar char="•"/>
            </a:pPr>
            <a:r>
              <a:rPr lang="es-CO" dirty="0"/>
              <a:t>Particiones fijas</a:t>
            </a:r>
          </a:p>
          <a:p>
            <a:endParaRPr lang="es-CO" dirty="0"/>
          </a:p>
          <a:p>
            <a:pPr marL="285750" indent="-285750">
              <a:buFont typeface="Arial" panose="020B0604020202020204" pitchFamily="34" charset="0"/>
              <a:buChar char="•"/>
            </a:pPr>
            <a:r>
              <a:rPr lang="es-CO" dirty="0"/>
              <a:t>Particiones variables</a:t>
            </a:r>
          </a:p>
        </p:txBody>
      </p:sp>
      <p:sp>
        <p:nvSpPr>
          <p:cNvPr id="10" name="Abrir llave 9"/>
          <p:cNvSpPr/>
          <p:nvPr/>
        </p:nvSpPr>
        <p:spPr>
          <a:xfrm>
            <a:off x="6529589" y="2304772"/>
            <a:ext cx="888642" cy="78615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1" name="CuadroTexto 10"/>
          <p:cNvSpPr txBox="1"/>
          <p:nvPr/>
        </p:nvSpPr>
        <p:spPr>
          <a:xfrm>
            <a:off x="7418231" y="2374685"/>
            <a:ext cx="2975020" cy="646331"/>
          </a:xfrm>
          <a:prstGeom prst="rect">
            <a:avLst/>
          </a:prstGeom>
          <a:noFill/>
        </p:spPr>
        <p:txBody>
          <a:bodyPr wrap="square" rtlCol="0">
            <a:spAutoFit/>
          </a:bodyPr>
          <a:lstStyle/>
          <a:p>
            <a:pPr marL="285750" indent="-285750">
              <a:buFont typeface="Arial" panose="020B0604020202020204" pitchFamily="34" charset="0"/>
              <a:buChar char="•"/>
            </a:pPr>
            <a:r>
              <a:rPr lang="es-CO" dirty="0"/>
              <a:t>Mismo tamaño</a:t>
            </a:r>
          </a:p>
          <a:p>
            <a:pPr marL="285750" indent="-285750">
              <a:buFont typeface="Arial" panose="020B0604020202020204" pitchFamily="34" charset="0"/>
              <a:buChar char="•"/>
            </a:pPr>
            <a:r>
              <a:rPr lang="es-CO" dirty="0"/>
              <a:t>Diferentes tamaños</a:t>
            </a:r>
          </a:p>
        </p:txBody>
      </p:sp>
      <p:sp>
        <p:nvSpPr>
          <p:cNvPr id="12" name="CuadroTexto 11"/>
          <p:cNvSpPr txBox="1"/>
          <p:nvPr/>
        </p:nvSpPr>
        <p:spPr>
          <a:xfrm>
            <a:off x="4250027" y="4306499"/>
            <a:ext cx="3618964" cy="923330"/>
          </a:xfrm>
          <a:prstGeom prst="rect">
            <a:avLst/>
          </a:prstGeom>
          <a:noFill/>
        </p:spPr>
        <p:txBody>
          <a:bodyPr wrap="square" rtlCol="0">
            <a:spAutoFit/>
          </a:bodyPr>
          <a:lstStyle/>
          <a:p>
            <a:pPr marL="285750" indent="-285750">
              <a:buFont typeface="Arial" panose="020B0604020202020204" pitchFamily="34" charset="0"/>
              <a:buChar char="•"/>
            </a:pPr>
            <a:r>
              <a:rPr lang="es-CO" dirty="0"/>
              <a:t>Paginación</a:t>
            </a:r>
          </a:p>
          <a:p>
            <a:pPr marL="285750" indent="-285750">
              <a:buFont typeface="Arial" panose="020B0604020202020204" pitchFamily="34" charset="0"/>
              <a:buChar char="•"/>
            </a:pPr>
            <a:r>
              <a:rPr lang="es-CO" dirty="0"/>
              <a:t>Segmentación</a:t>
            </a:r>
          </a:p>
          <a:p>
            <a:pPr marL="285750" indent="-285750">
              <a:buFont typeface="Arial" panose="020B0604020202020204" pitchFamily="34" charset="0"/>
              <a:buChar char="•"/>
            </a:pPr>
            <a:r>
              <a:rPr lang="es-CO" dirty="0"/>
              <a:t>Paginación + Segmentación</a:t>
            </a:r>
          </a:p>
        </p:txBody>
      </p:sp>
      <p:sp>
        <p:nvSpPr>
          <p:cNvPr id="13" name="Cerrar llave 12"/>
          <p:cNvSpPr/>
          <p:nvPr/>
        </p:nvSpPr>
        <p:spPr>
          <a:xfrm>
            <a:off x="7662930" y="3935203"/>
            <a:ext cx="334850" cy="17128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4" name="CuadroTexto 13"/>
          <p:cNvSpPr txBox="1"/>
          <p:nvPr/>
        </p:nvSpPr>
        <p:spPr>
          <a:xfrm>
            <a:off x="8178084" y="4606982"/>
            <a:ext cx="1313646" cy="369332"/>
          </a:xfrm>
          <a:prstGeom prst="rect">
            <a:avLst/>
          </a:prstGeom>
          <a:noFill/>
        </p:spPr>
        <p:txBody>
          <a:bodyPr wrap="square" rtlCol="0">
            <a:spAutoFit/>
          </a:bodyPr>
          <a:lstStyle/>
          <a:p>
            <a:r>
              <a:rPr lang="es-CO" dirty="0"/>
              <a:t>Técnicas</a:t>
            </a:r>
          </a:p>
        </p:txBody>
      </p:sp>
      <p:sp>
        <p:nvSpPr>
          <p:cNvPr id="15" name="CuadroTexto 14"/>
          <p:cNvSpPr txBox="1"/>
          <p:nvPr/>
        </p:nvSpPr>
        <p:spPr>
          <a:xfrm>
            <a:off x="8178084" y="3232597"/>
            <a:ext cx="3052293" cy="923330"/>
          </a:xfrm>
          <a:prstGeom prst="rect">
            <a:avLst/>
          </a:prstGeom>
          <a:noFill/>
        </p:spPr>
        <p:txBody>
          <a:bodyPr wrap="square" rtlCol="0">
            <a:spAutoFit/>
          </a:bodyPr>
          <a:lstStyle/>
          <a:p>
            <a:r>
              <a:rPr lang="es-CO" dirty="0">
                <a:solidFill>
                  <a:srgbClr val="FF0000"/>
                </a:solidFill>
              </a:rPr>
              <a:t>Particiones fijas y variables se dan solo en sistemas de multiprogramación</a:t>
            </a:r>
          </a:p>
        </p:txBody>
      </p:sp>
    </p:spTree>
    <p:extLst>
      <p:ext uri="{BB962C8B-B14F-4D97-AF65-F5344CB8AC3E}">
        <p14:creationId xmlns:p14="http://schemas.microsoft.com/office/powerpoint/2010/main" val="286797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1287887" y="222205"/>
            <a:ext cx="9556124" cy="6436172"/>
          </a:xfrm>
          <a:prstGeom prst="rect">
            <a:avLst/>
          </a:prstGeom>
        </p:spPr>
      </p:pic>
    </p:spTree>
    <p:extLst>
      <p:ext uri="{BB962C8B-B14F-4D97-AF65-F5344CB8AC3E}">
        <p14:creationId xmlns:p14="http://schemas.microsoft.com/office/powerpoint/2010/main" val="3531951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6623" y="185113"/>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506828" y="222205"/>
            <a:ext cx="9569211" cy="1200329"/>
          </a:xfrm>
          <a:prstGeom prst="rect">
            <a:avLst/>
          </a:prstGeom>
          <a:noFill/>
        </p:spPr>
        <p:txBody>
          <a:bodyPr wrap="square" rtlCol="0">
            <a:spAutoFit/>
          </a:bodyPr>
          <a:lstStyle/>
          <a:p>
            <a:pPr algn="ctr"/>
            <a:r>
              <a:rPr lang="es-CO" sz="3600" dirty="0"/>
              <a:t>Esquema de alojamiento contiguo con particiones fijas</a:t>
            </a:r>
          </a:p>
        </p:txBody>
      </p:sp>
      <p:sp>
        <p:nvSpPr>
          <p:cNvPr id="8" name="Rectangle 1"/>
          <p:cNvSpPr>
            <a:spLocks noChangeArrowheads="1"/>
          </p:cNvSpPr>
          <p:nvPr/>
        </p:nvSpPr>
        <p:spPr bwMode="auto">
          <a:xfrm>
            <a:off x="3833813" y="31480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13" name="CuadroTexto 12"/>
          <p:cNvSpPr txBox="1"/>
          <p:nvPr/>
        </p:nvSpPr>
        <p:spPr>
          <a:xfrm>
            <a:off x="3246782" y="1634331"/>
            <a:ext cx="5777948" cy="369332"/>
          </a:xfrm>
          <a:prstGeom prst="rect">
            <a:avLst/>
          </a:prstGeom>
          <a:noFill/>
        </p:spPr>
        <p:txBody>
          <a:bodyPr wrap="square" rtlCol="0">
            <a:spAutoFit/>
          </a:bodyPr>
          <a:lstStyle/>
          <a:p>
            <a:r>
              <a:rPr lang="es-CO" dirty="0"/>
              <a:t>           Tamaños fijos                Tamaños variables</a:t>
            </a:r>
          </a:p>
        </p:txBody>
      </p:sp>
      <p:sp>
        <p:nvSpPr>
          <p:cNvPr id="14" name="CuadroTexto 13"/>
          <p:cNvSpPr txBox="1"/>
          <p:nvPr/>
        </p:nvSpPr>
        <p:spPr>
          <a:xfrm>
            <a:off x="794666" y="2743200"/>
            <a:ext cx="2729948" cy="2862322"/>
          </a:xfrm>
          <a:prstGeom prst="rect">
            <a:avLst/>
          </a:prstGeom>
          <a:noFill/>
        </p:spPr>
        <p:txBody>
          <a:bodyPr wrap="square" rtlCol="0">
            <a:spAutoFit/>
          </a:bodyPr>
          <a:lstStyle/>
          <a:p>
            <a:pPr algn="just"/>
            <a:r>
              <a:rPr lang="es-CO" dirty="0"/>
              <a:t>En ambos casos cada partición funciona independientemente y tiene que correr un proceso completo en la partición.</a:t>
            </a:r>
          </a:p>
          <a:p>
            <a:pPr algn="just"/>
            <a:r>
              <a:rPr lang="es-CO" dirty="0"/>
              <a:t>Cada partición está protegida evitando que un proceso invada otra partición</a:t>
            </a:r>
          </a:p>
        </p:txBody>
      </p:sp>
      <p:pic>
        <p:nvPicPr>
          <p:cNvPr id="15" name="Imagen 14"/>
          <p:cNvPicPr>
            <a:picLocks noChangeAspect="1"/>
          </p:cNvPicPr>
          <p:nvPr/>
        </p:nvPicPr>
        <p:blipFill>
          <a:blip r:embed="rId5"/>
          <a:stretch>
            <a:fillRect/>
          </a:stretch>
        </p:blipFill>
        <p:spPr>
          <a:xfrm>
            <a:off x="4190695" y="2199713"/>
            <a:ext cx="3890121" cy="3405809"/>
          </a:xfrm>
          <a:prstGeom prst="rect">
            <a:avLst/>
          </a:prstGeom>
        </p:spPr>
      </p:pic>
    </p:spTree>
    <p:extLst>
      <p:ext uri="{BB962C8B-B14F-4D97-AF65-F5344CB8AC3E}">
        <p14:creationId xmlns:p14="http://schemas.microsoft.com/office/powerpoint/2010/main" val="847061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1661375" y="1459626"/>
            <a:ext cx="8564450" cy="3431461"/>
          </a:xfrm>
          <a:prstGeom prst="rect">
            <a:avLst/>
          </a:prstGeom>
        </p:spPr>
      </p:pic>
      <p:sp>
        <p:nvSpPr>
          <p:cNvPr id="7" name="CuadroTexto 6"/>
          <p:cNvSpPr txBox="1"/>
          <p:nvPr/>
        </p:nvSpPr>
        <p:spPr>
          <a:xfrm>
            <a:off x="1506828" y="222205"/>
            <a:ext cx="9569211" cy="1200329"/>
          </a:xfrm>
          <a:prstGeom prst="rect">
            <a:avLst/>
          </a:prstGeom>
          <a:noFill/>
        </p:spPr>
        <p:txBody>
          <a:bodyPr wrap="square" rtlCol="0">
            <a:spAutoFit/>
          </a:bodyPr>
          <a:lstStyle/>
          <a:p>
            <a:pPr algn="ctr"/>
            <a:r>
              <a:rPr lang="es-CO" sz="3600" dirty="0"/>
              <a:t>Esquema de alojamiento contiguo con particiones fijas</a:t>
            </a:r>
          </a:p>
        </p:txBody>
      </p:sp>
      <p:sp>
        <p:nvSpPr>
          <p:cNvPr id="8" name="CuadroTexto 7"/>
          <p:cNvSpPr txBox="1"/>
          <p:nvPr/>
        </p:nvSpPr>
        <p:spPr>
          <a:xfrm>
            <a:off x="1506828" y="5168947"/>
            <a:ext cx="8950817" cy="707886"/>
          </a:xfrm>
          <a:prstGeom prst="rect">
            <a:avLst/>
          </a:prstGeom>
          <a:noFill/>
        </p:spPr>
        <p:txBody>
          <a:bodyPr wrap="square" rtlCol="0">
            <a:spAutoFit/>
          </a:bodyPr>
          <a:lstStyle/>
          <a:p>
            <a:r>
              <a:rPr lang="es-CO" sz="2000" dirty="0"/>
              <a:t>En cada esquema se puede tener una cola de procesos por cada partición (P) o una cola de procesos para todas las particiones (Q)</a:t>
            </a:r>
          </a:p>
        </p:txBody>
      </p:sp>
      <p:sp>
        <p:nvSpPr>
          <p:cNvPr id="9" name="CuadroTexto 8"/>
          <p:cNvSpPr txBox="1"/>
          <p:nvPr/>
        </p:nvSpPr>
        <p:spPr>
          <a:xfrm>
            <a:off x="1996224" y="3258148"/>
            <a:ext cx="450761" cy="369332"/>
          </a:xfrm>
          <a:prstGeom prst="rect">
            <a:avLst/>
          </a:prstGeom>
          <a:noFill/>
        </p:spPr>
        <p:txBody>
          <a:bodyPr wrap="square" rtlCol="0">
            <a:spAutoFit/>
          </a:bodyPr>
          <a:lstStyle/>
          <a:p>
            <a:r>
              <a:rPr lang="es-CO" b="1" dirty="0">
                <a:solidFill>
                  <a:srgbClr val="FF0000"/>
                </a:solidFill>
              </a:rPr>
              <a:t>P</a:t>
            </a:r>
          </a:p>
        </p:txBody>
      </p:sp>
      <p:sp>
        <p:nvSpPr>
          <p:cNvPr id="10" name="CuadroTexto 9"/>
          <p:cNvSpPr txBox="1"/>
          <p:nvPr/>
        </p:nvSpPr>
        <p:spPr>
          <a:xfrm>
            <a:off x="7776693" y="3258148"/>
            <a:ext cx="450761" cy="369332"/>
          </a:xfrm>
          <a:prstGeom prst="rect">
            <a:avLst/>
          </a:prstGeom>
          <a:noFill/>
        </p:spPr>
        <p:txBody>
          <a:bodyPr wrap="square" rtlCol="0">
            <a:spAutoFit/>
          </a:bodyPr>
          <a:lstStyle/>
          <a:p>
            <a:r>
              <a:rPr lang="es-CO" b="1" dirty="0">
                <a:solidFill>
                  <a:srgbClr val="FF0000"/>
                </a:solidFill>
              </a:rPr>
              <a:t>Q</a:t>
            </a:r>
          </a:p>
        </p:txBody>
      </p:sp>
    </p:spTree>
    <p:extLst>
      <p:ext uri="{BB962C8B-B14F-4D97-AF65-F5344CB8AC3E}">
        <p14:creationId xmlns:p14="http://schemas.microsoft.com/office/powerpoint/2010/main" val="973538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506828" y="222205"/>
            <a:ext cx="9569211" cy="1200329"/>
          </a:xfrm>
          <a:prstGeom prst="rect">
            <a:avLst/>
          </a:prstGeom>
          <a:noFill/>
        </p:spPr>
        <p:txBody>
          <a:bodyPr wrap="square" rtlCol="0">
            <a:spAutoFit/>
          </a:bodyPr>
          <a:lstStyle/>
          <a:p>
            <a:pPr algn="ctr"/>
            <a:r>
              <a:rPr lang="es-CO" sz="3600" dirty="0"/>
              <a:t>Esquema de alojamiento contiguo con particiones fijas</a:t>
            </a:r>
          </a:p>
        </p:txBody>
      </p:sp>
      <p:sp>
        <p:nvSpPr>
          <p:cNvPr id="2" name="CuadroTexto 1"/>
          <p:cNvSpPr txBox="1"/>
          <p:nvPr/>
        </p:nvSpPr>
        <p:spPr>
          <a:xfrm>
            <a:off x="1095835" y="1818997"/>
            <a:ext cx="9118243" cy="4832092"/>
          </a:xfrm>
          <a:prstGeom prst="rect">
            <a:avLst/>
          </a:prstGeom>
          <a:noFill/>
        </p:spPr>
        <p:txBody>
          <a:bodyPr wrap="square" rtlCol="0">
            <a:spAutoFit/>
          </a:bodyPr>
          <a:lstStyle/>
          <a:p>
            <a:pPr algn="just"/>
            <a:r>
              <a:rPr lang="es-CO" sz="2800" dirty="0"/>
              <a:t>Cuando tengo el sistema de particiones fijas de diferentes tamaños se tiene el siguiente problema:</a:t>
            </a:r>
          </a:p>
          <a:p>
            <a:pPr algn="just"/>
            <a:endParaRPr lang="es-CO" sz="2800" dirty="0"/>
          </a:p>
          <a:p>
            <a:pPr algn="just"/>
            <a:r>
              <a:rPr lang="es-CO" sz="2800" dirty="0"/>
              <a:t>Decidir cual sería la mejor partición para correr un proceso? </a:t>
            </a:r>
          </a:p>
          <a:p>
            <a:pPr algn="just"/>
            <a:endParaRPr lang="es-CO" sz="2800" dirty="0"/>
          </a:p>
          <a:p>
            <a:pPr algn="just"/>
            <a:r>
              <a:rPr lang="es-CO" sz="2800" dirty="0"/>
              <a:t>Si se tienen varias alternativas bajo que criterio escojo o selecciono la mejor partición a utilizar?</a:t>
            </a:r>
          </a:p>
          <a:p>
            <a:pPr algn="just"/>
            <a:endParaRPr lang="es-CO" sz="2800" dirty="0"/>
          </a:p>
          <a:p>
            <a:pPr algn="just"/>
            <a:r>
              <a:rPr lang="es-CO" sz="2800" dirty="0">
                <a:solidFill>
                  <a:srgbClr val="0070C0"/>
                </a:solidFill>
              </a:rPr>
              <a:t>Esta pregunta la resolveremos mas adelante.</a:t>
            </a:r>
          </a:p>
          <a:p>
            <a:pPr algn="just"/>
            <a:endParaRPr lang="es-CO" sz="2800" dirty="0"/>
          </a:p>
        </p:txBody>
      </p:sp>
    </p:spTree>
    <p:extLst>
      <p:ext uri="{BB962C8B-B14F-4D97-AF65-F5344CB8AC3E}">
        <p14:creationId xmlns:p14="http://schemas.microsoft.com/office/powerpoint/2010/main" val="1397690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3142446" y="222205"/>
            <a:ext cx="5306096" cy="646331"/>
          </a:xfrm>
          <a:prstGeom prst="rect">
            <a:avLst/>
          </a:prstGeom>
          <a:noFill/>
        </p:spPr>
        <p:txBody>
          <a:bodyPr wrap="square" rtlCol="0">
            <a:spAutoFit/>
          </a:bodyPr>
          <a:lstStyle/>
          <a:p>
            <a:pPr algn="ctr"/>
            <a:r>
              <a:rPr lang="es-CO" sz="3600" dirty="0"/>
              <a:t>Fragmentación interna</a:t>
            </a:r>
          </a:p>
        </p:txBody>
      </p:sp>
      <p:pic>
        <p:nvPicPr>
          <p:cNvPr id="2" name="Imagen 1"/>
          <p:cNvPicPr>
            <a:picLocks noChangeAspect="1"/>
          </p:cNvPicPr>
          <p:nvPr/>
        </p:nvPicPr>
        <p:blipFill>
          <a:blip r:embed="rId5"/>
          <a:stretch>
            <a:fillRect/>
          </a:stretch>
        </p:blipFill>
        <p:spPr>
          <a:xfrm>
            <a:off x="2700706" y="1741177"/>
            <a:ext cx="5841843" cy="4640825"/>
          </a:xfrm>
          <a:prstGeom prst="rect">
            <a:avLst/>
          </a:prstGeom>
        </p:spPr>
      </p:pic>
      <p:sp>
        <p:nvSpPr>
          <p:cNvPr id="4" name="CuadroTexto 3"/>
          <p:cNvSpPr txBox="1"/>
          <p:nvPr/>
        </p:nvSpPr>
        <p:spPr>
          <a:xfrm>
            <a:off x="1269862" y="835551"/>
            <a:ext cx="9806177" cy="830997"/>
          </a:xfrm>
          <a:prstGeom prst="rect">
            <a:avLst/>
          </a:prstGeom>
          <a:noFill/>
        </p:spPr>
        <p:txBody>
          <a:bodyPr wrap="square" rtlCol="0">
            <a:spAutoFit/>
          </a:bodyPr>
          <a:lstStyle/>
          <a:p>
            <a:r>
              <a:rPr lang="es-CO" sz="2400" dirty="0"/>
              <a:t>Es la diferencia entre el tamaño del Job y el tamaño de la partición de menoría.</a:t>
            </a:r>
          </a:p>
        </p:txBody>
      </p:sp>
    </p:spTree>
    <p:extLst>
      <p:ext uri="{BB962C8B-B14F-4D97-AF65-F5344CB8AC3E}">
        <p14:creationId xmlns:p14="http://schemas.microsoft.com/office/powerpoint/2010/main" val="3696608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3142446" y="222205"/>
            <a:ext cx="5306096" cy="646331"/>
          </a:xfrm>
          <a:prstGeom prst="rect">
            <a:avLst/>
          </a:prstGeom>
          <a:noFill/>
        </p:spPr>
        <p:txBody>
          <a:bodyPr wrap="square" rtlCol="0">
            <a:spAutoFit/>
          </a:bodyPr>
          <a:lstStyle/>
          <a:p>
            <a:pPr algn="ctr"/>
            <a:r>
              <a:rPr lang="es-CO" sz="3600" dirty="0"/>
              <a:t>Fragmentación externa</a:t>
            </a:r>
          </a:p>
        </p:txBody>
      </p:sp>
      <p:sp>
        <p:nvSpPr>
          <p:cNvPr id="2" name="CuadroTexto 1"/>
          <p:cNvSpPr txBox="1"/>
          <p:nvPr/>
        </p:nvSpPr>
        <p:spPr>
          <a:xfrm>
            <a:off x="914401" y="1146220"/>
            <a:ext cx="9646276" cy="3785652"/>
          </a:xfrm>
          <a:prstGeom prst="rect">
            <a:avLst/>
          </a:prstGeom>
          <a:noFill/>
        </p:spPr>
        <p:txBody>
          <a:bodyPr wrap="square" rtlCol="0">
            <a:spAutoFit/>
          </a:bodyPr>
          <a:lstStyle/>
          <a:p>
            <a:pPr algn="just"/>
            <a:r>
              <a:rPr lang="es-CO" sz="2000" dirty="0"/>
              <a:t>Cuando un proceso no puede entrar a memoria por que no cabe en ninguna partición, entonces se están desperdiciando todas las particiones completas.</a:t>
            </a:r>
          </a:p>
          <a:p>
            <a:pPr algn="just"/>
            <a:endParaRPr lang="es-CO" sz="2000" dirty="0"/>
          </a:p>
          <a:p>
            <a:pPr algn="just"/>
            <a:r>
              <a:rPr lang="es-CO" sz="2000" dirty="0"/>
              <a:t>Recordemos el caso en el que tenemos una sola cola de procesos que alimenta a todas las particiones, puede darse el caso que el proceso que se quiere ejecutar no quepa en ninguna de las particiones disponibles o de las que están libres, y por lo tanto no puede entrar a memoria. En ese caso se están desperdiciando particiones completas que aunque no se estén usando, no se pueden utilizar para mover allí el proceso que se quiere ejecutar.</a:t>
            </a:r>
          </a:p>
          <a:p>
            <a:pPr algn="just"/>
            <a:endParaRPr lang="es-CO" sz="2000" dirty="0"/>
          </a:p>
          <a:p>
            <a:pPr algn="just"/>
            <a:r>
              <a:rPr lang="es-CO" sz="2000" dirty="0"/>
              <a:t>En este caso hay desperdicio de particiones completas y es lo que se conoce como </a:t>
            </a:r>
            <a:r>
              <a:rPr lang="es-CO" sz="2000" dirty="0">
                <a:solidFill>
                  <a:srgbClr val="0070C0"/>
                </a:solidFill>
              </a:rPr>
              <a:t>fragmentación externa</a:t>
            </a:r>
            <a:r>
              <a:rPr lang="es-CO" sz="2000" dirty="0"/>
              <a:t>.</a:t>
            </a:r>
          </a:p>
        </p:txBody>
      </p:sp>
      <p:sp>
        <p:nvSpPr>
          <p:cNvPr id="8" name="CuadroTexto 7"/>
          <p:cNvSpPr txBox="1"/>
          <p:nvPr/>
        </p:nvSpPr>
        <p:spPr>
          <a:xfrm>
            <a:off x="2923506" y="4992222"/>
            <a:ext cx="5306096" cy="646331"/>
          </a:xfrm>
          <a:prstGeom prst="rect">
            <a:avLst/>
          </a:prstGeom>
          <a:noFill/>
        </p:spPr>
        <p:txBody>
          <a:bodyPr wrap="square" rtlCol="0">
            <a:spAutoFit/>
          </a:bodyPr>
          <a:lstStyle/>
          <a:p>
            <a:pPr algn="ctr"/>
            <a:r>
              <a:rPr lang="es-CO" sz="3600" dirty="0"/>
              <a:t>Fragmentación total</a:t>
            </a:r>
          </a:p>
        </p:txBody>
      </p:sp>
      <p:sp>
        <p:nvSpPr>
          <p:cNvPr id="9" name="CuadroTexto 8"/>
          <p:cNvSpPr txBox="1"/>
          <p:nvPr/>
        </p:nvSpPr>
        <p:spPr>
          <a:xfrm>
            <a:off x="914401" y="5698903"/>
            <a:ext cx="9736428" cy="1200329"/>
          </a:xfrm>
          <a:prstGeom prst="rect">
            <a:avLst/>
          </a:prstGeom>
          <a:noFill/>
        </p:spPr>
        <p:txBody>
          <a:bodyPr wrap="square" rtlCol="0">
            <a:spAutoFit/>
          </a:bodyPr>
          <a:lstStyle/>
          <a:p>
            <a:r>
              <a:rPr lang="es-CO" sz="2400" dirty="0"/>
              <a:t>Es la suma de la fragmentación interna mas la fragmentación externa.</a:t>
            </a:r>
          </a:p>
          <a:p>
            <a:endParaRPr lang="es-CO" sz="2400" dirty="0"/>
          </a:p>
        </p:txBody>
      </p:sp>
    </p:spTree>
    <p:extLst>
      <p:ext uri="{BB962C8B-B14F-4D97-AF65-F5344CB8AC3E}">
        <p14:creationId xmlns:p14="http://schemas.microsoft.com/office/powerpoint/2010/main" val="2512334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8" name="CuadroTexto 7"/>
          <p:cNvSpPr txBox="1"/>
          <p:nvPr/>
        </p:nvSpPr>
        <p:spPr>
          <a:xfrm>
            <a:off x="1493949" y="222205"/>
            <a:ext cx="9234151" cy="1200329"/>
          </a:xfrm>
          <a:prstGeom prst="rect">
            <a:avLst/>
          </a:prstGeom>
          <a:noFill/>
        </p:spPr>
        <p:txBody>
          <a:bodyPr wrap="square" rtlCol="0">
            <a:spAutoFit/>
          </a:bodyPr>
          <a:lstStyle/>
          <a:p>
            <a:pPr algn="ctr"/>
            <a:r>
              <a:rPr lang="es-CO" sz="3600" dirty="0"/>
              <a:t>Esquema de alojamiento contiguo – particiones variables</a:t>
            </a:r>
          </a:p>
        </p:txBody>
      </p:sp>
      <p:pic>
        <p:nvPicPr>
          <p:cNvPr id="9" name="Imagen 8"/>
          <p:cNvPicPr>
            <a:picLocks noChangeAspect="1"/>
          </p:cNvPicPr>
          <p:nvPr/>
        </p:nvPicPr>
        <p:blipFill>
          <a:blip r:embed="rId5"/>
          <a:stretch>
            <a:fillRect/>
          </a:stretch>
        </p:blipFill>
        <p:spPr>
          <a:xfrm>
            <a:off x="1095835" y="1422534"/>
            <a:ext cx="6770732" cy="5251930"/>
          </a:xfrm>
          <a:prstGeom prst="rect">
            <a:avLst/>
          </a:prstGeom>
        </p:spPr>
      </p:pic>
      <p:sp>
        <p:nvSpPr>
          <p:cNvPr id="10" name="CuadroTexto 9"/>
          <p:cNvSpPr txBox="1"/>
          <p:nvPr/>
        </p:nvSpPr>
        <p:spPr>
          <a:xfrm>
            <a:off x="7985110" y="3399477"/>
            <a:ext cx="3090929" cy="1015663"/>
          </a:xfrm>
          <a:prstGeom prst="rect">
            <a:avLst/>
          </a:prstGeom>
          <a:noFill/>
        </p:spPr>
        <p:txBody>
          <a:bodyPr wrap="square" rtlCol="0">
            <a:spAutoFit/>
          </a:bodyPr>
          <a:lstStyle/>
          <a:p>
            <a:r>
              <a:rPr lang="es-CO" sz="2000" dirty="0"/>
              <a:t>A cada proceso se le va asignando justamente la memoria que necesita</a:t>
            </a:r>
          </a:p>
        </p:txBody>
      </p:sp>
      <p:sp>
        <p:nvSpPr>
          <p:cNvPr id="11" name="Flecha doblada 10"/>
          <p:cNvSpPr/>
          <p:nvPr/>
        </p:nvSpPr>
        <p:spPr>
          <a:xfrm rot="5400000">
            <a:off x="8129813" y="1902284"/>
            <a:ext cx="891089" cy="169606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Tree>
    <p:extLst>
      <p:ext uri="{BB962C8B-B14F-4D97-AF65-F5344CB8AC3E}">
        <p14:creationId xmlns:p14="http://schemas.microsoft.com/office/powerpoint/2010/main" val="1411939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493949" y="222205"/>
            <a:ext cx="9234151" cy="1200329"/>
          </a:xfrm>
          <a:prstGeom prst="rect">
            <a:avLst/>
          </a:prstGeom>
          <a:noFill/>
        </p:spPr>
        <p:txBody>
          <a:bodyPr wrap="square" rtlCol="0">
            <a:spAutoFit/>
          </a:bodyPr>
          <a:lstStyle/>
          <a:p>
            <a:pPr algn="ctr"/>
            <a:r>
              <a:rPr lang="es-CO" sz="3600" dirty="0"/>
              <a:t>Esquema de alojamiento contiguo – particiones variables</a:t>
            </a:r>
          </a:p>
        </p:txBody>
      </p:sp>
      <p:pic>
        <p:nvPicPr>
          <p:cNvPr id="2" name="Imagen 1"/>
          <p:cNvPicPr>
            <a:picLocks noChangeAspect="1"/>
          </p:cNvPicPr>
          <p:nvPr/>
        </p:nvPicPr>
        <p:blipFill>
          <a:blip r:embed="rId5"/>
          <a:stretch>
            <a:fillRect/>
          </a:stretch>
        </p:blipFill>
        <p:spPr>
          <a:xfrm>
            <a:off x="1287887" y="1620658"/>
            <a:ext cx="9092483" cy="4818778"/>
          </a:xfrm>
          <a:prstGeom prst="rect">
            <a:avLst/>
          </a:prstGeom>
        </p:spPr>
      </p:pic>
      <p:sp>
        <p:nvSpPr>
          <p:cNvPr id="4" name="CuadroTexto 3"/>
          <p:cNvSpPr txBox="1"/>
          <p:nvPr/>
        </p:nvSpPr>
        <p:spPr>
          <a:xfrm>
            <a:off x="10141439" y="3309870"/>
            <a:ext cx="2050561" cy="307777"/>
          </a:xfrm>
          <a:prstGeom prst="rect">
            <a:avLst/>
          </a:prstGeom>
          <a:noFill/>
        </p:spPr>
        <p:txBody>
          <a:bodyPr wrap="none" rtlCol="0">
            <a:spAutoFit/>
          </a:bodyPr>
          <a:lstStyle/>
          <a:p>
            <a:r>
              <a:rPr lang="es-CO" sz="1400" dirty="0">
                <a:solidFill>
                  <a:srgbClr val="0070C0"/>
                </a:solidFill>
              </a:rPr>
              <a:t>Fragmentación externa</a:t>
            </a:r>
          </a:p>
        </p:txBody>
      </p:sp>
      <p:sp>
        <p:nvSpPr>
          <p:cNvPr id="8" name="Flecha derecha 7"/>
          <p:cNvSpPr/>
          <p:nvPr/>
        </p:nvSpPr>
        <p:spPr>
          <a:xfrm>
            <a:off x="9375820" y="3400023"/>
            <a:ext cx="765619" cy="15388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937547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493949" y="222205"/>
            <a:ext cx="9234151" cy="1200329"/>
          </a:xfrm>
          <a:prstGeom prst="rect">
            <a:avLst/>
          </a:prstGeom>
          <a:noFill/>
        </p:spPr>
        <p:txBody>
          <a:bodyPr wrap="square" rtlCol="0">
            <a:spAutoFit/>
          </a:bodyPr>
          <a:lstStyle/>
          <a:p>
            <a:pPr algn="ctr"/>
            <a:r>
              <a:rPr lang="es-CO" sz="3600" dirty="0"/>
              <a:t>Esquema de alojamiento contiguo – particiones variables</a:t>
            </a:r>
          </a:p>
        </p:txBody>
      </p:sp>
      <p:sp>
        <p:nvSpPr>
          <p:cNvPr id="2" name="CuadroTexto 1"/>
          <p:cNvSpPr txBox="1"/>
          <p:nvPr/>
        </p:nvSpPr>
        <p:spPr>
          <a:xfrm>
            <a:off x="1390918" y="1818997"/>
            <a:ext cx="8435662" cy="3785652"/>
          </a:xfrm>
          <a:prstGeom prst="rect">
            <a:avLst/>
          </a:prstGeom>
          <a:noFill/>
        </p:spPr>
        <p:txBody>
          <a:bodyPr wrap="square" rtlCol="0">
            <a:spAutoFit/>
          </a:bodyPr>
          <a:lstStyle/>
          <a:p>
            <a:pPr algn="just"/>
            <a:r>
              <a:rPr lang="es-CO" sz="2000" dirty="0"/>
              <a:t>En el esquema anterior, las particiones se van generando dinámicamente de acuerdo a los procesos que van llegando por tamaño.</a:t>
            </a:r>
          </a:p>
          <a:p>
            <a:pPr algn="just"/>
            <a:endParaRPr lang="es-CO" sz="2000" dirty="0"/>
          </a:p>
          <a:p>
            <a:pPr algn="just"/>
            <a:r>
              <a:rPr lang="es-CO" sz="2000" dirty="0"/>
              <a:t>Al final podremos tener fragmentación interna y externa en esta dinámica.</a:t>
            </a:r>
          </a:p>
          <a:p>
            <a:pPr algn="just"/>
            <a:endParaRPr lang="es-CO" sz="2000" dirty="0"/>
          </a:p>
          <a:p>
            <a:pPr algn="just"/>
            <a:r>
              <a:rPr lang="es-CO" sz="2000" dirty="0"/>
              <a:t>El S.O. debe llevar un registro de todos esos huecos en memoria para diferentes objetivos, entre ellos para decidir en que hueco de memoria se debe mover un proceso que se quiere ejecutar.</a:t>
            </a:r>
          </a:p>
          <a:p>
            <a:pPr algn="just"/>
            <a:endParaRPr lang="es-CO" sz="2000" dirty="0"/>
          </a:p>
          <a:p>
            <a:pPr algn="just"/>
            <a:r>
              <a:rPr lang="es-CO" sz="2000" dirty="0"/>
              <a:t>Para ello veremos las estrategias de colocación que funcionan tanto en particiones fijas como en particiones variables.</a:t>
            </a:r>
          </a:p>
        </p:txBody>
      </p:sp>
    </p:spTree>
    <p:extLst>
      <p:ext uri="{BB962C8B-B14F-4D97-AF65-F5344CB8AC3E}">
        <p14:creationId xmlns:p14="http://schemas.microsoft.com/office/powerpoint/2010/main" val="1336394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1275574" y="798212"/>
            <a:ext cx="9620726" cy="5280616"/>
          </a:xfrm>
          <a:prstGeom prst="rect">
            <a:avLst/>
          </a:prstGeom>
        </p:spPr>
      </p:pic>
      <p:sp>
        <p:nvSpPr>
          <p:cNvPr id="4" name="CuadroTexto 3"/>
          <p:cNvSpPr txBox="1"/>
          <p:nvPr/>
        </p:nvSpPr>
        <p:spPr>
          <a:xfrm>
            <a:off x="1880315" y="1609859"/>
            <a:ext cx="8487178" cy="707886"/>
          </a:xfrm>
          <a:prstGeom prst="rect">
            <a:avLst/>
          </a:prstGeom>
          <a:noFill/>
        </p:spPr>
        <p:txBody>
          <a:bodyPr wrap="square" rtlCol="0">
            <a:spAutoFit/>
          </a:bodyPr>
          <a:lstStyle/>
          <a:p>
            <a:r>
              <a:rPr lang="es-CO" sz="2000" dirty="0">
                <a:solidFill>
                  <a:schemeClr val="bg1"/>
                </a:solidFill>
              </a:rPr>
              <a:t>Se trata de decidir en que lugar debo mover un proceso que quiere entrar a memoria</a:t>
            </a:r>
          </a:p>
        </p:txBody>
      </p:sp>
      <p:sp>
        <p:nvSpPr>
          <p:cNvPr id="7" name="CuadroTexto 6"/>
          <p:cNvSpPr txBox="1"/>
          <p:nvPr/>
        </p:nvSpPr>
        <p:spPr>
          <a:xfrm>
            <a:off x="5769556" y="3820664"/>
            <a:ext cx="3515933" cy="369332"/>
          </a:xfrm>
          <a:prstGeom prst="rect">
            <a:avLst/>
          </a:prstGeom>
          <a:noFill/>
        </p:spPr>
        <p:txBody>
          <a:bodyPr wrap="square" rtlCol="0">
            <a:spAutoFit/>
          </a:bodyPr>
          <a:lstStyle/>
          <a:p>
            <a:r>
              <a:rPr lang="es-CO" dirty="0">
                <a:solidFill>
                  <a:schemeClr val="bg1"/>
                </a:solidFill>
              </a:rPr>
              <a:t>Ajuste en el hueco disponible</a:t>
            </a:r>
          </a:p>
        </p:txBody>
      </p:sp>
      <p:sp>
        <p:nvSpPr>
          <p:cNvPr id="8" name="Cerrar llave 7"/>
          <p:cNvSpPr/>
          <p:nvPr/>
        </p:nvSpPr>
        <p:spPr>
          <a:xfrm>
            <a:off x="4546242" y="2485623"/>
            <a:ext cx="1030310" cy="303941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Tree>
    <p:extLst>
      <p:ext uri="{BB962C8B-B14F-4D97-AF65-F5344CB8AC3E}">
        <p14:creationId xmlns:p14="http://schemas.microsoft.com/office/powerpoint/2010/main" val="219312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2975019" y="386965"/>
            <a:ext cx="5666703" cy="646331"/>
          </a:xfrm>
          <a:prstGeom prst="rect">
            <a:avLst/>
          </a:prstGeom>
          <a:noFill/>
        </p:spPr>
        <p:txBody>
          <a:bodyPr wrap="square" rtlCol="0">
            <a:spAutoFit/>
          </a:bodyPr>
          <a:lstStyle/>
          <a:p>
            <a:pPr algn="ctr"/>
            <a:r>
              <a:rPr lang="es-CO" sz="3600" dirty="0"/>
              <a:t>Estrategias de colocación</a:t>
            </a:r>
          </a:p>
        </p:txBody>
      </p:sp>
      <p:sp>
        <p:nvSpPr>
          <p:cNvPr id="4" name="CuadroTexto 3"/>
          <p:cNvSpPr txBox="1"/>
          <p:nvPr/>
        </p:nvSpPr>
        <p:spPr>
          <a:xfrm>
            <a:off x="734096" y="1519707"/>
            <a:ext cx="10200067" cy="4247317"/>
          </a:xfrm>
          <a:prstGeom prst="rect">
            <a:avLst/>
          </a:prstGeom>
          <a:noFill/>
        </p:spPr>
        <p:txBody>
          <a:bodyPr wrap="square" rtlCol="0">
            <a:spAutoFit/>
          </a:bodyPr>
          <a:lstStyle/>
          <a:p>
            <a:pPr algn="just"/>
            <a:r>
              <a:rPr lang="es-CO" dirty="0"/>
              <a:t>Estas estrategias funcionan de la siguiente forma:</a:t>
            </a:r>
          </a:p>
          <a:p>
            <a:pPr algn="just"/>
            <a:endParaRPr lang="es-CO" dirty="0"/>
          </a:p>
          <a:p>
            <a:pPr algn="just"/>
            <a:r>
              <a:rPr lang="es-CO" dirty="0">
                <a:solidFill>
                  <a:srgbClr val="0070C0"/>
                </a:solidFill>
              </a:rPr>
              <a:t>Primer ajuste:</a:t>
            </a:r>
          </a:p>
          <a:p>
            <a:pPr algn="just"/>
            <a:r>
              <a:rPr lang="es-CO" dirty="0"/>
              <a:t>Ubicar al proceso en el primer hueco que quepa. Esta estrategia optimiza el uso de la CPU porque dura menor tiempo desocupada.</a:t>
            </a:r>
          </a:p>
          <a:p>
            <a:pPr algn="just"/>
            <a:endParaRPr lang="es-CO" dirty="0"/>
          </a:p>
          <a:p>
            <a:pPr algn="just"/>
            <a:r>
              <a:rPr lang="es-CO" dirty="0">
                <a:solidFill>
                  <a:srgbClr val="0070C0"/>
                </a:solidFill>
              </a:rPr>
              <a:t>Mejor Ajuste:</a:t>
            </a:r>
          </a:p>
          <a:p>
            <a:pPr algn="just"/>
            <a:r>
              <a:rPr lang="es-CO" dirty="0"/>
              <a:t>Verifica la lista de los huecos y coloca el proceso en donde el </a:t>
            </a:r>
            <a:r>
              <a:rPr lang="es-CO"/>
              <a:t>desperdicio de </a:t>
            </a:r>
            <a:r>
              <a:rPr lang="es-CO" dirty="0"/>
              <a:t>memoria sea menor. Optimiza el uso de la memoria.</a:t>
            </a:r>
          </a:p>
          <a:p>
            <a:pPr algn="just"/>
            <a:endParaRPr lang="es-CO" dirty="0"/>
          </a:p>
          <a:p>
            <a:pPr algn="just"/>
            <a:r>
              <a:rPr lang="es-CO" dirty="0">
                <a:solidFill>
                  <a:srgbClr val="0070C0"/>
                </a:solidFill>
              </a:rPr>
              <a:t>Peor ajuste:</a:t>
            </a:r>
          </a:p>
          <a:p>
            <a:pPr algn="just"/>
            <a:r>
              <a:rPr lang="es-CO" dirty="0"/>
              <a:t> Asigna el proceso en el hueco mas grande posible, para que la fragmentación interna sea mayor, pero que permita hacer asignaciones futuras. Lo bueno es que si un proceso no cabe en el primer hueco que encuentra ya no busca mas, puesto que los huecos están organizados de mayor a menor.</a:t>
            </a:r>
          </a:p>
        </p:txBody>
      </p:sp>
    </p:spTree>
    <p:extLst>
      <p:ext uri="{BB962C8B-B14F-4D97-AF65-F5344CB8AC3E}">
        <p14:creationId xmlns:p14="http://schemas.microsoft.com/office/powerpoint/2010/main" val="4294751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1095835" y="1333222"/>
            <a:ext cx="9503477" cy="4750039"/>
          </a:xfrm>
          <a:prstGeom prst="rect">
            <a:avLst/>
          </a:prstGeom>
        </p:spPr>
      </p:pic>
      <p:sp>
        <p:nvSpPr>
          <p:cNvPr id="7" name="CuadroTexto 6"/>
          <p:cNvSpPr txBox="1"/>
          <p:nvPr/>
        </p:nvSpPr>
        <p:spPr>
          <a:xfrm>
            <a:off x="2975019" y="386965"/>
            <a:ext cx="5666703" cy="646331"/>
          </a:xfrm>
          <a:prstGeom prst="rect">
            <a:avLst/>
          </a:prstGeom>
          <a:noFill/>
        </p:spPr>
        <p:txBody>
          <a:bodyPr wrap="square" rtlCol="0">
            <a:spAutoFit/>
          </a:bodyPr>
          <a:lstStyle/>
          <a:p>
            <a:pPr algn="ctr"/>
            <a:r>
              <a:rPr lang="es-CO" sz="3600" dirty="0"/>
              <a:t>Estrategias de colocación</a:t>
            </a:r>
          </a:p>
        </p:txBody>
      </p:sp>
    </p:spTree>
    <p:extLst>
      <p:ext uri="{BB962C8B-B14F-4D97-AF65-F5344CB8AC3E}">
        <p14:creationId xmlns:p14="http://schemas.microsoft.com/office/powerpoint/2010/main" val="3667226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2975019" y="386965"/>
            <a:ext cx="5666703" cy="646331"/>
          </a:xfrm>
          <a:prstGeom prst="rect">
            <a:avLst/>
          </a:prstGeom>
          <a:noFill/>
        </p:spPr>
        <p:txBody>
          <a:bodyPr wrap="square" rtlCol="0">
            <a:spAutoFit/>
          </a:bodyPr>
          <a:lstStyle/>
          <a:p>
            <a:pPr algn="ctr"/>
            <a:r>
              <a:rPr lang="es-CO" sz="3600" dirty="0"/>
              <a:t>Técnica de compactación</a:t>
            </a:r>
          </a:p>
        </p:txBody>
      </p:sp>
      <p:sp>
        <p:nvSpPr>
          <p:cNvPr id="4" name="CuadroTexto 3"/>
          <p:cNvSpPr txBox="1"/>
          <p:nvPr/>
        </p:nvSpPr>
        <p:spPr>
          <a:xfrm>
            <a:off x="1469322" y="1005795"/>
            <a:ext cx="8898171" cy="923330"/>
          </a:xfrm>
          <a:prstGeom prst="rect">
            <a:avLst/>
          </a:prstGeom>
          <a:noFill/>
        </p:spPr>
        <p:txBody>
          <a:bodyPr wrap="square" rtlCol="0">
            <a:spAutoFit/>
          </a:bodyPr>
          <a:lstStyle/>
          <a:p>
            <a:pPr algn="just"/>
            <a:r>
              <a:rPr lang="es-CO" dirty="0"/>
              <a:t>Se usa cuando a través de la ejecución de los procesos  la memoria se llena de huecos durante el procesamiento de la información y los procesos pendientes por entrar a memoria no cabe en ninguno de esos huecos. </a:t>
            </a:r>
          </a:p>
        </p:txBody>
      </p:sp>
      <p:pic>
        <p:nvPicPr>
          <p:cNvPr id="8" name="Imagen 7"/>
          <p:cNvPicPr>
            <a:picLocks noChangeAspect="1"/>
          </p:cNvPicPr>
          <p:nvPr/>
        </p:nvPicPr>
        <p:blipFill>
          <a:blip r:embed="rId5"/>
          <a:stretch>
            <a:fillRect/>
          </a:stretch>
        </p:blipFill>
        <p:spPr>
          <a:xfrm>
            <a:off x="1469322" y="2171336"/>
            <a:ext cx="4648200" cy="4231207"/>
          </a:xfrm>
          <a:prstGeom prst="rect">
            <a:avLst/>
          </a:prstGeom>
        </p:spPr>
      </p:pic>
      <p:sp>
        <p:nvSpPr>
          <p:cNvPr id="9" name="CuadroTexto 8"/>
          <p:cNvSpPr txBox="1"/>
          <p:nvPr/>
        </p:nvSpPr>
        <p:spPr>
          <a:xfrm>
            <a:off x="6387921" y="2304772"/>
            <a:ext cx="4095482" cy="2862322"/>
          </a:xfrm>
          <a:prstGeom prst="rect">
            <a:avLst/>
          </a:prstGeom>
          <a:noFill/>
        </p:spPr>
        <p:txBody>
          <a:bodyPr wrap="square" rtlCol="0">
            <a:spAutoFit/>
          </a:bodyPr>
          <a:lstStyle/>
          <a:p>
            <a:pPr algn="just"/>
            <a:r>
              <a:rPr lang="es-CO" dirty="0"/>
              <a:t>Es importante aclarar que mientras se da el proceso de compactación, el S.O. no puede hacer ninguna otra cosa puesto que es un proceso delicado al tener que mover todas las direcciones de un programa, reorganizarlas y al tiempo mover todos los espacios libres y compactarlos en uno solo.</a:t>
            </a:r>
          </a:p>
          <a:p>
            <a:pPr algn="just"/>
            <a:r>
              <a:rPr lang="es-CO" dirty="0"/>
              <a:t>Ejemplo: transbordador espacial. </a:t>
            </a:r>
          </a:p>
        </p:txBody>
      </p:sp>
    </p:spTree>
    <p:extLst>
      <p:ext uri="{BB962C8B-B14F-4D97-AF65-F5344CB8AC3E}">
        <p14:creationId xmlns:p14="http://schemas.microsoft.com/office/powerpoint/2010/main" val="3187879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8" name="CuadroTexto 7"/>
          <p:cNvSpPr txBox="1"/>
          <p:nvPr/>
        </p:nvSpPr>
        <p:spPr>
          <a:xfrm>
            <a:off x="3114540" y="185113"/>
            <a:ext cx="5666703" cy="646331"/>
          </a:xfrm>
          <a:prstGeom prst="rect">
            <a:avLst/>
          </a:prstGeom>
          <a:noFill/>
        </p:spPr>
        <p:txBody>
          <a:bodyPr wrap="square" rtlCol="0">
            <a:spAutoFit/>
          </a:bodyPr>
          <a:lstStyle/>
          <a:p>
            <a:pPr algn="ctr"/>
            <a:r>
              <a:rPr lang="es-CO" sz="3600" dirty="0"/>
              <a:t>Técnica de compactación</a:t>
            </a:r>
          </a:p>
        </p:txBody>
      </p:sp>
      <p:pic>
        <p:nvPicPr>
          <p:cNvPr id="2" name="Imagen 1"/>
          <p:cNvPicPr>
            <a:picLocks noChangeAspect="1"/>
          </p:cNvPicPr>
          <p:nvPr/>
        </p:nvPicPr>
        <p:blipFill>
          <a:blip r:embed="rId5"/>
          <a:stretch>
            <a:fillRect/>
          </a:stretch>
        </p:blipFill>
        <p:spPr>
          <a:xfrm>
            <a:off x="1944710" y="1818997"/>
            <a:ext cx="7456868" cy="4230777"/>
          </a:xfrm>
          <a:prstGeom prst="rect">
            <a:avLst/>
          </a:prstGeom>
        </p:spPr>
      </p:pic>
      <p:sp>
        <p:nvSpPr>
          <p:cNvPr id="4" name="CuadroTexto 3"/>
          <p:cNvSpPr txBox="1"/>
          <p:nvPr/>
        </p:nvSpPr>
        <p:spPr>
          <a:xfrm>
            <a:off x="1468192" y="831444"/>
            <a:ext cx="9388698" cy="707886"/>
          </a:xfrm>
          <a:prstGeom prst="rect">
            <a:avLst/>
          </a:prstGeom>
          <a:noFill/>
        </p:spPr>
        <p:txBody>
          <a:bodyPr wrap="square" rtlCol="0">
            <a:spAutoFit/>
          </a:bodyPr>
          <a:lstStyle/>
          <a:p>
            <a:r>
              <a:rPr lang="es-CO" sz="2000" dirty="0"/>
              <a:t>En este ejemplo vemos otra forma en que se pueden mover los procesos para hacer espacio en memoria</a:t>
            </a:r>
          </a:p>
        </p:txBody>
      </p:sp>
      <p:sp>
        <p:nvSpPr>
          <p:cNvPr id="9" name="CuadroTexto 8"/>
          <p:cNvSpPr txBox="1"/>
          <p:nvPr/>
        </p:nvSpPr>
        <p:spPr>
          <a:xfrm>
            <a:off x="9401578" y="2607962"/>
            <a:ext cx="2661634" cy="1477328"/>
          </a:xfrm>
          <a:prstGeom prst="rect">
            <a:avLst/>
          </a:prstGeom>
          <a:noFill/>
        </p:spPr>
        <p:txBody>
          <a:bodyPr wrap="square" rtlCol="0">
            <a:spAutoFit/>
          </a:bodyPr>
          <a:lstStyle/>
          <a:p>
            <a:pPr algn="just"/>
            <a:r>
              <a:rPr lang="es-CO" dirty="0"/>
              <a:t>El S.O. debe estar diseñado para analizar cual movimiento es el mas adecuado para la compactación</a:t>
            </a:r>
          </a:p>
        </p:txBody>
      </p:sp>
    </p:spTree>
    <p:extLst>
      <p:ext uri="{BB962C8B-B14F-4D97-AF65-F5344CB8AC3E}">
        <p14:creationId xmlns:p14="http://schemas.microsoft.com/office/powerpoint/2010/main" val="3905462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2575774" y="222205"/>
            <a:ext cx="5666703" cy="646331"/>
          </a:xfrm>
          <a:prstGeom prst="rect">
            <a:avLst/>
          </a:prstGeom>
          <a:noFill/>
        </p:spPr>
        <p:txBody>
          <a:bodyPr wrap="square" rtlCol="0">
            <a:spAutoFit/>
          </a:bodyPr>
          <a:lstStyle/>
          <a:p>
            <a:pPr algn="ctr"/>
            <a:r>
              <a:rPr lang="es-CO" sz="3600" dirty="0"/>
              <a:t>Técnica de aglutinamiento</a:t>
            </a:r>
          </a:p>
        </p:txBody>
      </p:sp>
      <p:sp>
        <p:nvSpPr>
          <p:cNvPr id="2" name="CuadroTexto 1"/>
          <p:cNvSpPr txBox="1"/>
          <p:nvPr/>
        </p:nvSpPr>
        <p:spPr>
          <a:xfrm>
            <a:off x="838258" y="1333222"/>
            <a:ext cx="9955369" cy="4154984"/>
          </a:xfrm>
          <a:prstGeom prst="rect">
            <a:avLst/>
          </a:prstGeom>
          <a:noFill/>
        </p:spPr>
        <p:txBody>
          <a:bodyPr wrap="square" rtlCol="0">
            <a:spAutoFit/>
          </a:bodyPr>
          <a:lstStyle/>
          <a:p>
            <a:pPr algn="just"/>
            <a:r>
              <a:rPr lang="es-CO" sz="2400" dirty="0"/>
              <a:t>Se usa cuando el S.O. es capaz de reconocer cuando quedan dos huecos seguidos producto de la terminación de un proceso y es  capaz de unirlo en uno solo. Se dice en entonces que el S.O. maneja la técnica de aglutinamiento.</a:t>
            </a:r>
          </a:p>
          <a:p>
            <a:pPr algn="just"/>
            <a:endParaRPr lang="es-CO" sz="2400" dirty="0"/>
          </a:p>
          <a:p>
            <a:pPr algn="just"/>
            <a:r>
              <a:rPr lang="es-CO" sz="2400" dirty="0"/>
              <a:t>Esta técnica puede ser complementaria a la de compactación o una técnica independiente o distinta, ambas técnicas son soportadas por los S.O. modernos.</a:t>
            </a:r>
          </a:p>
          <a:p>
            <a:pPr algn="just"/>
            <a:endParaRPr lang="es-CO" sz="2400" dirty="0"/>
          </a:p>
          <a:p>
            <a:pPr algn="just"/>
            <a:r>
              <a:rPr lang="es-CO" sz="2400" dirty="0"/>
              <a:t>Miremos en el siguiente esquema como se encuentra la memoria antes que termine el proceso J2.</a:t>
            </a:r>
          </a:p>
        </p:txBody>
      </p:sp>
    </p:spTree>
    <p:extLst>
      <p:ext uri="{BB962C8B-B14F-4D97-AF65-F5344CB8AC3E}">
        <p14:creationId xmlns:p14="http://schemas.microsoft.com/office/powerpoint/2010/main" val="955012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2975019" y="386965"/>
            <a:ext cx="5666703" cy="646331"/>
          </a:xfrm>
          <a:prstGeom prst="rect">
            <a:avLst/>
          </a:prstGeom>
          <a:noFill/>
        </p:spPr>
        <p:txBody>
          <a:bodyPr wrap="square" rtlCol="0">
            <a:spAutoFit/>
          </a:bodyPr>
          <a:lstStyle/>
          <a:p>
            <a:pPr algn="ctr"/>
            <a:r>
              <a:rPr lang="es-CO" sz="3600" dirty="0"/>
              <a:t>Estrategias de colocación</a:t>
            </a:r>
          </a:p>
        </p:txBody>
      </p:sp>
      <p:pic>
        <p:nvPicPr>
          <p:cNvPr id="2" name="Imagen 1"/>
          <p:cNvPicPr>
            <a:picLocks noChangeAspect="1"/>
          </p:cNvPicPr>
          <p:nvPr/>
        </p:nvPicPr>
        <p:blipFill>
          <a:blip r:embed="rId5"/>
          <a:stretch>
            <a:fillRect/>
          </a:stretch>
        </p:blipFill>
        <p:spPr>
          <a:xfrm>
            <a:off x="1635617" y="1333222"/>
            <a:ext cx="8731875" cy="4673421"/>
          </a:xfrm>
          <a:prstGeom prst="rect">
            <a:avLst/>
          </a:prstGeom>
        </p:spPr>
      </p:pic>
    </p:spTree>
    <p:extLst>
      <p:ext uri="{BB962C8B-B14F-4D97-AF65-F5344CB8AC3E}">
        <p14:creationId xmlns:p14="http://schemas.microsoft.com/office/powerpoint/2010/main" val="7475173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1224162" y="1005795"/>
            <a:ext cx="9723549" cy="461665"/>
          </a:xfrm>
          <a:prstGeom prst="rect">
            <a:avLst/>
          </a:prstGeom>
          <a:noFill/>
        </p:spPr>
        <p:txBody>
          <a:bodyPr wrap="square" rtlCol="0">
            <a:spAutoFit/>
          </a:bodyPr>
          <a:lstStyle/>
          <a:p>
            <a:r>
              <a:rPr lang="es-CO" sz="2400" dirty="0"/>
              <a:t>Ahora después de terminar el proceso J2. </a:t>
            </a:r>
          </a:p>
        </p:txBody>
      </p:sp>
      <p:pic>
        <p:nvPicPr>
          <p:cNvPr id="4" name="Imagen 3"/>
          <p:cNvPicPr>
            <a:picLocks noChangeAspect="1"/>
          </p:cNvPicPr>
          <p:nvPr/>
        </p:nvPicPr>
        <p:blipFill>
          <a:blip r:embed="rId5"/>
          <a:stretch>
            <a:fillRect/>
          </a:stretch>
        </p:blipFill>
        <p:spPr>
          <a:xfrm>
            <a:off x="2553369" y="1818997"/>
            <a:ext cx="6510002" cy="4453014"/>
          </a:xfrm>
          <a:prstGeom prst="rect">
            <a:avLst/>
          </a:prstGeom>
        </p:spPr>
      </p:pic>
      <p:sp>
        <p:nvSpPr>
          <p:cNvPr id="8" name="CuadroTexto 7"/>
          <p:cNvSpPr txBox="1"/>
          <p:nvPr/>
        </p:nvSpPr>
        <p:spPr>
          <a:xfrm>
            <a:off x="2575774" y="222205"/>
            <a:ext cx="5666703" cy="646331"/>
          </a:xfrm>
          <a:prstGeom prst="rect">
            <a:avLst/>
          </a:prstGeom>
          <a:noFill/>
        </p:spPr>
        <p:txBody>
          <a:bodyPr wrap="square" rtlCol="0">
            <a:spAutoFit/>
          </a:bodyPr>
          <a:lstStyle/>
          <a:p>
            <a:pPr algn="ctr"/>
            <a:r>
              <a:rPr lang="es-CO" sz="3600" dirty="0"/>
              <a:t>Técnica de aglutinamiento</a:t>
            </a:r>
          </a:p>
        </p:txBody>
      </p:sp>
      <p:sp>
        <p:nvSpPr>
          <p:cNvPr id="9" name="Abrir llave 8"/>
          <p:cNvSpPr/>
          <p:nvPr/>
        </p:nvSpPr>
        <p:spPr>
          <a:xfrm>
            <a:off x="2215166" y="3129566"/>
            <a:ext cx="167426" cy="914400"/>
          </a:xfrm>
          <a:prstGeom prst="lef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solidFill>
                <a:srgbClr val="FF0000"/>
              </a:solidFill>
            </a:endParaRPr>
          </a:p>
        </p:txBody>
      </p:sp>
      <p:sp>
        <p:nvSpPr>
          <p:cNvPr id="10" name="CuadroTexto 9"/>
          <p:cNvSpPr txBox="1"/>
          <p:nvPr/>
        </p:nvSpPr>
        <p:spPr>
          <a:xfrm>
            <a:off x="476518" y="2962141"/>
            <a:ext cx="1738648" cy="1200329"/>
          </a:xfrm>
          <a:prstGeom prst="rect">
            <a:avLst/>
          </a:prstGeom>
          <a:noFill/>
        </p:spPr>
        <p:txBody>
          <a:bodyPr wrap="square" rtlCol="0">
            <a:spAutoFit/>
          </a:bodyPr>
          <a:lstStyle/>
          <a:p>
            <a:r>
              <a:rPr lang="es-CO" dirty="0"/>
              <a:t>Aquí no ha manejo de la técnica de aglutinamiento</a:t>
            </a:r>
          </a:p>
        </p:txBody>
      </p:sp>
    </p:spTree>
    <p:extLst>
      <p:ext uri="{BB962C8B-B14F-4D97-AF65-F5344CB8AC3E}">
        <p14:creationId xmlns:p14="http://schemas.microsoft.com/office/powerpoint/2010/main" val="1847662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8" name="CuadroTexto 7"/>
          <p:cNvSpPr txBox="1"/>
          <p:nvPr/>
        </p:nvSpPr>
        <p:spPr>
          <a:xfrm>
            <a:off x="2575774" y="222205"/>
            <a:ext cx="5666703" cy="646331"/>
          </a:xfrm>
          <a:prstGeom prst="rect">
            <a:avLst/>
          </a:prstGeom>
          <a:noFill/>
        </p:spPr>
        <p:txBody>
          <a:bodyPr wrap="square" rtlCol="0">
            <a:spAutoFit/>
          </a:bodyPr>
          <a:lstStyle/>
          <a:p>
            <a:pPr algn="ctr"/>
            <a:r>
              <a:rPr lang="es-CO" sz="3600" dirty="0"/>
              <a:t>Técnica de aglutinamiento</a:t>
            </a:r>
          </a:p>
        </p:txBody>
      </p:sp>
      <p:sp>
        <p:nvSpPr>
          <p:cNvPr id="9" name="CuadroTexto 8"/>
          <p:cNvSpPr txBox="1"/>
          <p:nvPr/>
        </p:nvSpPr>
        <p:spPr>
          <a:xfrm>
            <a:off x="1224162" y="1005795"/>
            <a:ext cx="9723549" cy="461665"/>
          </a:xfrm>
          <a:prstGeom prst="rect">
            <a:avLst/>
          </a:prstGeom>
          <a:noFill/>
        </p:spPr>
        <p:txBody>
          <a:bodyPr wrap="square" rtlCol="0">
            <a:spAutoFit/>
          </a:bodyPr>
          <a:lstStyle/>
          <a:p>
            <a:r>
              <a:rPr lang="es-CO" sz="2400" dirty="0"/>
              <a:t>Ahora aplicando la técnica de aglutinamiento. </a:t>
            </a:r>
          </a:p>
        </p:txBody>
      </p:sp>
      <p:pic>
        <p:nvPicPr>
          <p:cNvPr id="2" name="Imagen 1"/>
          <p:cNvPicPr>
            <a:picLocks noChangeAspect="1"/>
          </p:cNvPicPr>
          <p:nvPr/>
        </p:nvPicPr>
        <p:blipFill>
          <a:blip r:embed="rId5"/>
          <a:stretch>
            <a:fillRect/>
          </a:stretch>
        </p:blipFill>
        <p:spPr>
          <a:xfrm>
            <a:off x="2355273" y="1724024"/>
            <a:ext cx="6941127" cy="4164157"/>
          </a:xfrm>
          <a:prstGeom prst="rect">
            <a:avLst/>
          </a:prstGeom>
        </p:spPr>
      </p:pic>
      <p:sp>
        <p:nvSpPr>
          <p:cNvPr id="10" name="Abrir llave 9"/>
          <p:cNvSpPr/>
          <p:nvPr/>
        </p:nvSpPr>
        <p:spPr>
          <a:xfrm>
            <a:off x="2131453" y="2971071"/>
            <a:ext cx="167426" cy="914400"/>
          </a:xfrm>
          <a:prstGeom prst="lef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solidFill>
                <a:srgbClr val="FF0000"/>
              </a:solidFill>
            </a:endParaRPr>
          </a:p>
        </p:txBody>
      </p:sp>
      <p:sp>
        <p:nvSpPr>
          <p:cNvPr id="11" name="CuadroTexto 10"/>
          <p:cNvSpPr txBox="1"/>
          <p:nvPr/>
        </p:nvSpPr>
        <p:spPr>
          <a:xfrm>
            <a:off x="476518" y="2962141"/>
            <a:ext cx="1738648" cy="923330"/>
          </a:xfrm>
          <a:prstGeom prst="rect">
            <a:avLst/>
          </a:prstGeom>
          <a:noFill/>
        </p:spPr>
        <p:txBody>
          <a:bodyPr wrap="square" rtlCol="0">
            <a:spAutoFit/>
          </a:bodyPr>
          <a:lstStyle/>
          <a:p>
            <a:r>
              <a:rPr lang="es-CO" dirty="0"/>
              <a:t>manejo de la técnica de aglutinamiento</a:t>
            </a:r>
          </a:p>
        </p:txBody>
      </p:sp>
    </p:spTree>
    <p:extLst>
      <p:ext uri="{BB962C8B-B14F-4D97-AF65-F5344CB8AC3E}">
        <p14:creationId xmlns:p14="http://schemas.microsoft.com/office/powerpoint/2010/main" val="1585295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8" name="CuadroTexto 7"/>
          <p:cNvSpPr txBox="1"/>
          <p:nvPr/>
        </p:nvSpPr>
        <p:spPr>
          <a:xfrm>
            <a:off x="2977556" y="222205"/>
            <a:ext cx="5666703" cy="646331"/>
          </a:xfrm>
          <a:prstGeom prst="rect">
            <a:avLst/>
          </a:prstGeom>
          <a:noFill/>
        </p:spPr>
        <p:txBody>
          <a:bodyPr wrap="square" rtlCol="0">
            <a:spAutoFit/>
          </a:bodyPr>
          <a:lstStyle/>
          <a:p>
            <a:pPr algn="ctr"/>
            <a:r>
              <a:rPr lang="es-CO" sz="3600" dirty="0"/>
              <a:t>Protección de memoria</a:t>
            </a:r>
          </a:p>
        </p:txBody>
      </p:sp>
      <p:pic>
        <p:nvPicPr>
          <p:cNvPr id="2" name="Imagen 1"/>
          <p:cNvPicPr>
            <a:picLocks noChangeAspect="1"/>
          </p:cNvPicPr>
          <p:nvPr/>
        </p:nvPicPr>
        <p:blipFill>
          <a:blip r:embed="rId5"/>
          <a:stretch>
            <a:fillRect/>
          </a:stretch>
        </p:blipFill>
        <p:spPr>
          <a:xfrm>
            <a:off x="1539586" y="1205345"/>
            <a:ext cx="3863686" cy="4682835"/>
          </a:xfrm>
          <a:prstGeom prst="rect">
            <a:avLst/>
          </a:prstGeom>
        </p:spPr>
      </p:pic>
      <p:sp>
        <p:nvSpPr>
          <p:cNvPr id="4" name="CuadroTexto 3"/>
          <p:cNvSpPr txBox="1"/>
          <p:nvPr/>
        </p:nvSpPr>
        <p:spPr>
          <a:xfrm>
            <a:off x="5810907" y="1219200"/>
            <a:ext cx="4289057" cy="3416320"/>
          </a:xfrm>
          <a:prstGeom prst="rect">
            <a:avLst/>
          </a:prstGeom>
          <a:noFill/>
        </p:spPr>
        <p:txBody>
          <a:bodyPr wrap="square" rtlCol="0">
            <a:spAutoFit/>
          </a:bodyPr>
          <a:lstStyle/>
          <a:p>
            <a:r>
              <a:rPr lang="es-CO" dirty="0"/>
              <a:t>El S.O. no debe permitir que un proceso invada porciones de memoria de otros procesos a menos que exista comunicación entre los procesos.</a:t>
            </a:r>
          </a:p>
          <a:p>
            <a:endParaRPr lang="es-CO" dirty="0"/>
          </a:p>
          <a:p>
            <a:r>
              <a:rPr lang="es-CO" dirty="0"/>
              <a:t>Para manejar esta protección, se maneja el concepto de registro base y registro límite.</a:t>
            </a:r>
          </a:p>
          <a:p>
            <a:endParaRPr lang="es-CO" dirty="0"/>
          </a:p>
          <a:p>
            <a:r>
              <a:rPr lang="es-CO" dirty="0"/>
              <a:t>Así las cosas un usuario no puede </a:t>
            </a:r>
            <a:r>
              <a:rPr lang="es-CO" dirty="0" err="1"/>
              <a:t>accesar</a:t>
            </a:r>
            <a:r>
              <a:rPr lang="es-CO" dirty="0"/>
              <a:t> la información de otro programa.</a:t>
            </a:r>
          </a:p>
        </p:txBody>
      </p:sp>
    </p:spTree>
    <p:extLst>
      <p:ext uri="{BB962C8B-B14F-4D97-AF65-F5344CB8AC3E}">
        <p14:creationId xmlns:p14="http://schemas.microsoft.com/office/powerpoint/2010/main" val="3836257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2977556" y="222205"/>
            <a:ext cx="5666703" cy="646331"/>
          </a:xfrm>
          <a:prstGeom prst="rect">
            <a:avLst/>
          </a:prstGeom>
          <a:noFill/>
        </p:spPr>
        <p:txBody>
          <a:bodyPr wrap="square" rtlCol="0">
            <a:spAutoFit/>
          </a:bodyPr>
          <a:lstStyle/>
          <a:p>
            <a:pPr algn="ctr"/>
            <a:r>
              <a:rPr lang="es-CO" sz="3600" dirty="0"/>
              <a:t>Protección de memoria</a:t>
            </a:r>
          </a:p>
        </p:txBody>
      </p:sp>
      <p:pic>
        <p:nvPicPr>
          <p:cNvPr id="2" name="Imagen 1"/>
          <p:cNvPicPr>
            <a:picLocks noChangeAspect="1"/>
          </p:cNvPicPr>
          <p:nvPr/>
        </p:nvPicPr>
        <p:blipFill>
          <a:blip r:embed="rId5"/>
          <a:stretch>
            <a:fillRect/>
          </a:stretch>
        </p:blipFill>
        <p:spPr>
          <a:xfrm>
            <a:off x="2436451" y="1346100"/>
            <a:ext cx="6497139" cy="4388705"/>
          </a:xfrm>
          <a:prstGeom prst="rect">
            <a:avLst/>
          </a:prstGeom>
        </p:spPr>
      </p:pic>
      <p:sp>
        <p:nvSpPr>
          <p:cNvPr id="4" name="CuadroTexto 3"/>
          <p:cNvSpPr txBox="1"/>
          <p:nvPr/>
        </p:nvSpPr>
        <p:spPr>
          <a:xfrm>
            <a:off x="3379335" y="3540453"/>
            <a:ext cx="942110" cy="369332"/>
          </a:xfrm>
          <a:prstGeom prst="rect">
            <a:avLst/>
          </a:prstGeom>
          <a:noFill/>
        </p:spPr>
        <p:txBody>
          <a:bodyPr wrap="square" rtlCol="0">
            <a:spAutoFit/>
          </a:bodyPr>
          <a:lstStyle/>
          <a:p>
            <a:r>
              <a:rPr lang="es-CO" dirty="0"/>
              <a:t>Lógica</a:t>
            </a:r>
          </a:p>
        </p:txBody>
      </p:sp>
    </p:spTree>
    <p:extLst>
      <p:ext uri="{BB962C8B-B14F-4D97-AF65-F5344CB8AC3E}">
        <p14:creationId xmlns:p14="http://schemas.microsoft.com/office/powerpoint/2010/main" val="3005259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2977556" y="222205"/>
            <a:ext cx="5666703" cy="1200329"/>
          </a:xfrm>
          <a:prstGeom prst="rect">
            <a:avLst/>
          </a:prstGeom>
          <a:noFill/>
        </p:spPr>
        <p:txBody>
          <a:bodyPr wrap="square" rtlCol="0">
            <a:spAutoFit/>
          </a:bodyPr>
          <a:lstStyle/>
          <a:p>
            <a:pPr algn="ctr"/>
            <a:r>
              <a:rPr lang="es-CO" sz="3600" dirty="0"/>
              <a:t>Estrategias o políticas de </a:t>
            </a:r>
            <a:r>
              <a:rPr lang="es-CO" sz="3600" dirty="0" err="1"/>
              <a:t>admón</a:t>
            </a:r>
            <a:r>
              <a:rPr lang="es-CO" sz="3600" dirty="0"/>
              <a:t> de memoria virtual</a:t>
            </a:r>
          </a:p>
        </p:txBody>
      </p:sp>
      <p:sp>
        <p:nvSpPr>
          <p:cNvPr id="2" name="CuadroTexto 1"/>
          <p:cNvSpPr txBox="1"/>
          <p:nvPr/>
        </p:nvSpPr>
        <p:spPr>
          <a:xfrm>
            <a:off x="721217" y="1712890"/>
            <a:ext cx="10354822" cy="3970318"/>
          </a:xfrm>
          <a:prstGeom prst="rect">
            <a:avLst/>
          </a:prstGeom>
          <a:noFill/>
        </p:spPr>
        <p:txBody>
          <a:bodyPr wrap="square" rtlCol="0">
            <a:spAutoFit/>
          </a:bodyPr>
          <a:lstStyle/>
          <a:p>
            <a:r>
              <a:rPr lang="es-CO" dirty="0"/>
              <a:t>Estrategia o política de </a:t>
            </a:r>
            <a:r>
              <a:rPr lang="es-CO" dirty="0" err="1"/>
              <a:t>fetch</a:t>
            </a:r>
            <a:r>
              <a:rPr lang="es-CO" dirty="0"/>
              <a:t> (carga):</a:t>
            </a:r>
          </a:p>
          <a:p>
            <a:endParaRPr lang="es-CO" dirty="0"/>
          </a:p>
          <a:p>
            <a:pPr marL="342900" indent="-342900">
              <a:buAutoNum type="arabicPeriod"/>
            </a:pPr>
            <a:r>
              <a:rPr lang="es-CO" dirty="0">
                <a:ln>
                  <a:solidFill>
                    <a:srgbClr val="FF0000"/>
                  </a:solidFill>
                </a:ln>
              </a:rPr>
              <a:t>Paginación por demanda: </a:t>
            </a:r>
          </a:p>
          <a:p>
            <a:endParaRPr lang="es-CO" dirty="0"/>
          </a:p>
          <a:p>
            <a:r>
              <a:rPr lang="es-CO" dirty="0"/>
              <a:t>Una página es cargada a memoria solamente cuando se va a utilizar.</a:t>
            </a:r>
          </a:p>
          <a:p>
            <a:endParaRPr lang="es-CO" dirty="0"/>
          </a:p>
          <a:p>
            <a:endParaRPr lang="es-CO" dirty="0"/>
          </a:p>
          <a:p>
            <a:r>
              <a:rPr lang="es-CO" dirty="0">
                <a:ln>
                  <a:solidFill>
                    <a:srgbClr val="FF0000"/>
                  </a:solidFill>
                </a:ln>
              </a:rPr>
              <a:t>2. Paginación anticipada: </a:t>
            </a:r>
          </a:p>
          <a:p>
            <a:endParaRPr lang="es-CO" dirty="0"/>
          </a:p>
          <a:p>
            <a:r>
              <a:rPr lang="es-CO" dirty="0"/>
              <a:t>Traer páginas y cargarlas a memoria aun cuando esas páginas no han sido </a:t>
            </a:r>
            <a:r>
              <a:rPr lang="es-CO" dirty="0" err="1"/>
              <a:t>accesadas</a:t>
            </a:r>
            <a:r>
              <a:rPr lang="es-CO" dirty="0"/>
              <a:t> o referenciadas por el proceso pero que se pueden necesitar en un futuro. Por lo general se traen las páginas contiguas a la llamada.</a:t>
            </a:r>
          </a:p>
          <a:p>
            <a:endParaRPr lang="es-CO" dirty="0"/>
          </a:p>
          <a:p>
            <a:r>
              <a:rPr lang="es-CO" dirty="0"/>
              <a:t>La mayoría de los S.O. usan paginación por demanda. </a:t>
            </a:r>
          </a:p>
        </p:txBody>
      </p:sp>
    </p:spTree>
    <p:extLst>
      <p:ext uri="{BB962C8B-B14F-4D97-AF65-F5344CB8AC3E}">
        <p14:creationId xmlns:p14="http://schemas.microsoft.com/office/powerpoint/2010/main" val="3228454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648496" y="222205"/>
            <a:ext cx="8487177" cy="646331"/>
          </a:xfrm>
          <a:prstGeom prst="rect">
            <a:avLst/>
          </a:prstGeom>
          <a:noFill/>
        </p:spPr>
        <p:txBody>
          <a:bodyPr wrap="square" rtlCol="0">
            <a:spAutoFit/>
          </a:bodyPr>
          <a:lstStyle/>
          <a:p>
            <a:pPr algn="ctr"/>
            <a:r>
              <a:rPr lang="es-CO" sz="3600" dirty="0"/>
              <a:t>Estrategia o política de colocación</a:t>
            </a:r>
          </a:p>
        </p:txBody>
      </p:sp>
      <p:sp>
        <p:nvSpPr>
          <p:cNvPr id="2" name="CuadroTexto 1"/>
          <p:cNvSpPr txBox="1"/>
          <p:nvPr/>
        </p:nvSpPr>
        <p:spPr>
          <a:xfrm>
            <a:off x="1095835" y="1120462"/>
            <a:ext cx="9245900" cy="400110"/>
          </a:xfrm>
          <a:prstGeom prst="rect">
            <a:avLst/>
          </a:prstGeom>
          <a:noFill/>
        </p:spPr>
        <p:txBody>
          <a:bodyPr wrap="square" rtlCol="0">
            <a:spAutoFit/>
          </a:bodyPr>
          <a:lstStyle/>
          <a:p>
            <a:pPr algn="ctr"/>
            <a:r>
              <a:rPr lang="es-CO" sz="2000" dirty="0"/>
              <a:t>¿ que ocurre si se desea </a:t>
            </a:r>
            <a:r>
              <a:rPr lang="es-CO" sz="2000" dirty="0" err="1"/>
              <a:t>accesar</a:t>
            </a:r>
            <a:r>
              <a:rPr lang="es-CO" sz="2000" dirty="0"/>
              <a:t> una página que no está en memoria?</a:t>
            </a:r>
          </a:p>
        </p:txBody>
      </p:sp>
      <p:sp>
        <p:nvSpPr>
          <p:cNvPr id="8" name="CuadroTexto 7"/>
          <p:cNvSpPr txBox="1"/>
          <p:nvPr/>
        </p:nvSpPr>
        <p:spPr>
          <a:xfrm>
            <a:off x="1187129" y="1851627"/>
            <a:ext cx="9245900" cy="707886"/>
          </a:xfrm>
          <a:prstGeom prst="rect">
            <a:avLst/>
          </a:prstGeom>
          <a:noFill/>
        </p:spPr>
        <p:txBody>
          <a:bodyPr wrap="square" rtlCol="0">
            <a:spAutoFit/>
          </a:bodyPr>
          <a:lstStyle/>
          <a:p>
            <a:pPr algn="ctr"/>
            <a:r>
              <a:rPr lang="es-CO" sz="2000" dirty="0" err="1"/>
              <a:t>Rta</a:t>
            </a:r>
            <a:r>
              <a:rPr lang="es-CO" sz="2000" dirty="0"/>
              <a:t>: Se genera un fallo de página generando un “</a:t>
            </a:r>
            <a:r>
              <a:rPr lang="es-CO" sz="2000" dirty="0" err="1"/>
              <a:t>overhead</a:t>
            </a:r>
            <a:r>
              <a:rPr lang="es-CO" sz="2000" dirty="0"/>
              <a:t>” para traer la página a memoria.</a:t>
            </a:r>
          </a:p>
        </p:txBody>
      </p:sp>
      <p:pic>
        <p:nvPicPr>
          <p:cNvPr id="10" name="Imagen 9"/>
          <p:cNvPicPr>
            <a:picLocks noChangeAspect="1"/>
          </p:cNvPicPr>
          <p:nvPr/>
        </p:nvPicPr>
        <p:blipFill>
          <a:blip r:embed="rId5"/>
          <a:stretch>
            <a:fillRect/>
          </a:stretch>
        </p:blipFill>
        <p:spPr>
          <a:xfrm>
            <a:off x="4010324" y="2838449"/>
            <a:ext cx="2919114" cy="2068401"/>
          </a:xfrm>
          <a:prstGeom prst="rect">
            <a:avLst/>
          </a:prstGeom>
        </p:spPr>
      </p:pic>
      <p:sp>
        <p:nvSpPr>
          <p:cNvPr id="11" name="CuadroTexto 10"/>
          <p:cNvSpPr txBox="1"/>
          <p:nvPr/>
        </p:nvSpPr>
        <p:spPr>
          <a:xfrm>
            <a:off x="7057622" y="3231415"/>
            <a:ext cx="3631842" cy="1477328"/>
          </a:xfrm>
          <a:prstGeom prst="rect">
            <a:avLst/>
          </a:prstGeom>
          <a:noFill/>
        </p:spPr>
        <p:txBody>
          <a:bodyPr wrap="square" rtlCol="0">
            <a:spAutoFit/>
          </a:bodyPr>
          <a:lstStyle/>
          <a:p>
            <a:r>
              <a:rPr lang="es-CO" dirty="0"/>
              <a:t>1 -&gt; Esta cargada en memoria</a:t>
            </a:r>
          </a:p>
          <a:p>
            <a:r>
              <a:rPr lang="es-CO" dirty="0"/>
              <a:t>0 -&gt; No está cargada en memoria</a:t>
            </a:r>
          </a:p>
          <a:p>
            <a:endParaRPr lang="es-CO" dirty="0"/>
          </a:p>
          <a:p>
            <a:r>
              <a:rPr lang="es-CO" dirty="0"/>
              <a:t>Si se intenta cargar la página 3 o 4 ocurre un  fallo de página</a:t>
            </a:r>
          </a:p>
        </p:txBody>
      </p:sp>
      <p:cxnSp>
        <p:nvCxnSpPr>
          <p:cNvPr id="13" name="Conector angular 12"/>
          <p:cNvCxnSpPr/>
          <p:nvPr/>
        </p:nvCxnSpPr>
        <p:spPr>
          <a:xfrm rot="16200000" flipH="1">
            <a:off x="4301544" y="5061396"/>
            <a:ext cx="450761" cy="141668"/>
          </a:xfrm>
          <a:prstGeom prst="bentConnector3">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p:cNvSpPr txBox="1"/>
          <p:nvPr/>
        </p:nvSpPr>
        <p:spPr>
          <a:xfrm>
            <a:off x="3670479" y="5357611"/>
            <a:ext cx="3258959" cy="646331"/>
          </a:xfrm>
          <a:prstGeom prst="rect">
            <a:avLst/>
          </a:prstGeom>
          <a:noFill/>
        </p:spPr>
        <p:txBody>
          <a:bodyPr wrap="square" rtlCol="0">
            <a:spAutoFit/>
          </a:bodyPr>
          <a:lstStyle/>
          <a:p>
            <a:r>
              <a:rPr lang="es-CO" dirty="0"/>
              <a:t>Un proceso que tiene 5 páginas</a:t>
            </a:r>
          </a:p>
        </p:txBody>
      </p:sp>
    </p:spTree>
    <p:extLst>
      <p:ext uri="{BB962C8B-B14F-4D97-AF65-F5344CB8AC3E}">
        <p14:creationId xmlns:p14="http://schemas.microsoft.com/office/powerpoint/2010/main" val="1544734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648496" y="222205"/>
            <a:ext cx="8487177" cy="646331"/>
          </a:xfrm>
          <a:prstGeom prst="rect">
            <a:avLst/>
          </a:prstGeom>
          <a:noFill/>
        </p:spPr>
        <p:txBody>
          <a:bodyPr wrap="square" rtlCol="0">
            <a:spAutoFit/>
          </a:bodyPr>
          <a:lstStyle/>
          <a:p>
            <a:pPr algn="ctr"/>
            <a:r>
              <a:rPr lang="es-CO" sz="3600" dirty="0"/>
              <a:t>Que ocurre en un page default?</a:t>
            </a:r>
          </a:p>
        </p:txBody>
      </p:sp>
      <p:sp>
        <p:nvSpPr>
          <p:cNvPr id="2" name="CuadroTexto 1"/>
          <p:cNvSpPr txBox="1"/>
          <p:nvPr/>
        </p:nvSpPr>
        <p:spPr>
          <a:xfrm>
            <a:off x="775855" y="1333222"/>
            <a:ext cx="10300184" cy="4401205"/>
          </a:xfrm>
          <a:prstGeom prst="rect">
            <a:avLst/>
          </a:prstGeom>
          <a:noFill/>
        </p:spPr>
        <p:txBody>
          <a:bodyPr wrap="square" rtlCol="0">
            <a:spAutoFit/>
          </a:bodyPr>
          <a:lstStyle/>
          <a:p>
            <a:pPr marL="342900" indent="-342900">
              <a:buAutoNum type="arabicPeriod"/>
            </a:pPr>
            <a:r>
              <a:rPr lang="es-CO" sz="2800" dirty="0"/>
              <a:t>Se intenta </a:t>
            </a:r>
            <a:r>
              <a:rPr lang="es-CO" sz="2800" dirty="0" err="1"/>
              <a:t>accesar</a:t>
            </a:r>
            <a:r>
              <a:rPr lang="es-CO" sz="2800" dirty="0"/>
              <a:t> la página</a:t>
            </a:r>
          </a:p>
          <a:p>
            <a:pPr marL="342900" indent="-342900">
              <a:buAutoNum type="arabicPeriod"/>
            </a:pPr>
            <a:r>
              <a:rPr lang="es-CO" sz="2800" dirty="0"/>
              <a:t>Si la página esta en memoria ir a 8</a:t>
            </a:r>
          </a:p>
          <a:p>
            <a:pPr marL="342900" indent="-342900">
              <a:buAutoNum type="arabicPeriod"/>
            </a:pPr>
            <a:r>
              <a:rPr lang="es-CO" sz="2800" dirty="0"/>
              <a:t>Se genera un TRAP para el sistema operativo (Interrupción)</a:t>
            </a:r>
          </a:p>
          <a:p>
            <a:pPr marL="342900" indent="-342900">
              <a:buAutoNum type="arabicPeriod"/>
            </a:pPr>
            <a:r>
              <a:rPr lang="es-CO" sz="2800" dirty="0"/>
              <a:t>Encontrar un marco libre para colocar la página que se leerá de disco</a:t>
            </a:r>
          </a:p>
          <a:p>
            <a:pPr marL="342900" indent="-342900">
              <a:buAutoNum type="arabicPeriod"/>
            </a:pPr>
            <a:r>
              <a:rPr lang="es-CO" sz="2800" dirty="0"/>
              <a:t>Leer página de disco y cargarla en marco de página en memoria real</a:t>
            </a:r>
          </a:p>
          <a:p>
            <a:pPr marL="342900" indent="-342900">
              <a:buAutoNum type="arabicPeriod"/>
            </a:pPr>
            <a:r>
              <a:rPr lang="es-CO" sz="2800" dirty="0"/>
              <a:t>Actualizar tabla de páginas</a:t>
            </a:r>
          </a:p>
          <a:p>
            <a:pPr marL="342900" indent="-342900">
              <a:buAutoNum type="arabicPeriod"/>
            </a:pPr>
            <a:r>
              <a:rPr lang="es-CO" sz="2800" dirty="0"/>
              <a:t> Finalizar la TRAP</a:t>
            </a:r>
          </a:p>
          <a:p>
            <a:pPr marL="342900" indent="-342900">
              <a:buAutoNum type="arabicPeriod"/>
            </a:pPr>
            <a:r>
              <a:rPr lang="es-CO" sz="2800" dirty="0" err="1"/>
              <a:t>Accesar</a:t>
            </a:r>
            <a:r>
              <a:rPr lang="es-CO" sz="2800" dirty="0"/>
              <a:t> la página</a:t>
            </a:r>
          </a:p>
        </p:txBody>
      </p:sp>
    </p:spTree>
    <p:extLst>
      <p:ext uri="{BB962C8B-B14F-4D97-AF65-F5344CB8AC3E}">
        <p14:creationId xmlns:p14="http://schemas.microsoft.com/office/powerpoint/2010/main" val="1976756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246910" y="222205"/>
            <a:ext cx="9829130" cy="646331"/>
          </a:xfrm>
          <a:prstGeom prst="rect">
            <a:avLst/>
          </a:prstGeom>
          <a:noFill/>
        </p:spPr>
        <p:txBody>
          <a:bodyPr wrap="square" rtlCol="0">
            <a:spAutoFit/>
          </a:bodyPr>
          <a:lstStyle/>
          <a:p>
            <a:pPr algn="ctr"/>
            <a:r>
              <a:rPr lang="es-CO" sz="3600" dirty="0"/>
              <a:t>Que ocurre si no hay un marco de página libre?</a:t>
            </a:r>
          </a:p>
        </p:txBody>
      </p:sp>
      <p:sp>
        <p:nvSpPr>
          <p:cNvPr id="2" name="CuadroTexto 1"/>
          <p:cNvSpPr txBox="1"/>
          <p:nvPr/>
        </p:nvSpPr>
        <p:spPr>
          <a:xfrm>
            <a:off x="595745" y="1333222"/>
            <a:ext cx="10480294" cy="5078313"/>
          </a:xfrm>
          <a:prstGeom prst="rect">
            <a:avLst/>
          </a:prstGeom>
          <a:noFill/>
        </p:spPr>
        <p:txBody>
          <a:bodyPr wrap="square" rtlCol="0">
            <a:spAutoFit/>
          </a:bodyPr>
          <a:lstStyle/>
          <a:p>
            <a:r>
              <a:rPr lang="es-CO" sz="3600" dirty="0" err="1"/>
              <a:t>Rta</a:t>
            </a:r>
            <a:r>
              <a:rPr lang="es-CO" sz="3600" dirty="0"/>
              <a:t>: Se debe hacer un reemplazo de páginas:</a:t>
            </a:r>
          </a:p>
          <a:p>
            <a:endParaRPr lang="es-CO" sz="3600" dirty="0"/>
          </a:p>
          <a:p>
            <a:r>
              <a:rPr lang="es-CO" sz="3600" dirty="0"/>
              <a:t>Mediante un algoritmo de selección la página que es conveniente retirar de memoria (se graba en disco) para dejar el espacio para la página nueva.</a:t>
            </a:r>
          </a:p>
          <a:p>
            <a:endParaRPr lang="es-CO" sz="3600" dirty="0"/>
          </a:p>
          <a:p>
            <a:r>
              <a:rPr lang="es-CO" sz="3600" dirty="0"/>
              <a:t>Es deseable que el algoritmo que se utiliza para el reemplazo de páginas no genere muchos fallos de páginas en futuras referencias.</a:t>
            </a:r>
          </a:p>
        </p:txBody>
      </p:sp>
    </p:spTree>
    <p:extLst>
      <p:ext uri="{BB962C8B-B14F-4D97-AF65-F5344CB8AC3E}">
        <p14:creationId xmlns:p14="http://schemas.microsoft.com/office/powerpoint/2010/main" val="4159223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4" name="CuadroTexto 3"/>
          <p:cNvSpPr txBox="1"/>
          <p:nvPr/>
        </p:nvSpPr>
        <p:spPr>
          <a:xfrm>
            <a:off x="1870364" y="360218"/>
            <a:ext cx="7093527" cy="707886"/>
          </a:xfrm>
          <a:prstGeom prst="rect">
            <a:avLst/>
          </a:prstGeom>
          <a:noFill/>
        </p:spPr>
        <p:txBody>
          <a:bodyPr wrap="square" rtlCol="0">
            <a:spAutoFit/>
          </a:bodyPr>
          <a:lstStyle/>
          <a:p>
            <a:pPr algn="ctr"/>
            <a:r>
              <a:rPr lang="es-CO" sz="4000" dirty="0"/>
              <a:t>Estrategias de reemplazo</a:t>
            </a:r>
          </a:p>
        </p:txBody>
      </p:sp>
      <p:sp>
        <p:nvSpPr>
          <p:cNvPr id="8" name="CuadroTexto 7"/>
          <p:cNvSpPr txBox="1"/>
          <p:nvPr/>
        </p:nvSpPr>
        <p:spPr>
          <a:xfrm>
            <a:off x="692727" y="1333222"/>
            <a:ext cx="10383312" cy="3970318"/>
          </a:xfrm>
          <a:prstGeom prst="rect">
            <a:avLst/>
          </a:prstGeom>
          <a:noFill/>
        </p:spPr>
        <p:txBody>
          <a:bodyPr wrap="square" rtlCol="0">
            <a:spAutoFit/>
          </a:bodyPr>
          <a:lstStyle/>
          <a:p>
            <a:pPr marL="285750" indent="-285750">
              <a:buFont typeface="Arial" panose="020B0604020202020204" pitchFamily="34" charset="0"/>
              <a:buChar char="•"/>
            </a:pPr>
            <a:r>
              <a:rPr lang="es-CO" sz="2800" dirty="0"/>
              <a:t>Aleatorio (</a:t>
            </a:r>
            <a:r>
              <a:rPr lang="es-CO" sz="2800" dirty="0" err="1"/>
              <a:t>Randon</a:t>
            </a:r>
            <a:r>
              <a:rPr lang="es-CO" sz="2800" dirty="0"/>
              <a:t>)</a:t>
            </a:r>
          </a:p>
          <a:p>
            <a:pPr marL="285750" indent="-285750">
              <a:buFont typeface="Arial" panose="020B0604020202020204" pitchFamily="34" charset="0"/>
              <a:buChar char="•"/>
            </a:pPr>
            <a:r>
              <a:rPr lang="es-CO" sz="2800" dirty="0"/>
              <a:t>Optimo (OPT)</a:t>
            </a:r>
          </a:p>
          <a:p>
            <a:pPr marL="285750" indent="-285750">
              <a:buFont typeface="Arial" panose="020B0604020202020204" pitchFamily="34" charset="0"/>
              <a:buChar char="•"/>
            </a:pPr>
            <a:r>
              <a:rPr lang="es-CO" sz="2800" dirty="0"/>
              <a:t>Primera en llegar primera en salir (FIFO)</a:t>
            </a:r>
          </a:p>
          <a:p>
            <a:pPr marL="285750" indent="-285750">
              <a:buFont typeface="Arial" panose="020B0604020202020204" pitchFamily="34" charset="0"/>
              <a:buChar char="•"/>
            </a:pPr>
            <a:r>
              <a:rPr lang="es-CO" sz="2800" dirty="0"/>
              <a:t>Menos recientemente utilizada (LRU)</a:t>
            </a:r>
          </a:p>
          <a:p>
            <a:pPr marL="285750" indent="-285750">
              <a:buFont typeface="Arial" panose="020B0604020202020204" pitchFamily="34" charset="0"/>
              <a:buChar char="•"/>
            </a:pPr>
            <a:r>
              <a:rPr lang="es-CO" sz="2800" dirty="0"/>
              <a:t>Aproximaciones ( se conocen como Reference bit, segunda oportunidad o como Reloj (</a:t>
            </a:r>
            <a:r>
              <a:rPr lang="es-CO" sz="2800" dirty="0" err="1"/>
              <a:t>Second</a:t>
            </a:r>
            <a:r>
              <a:rPr lang="es-CO" sz="2800" dirty="0"/>
              <a:t> </a:t>
            </a:r>
            <a:r>
              <a:rPr lang="es-CO" sz="2800" dirty="0" err="1"/>
              <a:t>chanse</a:t>
            </a:r>
            <a:r>
              <a:rPr lang="es-CO" sz="2800" dirty="0"/>
              <a:t> – </a:t>
            </a:r>
            <a:r>
              <a:rPr lang="es-CO" sz="2800" dirty="0" err="1"/>
              <a:t>clock</a:t>
            </a:r>
            <a:r>
              <a:rPr lang="es-CO" sz="2800" dirty="0"/>
              <a:t>)</a:t>
            </a:r>
          </a:p>
          <a:p>
            <a:pPr marL="285750" indent="-285750">
              <a:buFont typeface="Arial" panose="020B0604020202020204" pitchFamily="34" charset="0"/>
              <a:buChar char="•"/>
            </a:pPr>
            <a:r>
              <a:rPr lang="es-CO" sz="2800" dirty="0"/>
              <a:t>Algoritmos basados en conteo</a:t>
            </a:r>
          </a:p>
          <a:p>
            <a:pPr marL="285750" indent="-285750">
              <a:buFont typeface="Arial" panose="020B0604020202020204" pitchFamily="34" charset="0"/>
              <a:buChar char="•"/>
            </a:pPr>
            <a:r>
              <a:rPr lang="es-CO" sz="2800" dirty="0"/>
              <a:t>Menos frecuentemente utilizada (LFU)</a:t>
            </a:r>
          </a:p>
          <a:p>
            <a:pPr marL="285750" indent="-285750">
              <a:buFont typeface="Arial" panose="020B0604020202020204" pitchFamily="34" charset="0"/>
              <a:buChar char="•"/>
            </a:pPr>
            <a:r>
              <a:rPr lang="es-CO" sz="2800" dirty="0"/>
              <a:t>Mas frecuentemente utilizada (MFU)</a:t>
            </a:r>
          </a:p>
        </p:txBody>
      </p:sp>
    </p:spTree>
    <p:extLst>
      <p:ext uri="{BB962C8B-B14F-4D97-AF65-F5344CB8AC3E}">
        <p14:creationId xmlns:p14="http://schemas.microsoft.com/office/powerpoint/2010/main" val="33580854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7" name="CuadroTexto 6"/>
          <p:cNvSpPr txBox="1"/>
          <p:nvPr/>
        </p:nvSpPr>
        <p:spPr>
          <a:xfrm>
            <a:off x="1870364" y="360218"/>
            <a:ext cx="8354291" cy="707886"/>
          </a:xfrm>
          <a:prstGeom prst="rect">
            <a:avLst/>
          </a:prstGeom>
          <a:noFill/>
        </p:spPr>
        <p:txBody>
          <a:bodyPr wrap="square" rtlCol="0">
            <a:spAutoFit/>
          </a:bodyPr>
          <a:lstStyle/>
          <a:p>
            <a:pPr algn="ctr"/>
            <a:r>
              <a:rPr lang="es-CO" sz="4000" dirty="0" err="1"/>
              <a:t>Estring</a:t>
            </a:r>
            <a:r>
              <a:rPr lang="es-CO" sz="4000" dirty="0"/>
              <a:t> de referencia a páginas</a:t>
            </a:r>
          </a:p>
        </p:txBody>
      </p:sp>
      <p:sp>
        <p:nvSpPr>
          <p:cNvPr id="2" name="CuadroTexto 1"/>
          <p:cNvSpPr txBox="1"/>
          <p:nvPr/>
        </p:nvSpPr>
        <p:spPr>
          <a:xfrm>
            <a:off x="734291" y="1177636"/>
            <a:ext cx="10072254" cy="707886"/>
          </a:xfrm>
          <a:prstGeom prst="rect">
            <a:avLst/>
          </a:prstGeom>
          <a:noFill/>
        </p:spPr>
        <p:txBody>
          <a:bodyPr wrap="square" rtlCol="0">
            <a:spAutoFit/>
          </a:bodyPr>
          <a:lstStyle/>
          <a:p>
            <a:r>
              <a:rPr lang="es-CO" sz="2000" dirty="0"/>
              <a:t>El </a:t>
            </a:r>
            <a:r>
              <a:rPr lang="es-CO" sz="2000" dirty="0" err="1"/>
              <a:t>string</a:t>
            </a:r>
            <a:r>
              <a:rPr lang="es-CO" sz="2000" dirty="0"/>
              <a:t> de referencia a un proceso es el listado de todas las páginas que el procesos ha </a:t>
            </a:r>
            <a:r>
              <a:rPr lang="es-CO" sz="2000" dirty="0" err="1"/>
              <a:t>accesado</a:t>
            </a:r>
            <a:r>
              <a:rPr lang="es-CO" sz="2000" dirty="0"/>
              <a:t> en un periodo de tiempo.</a:t>
            </a:r>
          </a:p>
        </p:txBody>
      </p:sp>
      <p:sp>
        <p:nvSpPr>
          <p:cNvPr id="4" name="CuadroTexto 3"/>
          <p:cNvSpPr txBox="1"/>
          <p:nvPr/>
        </p:nvSpPr>
        <p:spPr>
          <a:xfrm>
            <a:off x="831273" y="2147455"/>
            <a:ext cx="10127672" cy="369332"/>
          </a:xfrm>
          <a:prstGeom prst="rect">
            <a:avLst/>
          </a:prstGeom>
          <a:noFill/>
        </p:spPr>
        <p:txBody>
          <a:bodyPr wrap="square" rtlCol="0">
            <a:spAutoFit/>
          </a:bodyPr>
          <a:lstStyle/>
          <a:p>
            <a:pPr algn="ctr"/>
            <a:r>
              <a:rPr lang="es-CO" dirty="0"/>
              <a:t>PROGRAMA                          PROCESO                           ACCESA A PÁGINAS EN MEMORIA </a:t>
            </a:r>
          </a:p>
        </p:txBody>
      </p:sp>
      <p:sp>
        <p:nvSpPr>
          <p:cNvPr id="8" name="Flecha derecha 7"/>
          <p:cNvSpPr/>
          <p:nvPr/>
        </p:nvSpPr>
        <p:spPr>
          <a:xfrm>
            <a:off x="2895604" y="2186482"/>
            <a:ext cx="1288473" cy="2455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Flecha derecha 8"/>
          <p:cNvSpPr/>
          <p:nvPr/>
        </p:nvSpPr>
        <p:spPr>
          <a:xfrm>
            <a:off x="5666510" y="2182016"/>
            <a:ext cx="1288473" cy="2455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p:cNvSpPr txBox="1"/>
          <p:nvPr/>
        </p:nvSpPr>
        <p:spPr>
          <a:xfrm>
            <a:off x="374965" y="2760125"/>
            <a:ext cx="10182198" cy="707886"/>
          </a:xfrm>
          <a:prstGeom prst="rect">
            <a:avLst/>
          </a:prstGeom>
          <a:noFill/>
        </p:spPr>
        <p:txBody>
          <a:bodyPr wrap="square" rtlCol="0">
            <a:spAutoFit/>
          </a:bodyPr>
          <a:lstStyle/>
          <a:p>
            <a:pPr algn="ctr"/>
            <a:r>
              <a:rPr lang="es-CO" sz="4000" dirty="0"/>
              <a:t>Rendimiento de estrategia de reemplazo</a:t>
            </a:r>
          </a:p>
        </p:txBody>
      </p:sp>
      <p:sp>
        <p:nvSpPr>
          <p:cNvPr id="12" name="CuadroTexto 11"/>
          <p:cNvSpPr txBox="1"/>
          <p:nvPr/>
        </p:nvSpPr>
        <p:spPr>
          <a:xfrm>
            <a:off x="734291" y="3588327"/>
            <a:ext cx="10681953" cy="775855"/>
          </a:xfrm>
          <a:prstGeom prst="rect">
            <a:avLst/>
          </a:prstGeom>
          <a:noFill/>
        </p:spPr>
        <p:txBody>
          <a:bodyPr wrap="square" rtlCol="0">
            <a:spAutoFit/>
          </a:bodyPr>
          <a:lstStyle/>
          <a:p>
            <a:endParaRPr lang="es-CO" dirty="0"/>
          </a:p>
        </p:txBody>
      </p:sp>
      <p:sp>
        <p:nvSpPr>
          <p:cNvPr id="13" name="CuadroTexto 12"/>
          <p:cNvSpPr txBox="1"/>
          <p:nvPr/>
        </p:nvSpPr>
        <p:spPr>
          <a:xfrm>
            <a:off x="360218" y="3711081"/>
            <a:ext cx="10715821" cy="2031325"/>
          </a:xfrm>
          <a:prstGeom prst="rect">
            <a:avLst/>
          </a:prstGeom>
          <a:noFill/>
        </p:spPr>
        <p:txBody>
          <a:bodyPr wrap="square" rtlCol="0">
            <a:spAutoFit/>
          </a:bodyPr>
          <a:lstStyle/>
          <a:p>
            <a:r>
              <a:rPr lang="es-CO" dirty="0"/>
              <a:t>Es comparar cada una de las estrategias de reemplazo para saber cual es su eficiencia.</a:t>
            </a:r>
          </a:p>
          <a:p>
            <a:endParaRPr lang="es-CO" dirty="0"/>
          </a:p>
          <a:p>
            <a:r>
              <a:rPr lang="es-CO" dirty="0"/>
              <a:t>El rendimiento R se define como: </a:t>
            </a:r>
          </a:p>
          <a:p>
            <a:endParaRPr lang="es-CO" dirty="0"/>
          </a:p>
          <a:p>
            <a:r>
              <a:rPr lang="es-CO" dirty="0"/>
              <a:t>R = 1 – F donde;</a:t>
            </a:r>
          </a:p>
          <a:p>
            <a:endParaRPr lang="es-CO" dirty="0"/>
          </a:p>
          <a:p>
            <a:r>
              <a:rPr lang="es-CO" dirty="0"/>
              <a:t>F = # de fallos de página / # total de referencias</a:t>
            </a:r>
          </a:p>
        </p:txBody>
      </p:sp>
    </p:spTree>
    <p:extLst>
      <p:ext uri="{BB962C8B-B14F-4D97-AF65-F5344CB8AC3E}">
        <p14:creationId xmlns:p14="http://schemas.microsoft.com/office/powerpoint/2010/main" val="2028096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pic>
        <p:nvPicPr>
          <p:cNvPr id="2" name="Imagen 1"/>
          <p:cNvPicPr>
            <a:picLocks noChangeAspect="1"/>
          </p:cNvPicPr>
          <p:nvPr/>
        </p:nvPicPr>
        <p:blipFill>
          <a:blip r:embed="rId5"/>
          <a:stretch>
            <a:fillRect/>
          </a:stretch>
        </p:blipFill>
        <p:spPr>
          <a:xfrm>
            <a:off x="998852" y="1818997"/>
            <a:ext cx="8506789" cy="2551834"/>
          </a:xfrm>
          <a:prstGeom prst="rect">
            <a:avLst/>
          </a:prstGeom>
        </p:spPr>
      </p:pic>
      <p:sp>
        <p:nvSpPr>
          <p:cNvPr id="7" name="Cerrar llave 6"/>
          <p:cNvSpPr/>
          <p:nvPr/>
        </p:nvSpPr>
        <p:spPr>
          <a:xfrm>
            <a:off x="9505641" y="2660073"/>
            <a:ext cx="358795" cy="1565563"/>
          </a:xfrm>
          <a:prstGeom prst="rightBrace">
            <a:avLst/>
          </a:prstGeom>
          <a:ln w="222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8" name="CuadroTexto 7"/>
          <p:cNvSpPr txBox="1"/>
          <p:nvPr/>
        </p:nvSpPr>
        <p:spPr>
          <a:xfrm>
            <a:off x="9975272" y="2701638"/>
            <a:ext cx="2001792" cy="1477328"/>
          </a:xfrm>
          <a:prstGeom prst="rect">
            <a:avLst/>
          </a:prstGeom>
          <a:noFill/>
        </p:spPr>
        <p:txBody>
          <a:bodyPr wrap="square" rtlCol="0">
            <a:spAutoFit/>
          </a:bodyPr>
          <a:lstStyle/>
          <a:p>
            <a:r>
              <a:rPr lang="es-CO" dirty="0"/>
              <a:t>Como entran y salen las páginas en c/u de las estrategias de reemplazo</a:t>
            </a:r>
          </a:p>
        </p:txBody>
      </p:sp>
      <p:sp>
        <p:nvSpPr>
          <p:cNvPr id="11" name="CuadroTexto 10"/>
          <p:cNvSpPr txBox="1"/>
          <p:nvPr/>
        </p:nvSpPr>
        <p:spPr>
          <a:xfrm>
            <a:off x="2687782" y="4696691"/>
            <a:ext cx="6456218" cy="1384995"/>
          </a:xfrm>
          <a:prstGeom prst="rect">
            <a:avLst/>
          </a:prstGeom>
          <a:noFill/>
        </p:spPr>
        <p:txBody>
          <a:bodyPr wrap="square" rtlCol="0">
            <a:spAutoFit/>
          </a:bodyPr>
          <a:lstStyle/>
          <a:p>
            <a:r>
              <a:rPr lang="es-CO" sz="2800" dirty="0"/>
              <a:t>R = 1 – F</a:t>
            </a:r>
          </a:p>
          <a:p>
            <a:endParaRPr lang="es-CO" sz="2800" dirty="0"/>
          </a:p>
          <a:p>
            <a:r>
              <a:rPr lang="es-CO" sz="2800" dirty="0"/>
              <a:t>F = #Fallos / #Total de referencias</a:t>
            </a:r>
          </a:p>
        </p:txBody>
      </p:sp>
    </p:spTree>
    <p:extLst>
      <p:ext uri="{BB962C8B-B14F-4D97-AF65-F5344CB8AC3E}">
        <p14:creationId xmlns:p14="http://schemas.microsoft.com/office/powerpoint/2010/main" val="17987294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Rectángulo 1"/>
          <p:cNvSpPr/>
          <p:nvPr/>
        </p:nvSpPr>
        <p:spPr>
          <a:xfrm>
            <a:off x="383494" y="3104226"/>
            <a:ext cx="10895084" cy="584775"/>
          </a:xfrm>
          <a:prstGeom prst="rect">
            <a:avLst/>
          </a:prstGeom>
        </p:spPr>
        <p:txBody>
          <a:bodyPr wrap="square">
            <a:spAutoFit/>
          </a:bodyPr>
          <a:lstStyle/>
          <a:p>
            <a:r>
              <a:rPr lang="es-CO" sz="3200" dirty="0">
                <a:hlinkClick r:id="rId5" action="ppaction://hlinkfile"/>
              </a:rPr>
              <a:t>UNIDAD3 ADMON DE MEMORIA EJERCICIOS RESUELTOS.docx</a:t>
            </a:r>
            <a:endParaRPr lang="es-CO" sz="3200" dirty="0"/>
          </a:p>
        </p:txBody>
      </p:sp>
    </p:spTree>
    <p:extLst>
      <p:ext uri="{BB962C8B-B14F-4D97-AF65-F5344CB8AC3E}">
        <p14:creationId xmlns:p14="http://schemas.microsoft.com/office/powerpoint/2010/main" val="9890111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6039" y="185113"/>
            <a:ext cx="914880" cy="844919"/>
          </a:xfrm>
          <a:prstGeom prst="rect">
            <a:avLst/>
          </a:prstGeom>
        </p:spPr>
      </p:pic>
      <p:pic>
        <p:nvPicPr>
          <p:cNvPr id="5" name="Imagen 4" descr="logo_uh"/>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860" y="222205"/>
            <a:ext cx="942975" cy="783590"/>
          </a:xfrm>
          <a:prstGeom prst="rect">
            <a:avLst/>
          </a:prstGeom>
          <a:noFill/>
          <a:ln>
            <a:noFill/>
          </a:ln>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16244" y="1333222"/>
            <a:ext cx="574675" cy="971550"/>
          </a:xfrm>
          <a:prstGeom prst="rect">
            <a:avLst/>
          </a:prstGeom>
          <a:noFill/>
          <a:ln>
            <a:noFill/>
          </a:ln>
        </p:spPr>
      </p:pic>
      <p:sp>
        <p:nvSpPr>
          <p:cNvPr id="2" name="CuadroTexto 1"/>
          <p:cNvSpPr txBox="1"/>
          <p:nvPr/>
        </p:nvSpPr>
        <p:spPr>
          <a:xfrm>
            <a:off x="2105891" y="2540300"/>
            <a:ext cx="7107381" cy="1200329"/>
          </a:xfrm>
          <a:prstGeom prst="rect">
            <a:avLst/>
          </a:prstGeom>
          <a:noFill/>
        </p:spPr>
        <p:txBody>
          <a:bodyPr wrap="square" rtlCol="0">
            <a:spAutoFit/>
          </a:bodyPr>
          <a:lstStyle/>
          <a:p>
            <a:pPr algn="ctr"/>
            <a:r>
              <a:rPr lang="es-CO" sz="7200" dirty="0"/>
              <a:t>Gracias</a:t>
            </a:r>
          </a:p>
        </p:txBody>
      </p:sp>
    </p:spTree>
    <p:extLst>
      <p:ext uri="{BB962C8B-B14F-4D97-AF65-F5344CB8AC3E}">
        <p14:creationId xmlns:p14="http://schemas.microsoft.com/office/powerpoint/2010/main" val="680342524"/>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1408</TotalTime>
  <Words>2204</Words>
  <Application>Microsoft Office PowerPoint</Application>
  <PresentationFormat>Panorámica</PresentationFormat>
  <Paragraphs>350</Paragraphs>
  <Slides>44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44</vt:i4>
      </vt:variant>
    </vt:vector>
  </HeadingPairs>
  <TitlesOfParts>
    <vt:vector size="50" baseType="lpstr">
      <vt:lpstr>Arial</vt:lpstr>
      <vt:lpstr>Calibri</vt:lpstr>
      <vt:lpstr>Trebuchet MS</vt:lpstr>
      <vt:lpstr>Wingdings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Windows User</dc:creator>
  <cp:lastModifiedBy>ivan alarcon avila</cp:lastModifiedBy>
  <cp:revision>192</cp:revision>
  <dcterms:created xsi:type="dcterms:W3CDTF">2018-08-08T12:55:57Z</dcterms:created>
  <dcterms:modified xsi:type="dcterms:W3CDTF">2024-03-21T12:33:22Z</dcterms:modified>
</cp:coreProperties>
</file>
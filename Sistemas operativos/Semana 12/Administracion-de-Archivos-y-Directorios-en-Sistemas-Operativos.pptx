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4630400" cy="8229600"/>
  <p:notesSz cx="8229600" cy="14630400"/>
  <p:embeddedFontLst>
    <p:embeddedFont>
      <p:font typeface="Bitter Medium"/>
      <p:regular r:id="rId34"/>
    </p:embeddedFont>
    <p:embeddedFont>
      <p:font typeface="Bitter Medium"/>
      <p:regular r:id="rId35"/>
    </p:embeddedFont>
    <p:embeddedFont>
      <p:font typeface="Bitter Medium"/>
      <p:regular r:id="rId36"/>
    </p:embeddedFont>
    <p:embeddedFont>
      <p:font typeface="Bitter Medium"/>
      <p:regular r:id="rId37"/>
    </p:embeddedFont>
    <p:embeddedFont>
      <p:font typeface="Open Sans"/>
      <p:regular r:id="rId38"/>
    </p:embeddedFont>
    <p:embeddedFont>
      <p:font typeface="Open Sans"/>
      <p:regular r:id="rId39"/>
    </p:embeddedFont>
    <p:embeddedFont>
      <p:font typeface="Open Sans"/>
      <p:regular r:id="rId40"/>
    </p:embeddedFont>
    <p:embeddedFont>
      <p:font typeface="Open Sans"/>
      <p:regular r:id="rId4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3-1.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4-1.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5-1.pn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6-1.pn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7-1.pn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8.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slideLayout" Target="../slideLayouts/slideLayout9.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slideLayout" Target="../slideLayouts/slideLayout1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image" Target="../media/image-17-9.png"/><Relationship Id="rId10" Type="http://schemas.openxmlformats.org/officeDocument/2006/relationships/slideLayout" Target="../slideLayouts/slideLayout18.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svg"/><Relationship Id="rId13" Type="http://schemas.openxmlformats.org/officeDocument/2006/relationships/slideLayout" Target="../slideLayouts/slideLayout19.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image" Target="../media/image-24-5.png"/><Relationship Id="rId6" Type="http://schemas.openxmlformats.org/officeDocument/2006/relationships/image" Target="../media/image-24-6.svg"/><Relationship Id="rId7" Type="http://schemas.openxmlformats.org/officeDocument/2006/relationships/image" Target="../media/image-24-7.png"/><Relationship Id="rId8" Type="http://schemas.openxmlformats.org/officeDocument/2006/relationships/slideLayout" Target="../slideLayouts/slideLayout25.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8.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00099"/>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Administración de Archivos y Directorios en Sistemas Operativos</a:t>
            </a:r>
            <a:endParaRPr lang="en-US" sz="4450" dirty="0"/>
          </a:p>
        </p:txBody>
      </p:sp>
      <p:sp>
        <p:nvSpPr>
          <p:cNvPr id="4" name="Text 1"/>
          <p:cNvSpPr/>
          <p:nvPr/>
        </p:nvSpPr>
        <p:spPr>
          <a:xfrm>
            <a:off x="6280190" y="5166598"/>
            <a:ext cx="75564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1638" y="566976"/>
            <a:ext cx="7750493" cy="644366"/>
          </a:xfrm>
          <a:prstGeom prst="rect">
            <a:avLst/>
          </a:prstGeom>
          <a:noFill/>
          <a:ln/>
        </p:spPr>
        <p:txBody>
          <a:bodyPr wrap="none" lIns="0" tIns="0" rIns="0" bIns="0" rtlCol="0" anchor="t"/>
          <a:lstStyle/>
          <a:p>
            <a:pPr algn="l" indent="0" marL="0">
              <a:lnSpc>
                <a:spcPts val="5050"/>
              </a:lnSpc>
              <a:buNone/>
            </a:pPr>
            <a:r>
              <a:rPr lang="en-US" sz="4050" dirty="0">
                <a:solidFill>
                  <a:srgbClr val="2C3F42"/>
                </a:solidFill>
                <a:latin typeface="Bitter Medium" pitchFamily="34" charset="0"/>
                <a:ea typeface="Bitter Medium" pitchFamily="34" charset="-122"/>
                <a:cs typeface="Bitter Medium" pitchFamily="34" charset="-120"/>
              </a:rPr>
              <a:t>¿Qué es un Sistema de Archivos?</a:t>
            </a:r>
            <a:endParaRPr lang="en-US" sz="4050" dirty="0"/>
          </a:p>
        </p:txBody>
      </p:sp>
      <p:sp>
        <p:nvSpPr>
          <p:cNvPr id="3" name="Text 1"/>
          <p:cNvSpPr/>
          <p:nvPr/>
        </p:nvSpPr>
        <p:spPr>
          <a:xfrm>
            <a:off x="721638" y="1706047"/>
            <a:ext cx="6342102" cy="989767"/>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Un </a:t>
            </a:r>
            <a:pPr algn="l" indent="0" marL="0">
              <a:lnSpc>
                <a:spcPts val="2550"/>
              </a:lnSpc>
              <a:buNone/>
            </a:pPr>
            <a:r>
              <a:rPr lang="en-US" sz="1600" b="1" dirty="0">
                <a:solidFill>
                  <a:srgbClr val="2B2E3C"/>
                </a:solidFill>
                <a:latin typeface="Open Sans" pitchFamily="34" charset="0"/>
                <a:ea typeface="Open Sans" pitchFamily="34" charset="-122"/>
                <a:cs typeface="Open Sans" pitchFamily="34" charset="-120"/>
              </a:rPr>
              <a:t>sistema de archivos</a:t>
            </a:r>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 es una estructura organizada que permite almacenar, crear y gestionar archivos en diferentes formatos dentro de dispositivos de almacenamiento.</a:t>
            </a:r>
            <a:endParaRPr lang="en-US" sz="1600" dirty="0"/>
          </a:p>
        </p:txBody>
      </p:sp>
      <p:sp>
        <p:nvSpPr>
          <p:cNvPr id="4" name="Text 2"/>
          <p:cNvSpPr/>
          <p:nvPr/>
        </p:nvSpPr>
        <p:spPr>
          <a:xfrm>
            <a:off x="721638" y="2881313"/>
            <a:ext cx="6342102" cy="659844"/>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Proporciona la base fundamental para que usuarios y aplicaciones puedan:</a:t>
            </a:r>
            <a:endParaRPr lang="en-US" sz="1600" dirty="0"/>
          </a:p>
        </p:txBody>
      </p:sp>
      <p:sp>
        <p:nvSpPr>
          <p:cNvPr id="5" name="Text 3"/>
          <p:cNvSpPr/>
          <p:nvPr/>
        </p:nvSpPr>
        <p:spPr>
          <a:xfrm>
            <a:off x="721638" y="3726656"/>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Crear y eliminar archivos</a:t>
            </a:r>
            <a:endParaRPr lang="en-US" sz="1600" dirty="0"/>
          </a:p>
        </p:txBody>
      </p:sp>
      <p:sp>
        <p:nvSpPr>
          <p:cNvPr id="6" name="Text 4"/>
          <p:cNvSpPr/>
          <p:nvPr/>
        </p:nvSpPr>
        <p:spPr>
          <a:xfrm>
            <a:off x="721638" y="4128730"/>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Organizar información de forma persistente</a:t>
            </a:r>
            <a:endParaRPr lang="en-US" sz="1600" dirty="0"/>
          </a:p>
        </p:txBody>
      </p:sp>
      <p:sp>
        <p:nvSpPr>
          <p:cNvPr id="7" name="Text 5"/>
          <p:cNvSpPr/>
          <p:nvPr/>
        </p:nvSpPr>
        <p:spPr>
          <a:xfrm>
            <a:off x="721638" y="4530804"/>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Gestionar permisos y privacidad</a:t>
            </a:r>
            <a:endParaRPr lang="en-US" sz="1600" dirty="0"/>
          </a:p>
        </p:txBody>
      </p:sp>
      <p:sp>
        <p:nvSpPr>
          <p:cNvPr id="8" name="Text 6"/>
          <p:cNvSpPr/>
          <p:nvPr/>
        </p:nvSpPr>
        <p:spPr>
          <a:xfrm>
            <a:off x="721638" y="4932878"/>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Optimizar el acceso a los datos</a:t>
            </a:r>
            <a:endParaRPr lang="en-US" sz="1600" dirty="0"/>
          </a:p>
        </p:txBody>
      </p:sp>
      <p:pic>
        <p:nvPicPr>
          <p:cNvPr id="9"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900118"/>
            <a:ext cx="10845165"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Gestión del Almacenamiento Secundario</a:t>
            </a:r>
            <a:endParaRPr lang="en-US" sz="4450" dirty="0"/>
          </a:p>
        </p:txBody>
      </p:sp>
      <p:sp>
        <p:nvSpPr>
          <p:cNvPr id="3" name="Text 1"/>
          <p:cNvSpPr/>
          <p:nvPr/>
        </p:nvSpPr>
        <p:spPr>
          <a:xfrm>
            <a:off x="793790" y="306252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Permite guardar datos de forma </a:t>
            </a:r>
            <a:pPr algn="l" indent="0" marL="0">
              <a:lnSpc>
                <a:spcPts val="2850"/>
              </a:lnSpc>
              <a:buNone/>
            </a:pPr>
            <a:r>
              <a:rPr lang="en-US" sz="1750" b="1" dirty="0">
                <a:solidFill>
                  <a:srgbClr val="2B2E3C"/>
                </a:solidFill>
                <a:latin typeface="Open Sans" pitchFamily="34" charset="0"/>
                <a:ea typeface="Open Sans" pitchFamily="34" charset="-122"/>
                <a:cs typeface="Open Sans" pitchFamily="34" charset="-120"/>
              </a:rPr>
              <a:t>permanente</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(discos magnéticos, cintas, discos ópticos).</a:t>
            </a:r>
            <a:endParaRPr lang="en-US" sz="1750" dirty="0"/>
          </a:p>
        </p:txBody>
      </p:sp>
      <p:sp>
        <p:nvSpPr>
          <p:cNvPr id="4" name="Shape 2"/>
          <p:cNvSpPr/>
          <p:nvPr/>
        </p:nvSpPr>
        <p:spPr>
          <a:xfrm>
            <a:off x="793790" y="3680579"/>
            <a:ext cx="13042821" cy="2648783"/>
          </a:xfrm>
          <a:prstGeom prst="roundRect">
            <a:avLst>
              <a:gd name="adj" fmla="val 3597"/>
            </a:avLst>
          </a:prstGeom>
          <a:solidFill>
            <a:srgbClr val="FCE2CF"/>
          </a:solidFill>
          <a:ln w="7620">
            <a:solidFill>
              <a:srgbClr val="E2C8B5"/>
            </a:solidFill>
            <a:prstDash val="solid"/>
          </a:ln>
        </p:spPr>
      </p:sp>
      <p:sp>
        <p:nvSpPr>
          <p:cNvPr id="5" name="Text 3"/>
          <p:cNvSpPr/>
          <p:nvPr/>
        </p:nvSpPr>
        <p:spPr>
          <a:xfrm>
            <a:off x="1028224" y="3915013"/>
            <a:ext cx="3944779"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Estructura física de los discos:</a:t>
            </a:r>
            <a:endParaRPr lang="en-US" sz="2200" dirty="0"/>
          </a:p>
        </p:txBody>
      </p:sp>
      <p:sp>
        <p:nvSpPr>
          <p:cNvPr id="6" name="Text 4"/>
          <p:cNvSpPr/>
          <p:nvPr/>
        </p:nvSpPr>
        <p:spPr>
          <a:xfrm>
            <a:off x="1028224" y="4405432"/>
            <a:ext cx="12573953"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Pistas</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 círculos concéntricos donde se almacenan los datos.</a:t>
            </a:r>
            <a:endParaRPr lang="en-US" sz="1750" dirty="0"/>
          </a:p>
        </p:txBody>
      </p:sp>
      <p:sp>
        <p:nvSpPr>
          <p:cNvPr id="7" name="Text 5"/>
          <p:cNvSpPr/>
          <p:nvPr/>
        </p:nvSpPr>
        <p:spPr>
          <a:xfrm>
            <a:off x="1028224" y="4847630"/>
            <a:ext cx="12573953"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Sectores</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 división de pistas, son la unidad mínima de almacenamiento.</a:t>
            </a:r>
            <a:endParaRPr lang="en-US" sz="1750" dirty="0"/>
          </a:p>
        </p:txBody>
      </p:sp>
      <p:sp>
        <p:nvSpPr>
          <p:cNvPr id="8" name="Text 6"/>
          <p:cNvSpPr/>
          <p:nvPr/>
        </p:nvSpPr>
        <p:spPr>
          <a:xfrm>
            <a:off x="1028224" y="5289828"/>
            <a:ext cx="12573953"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Cilindros</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 conjunto de pistas alineadas en varios platos.</a:t>
            </a:r>
            <a:endParaRPr lang="en-US" sz="1750" dirty="0"/>
          </a:p>
        </p:txBody>
      </p:sp>
      <p:sp>
        <p:nvSpPr>
          <p:cNvPr id="9" name="Text 7"/>
          <p:cNvSpPr/>
          <p:nvPr/>
        </p:nvSpPr>
        <p:spPr>
          <a:xfrm>
            <a:off x="1028224" y="5732026"/>
            <a:ext cx="12573953"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2B2E3C"/>
                </a:solidFill>
                <a:latin typeface="Open Sans" pitchFamily="34" charset="0"/>
                <a:ea typeface="Open Sans" pitchFamily="34" charset="-122"/>
                <a:cs typeface="Open Sans" pitchFamily="34" charset="-120"/>
              </a:rPr>
              <a:t>Platos</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 superficies giratorias con </a:t>
            </a:r>
            <a:pPr algn="l" indent="0" marL="0">
              <a:lnSpc>
                <a:spcPts val="2850"/>
              </a:lnSpc>
              <a:buNone/>
            </a:pPr>
            <a:r>
              <a:rPr lang="en-US" sz="1750" b="1" dirty="0">
                <a:solidFill>
                  <a:srgbClr val="2B2E3C"/>
                </a:solidFill>
                <a:latin typeface="Open Sans" pitchFamily="34" charset="0"/>
                <a:ea typeface="Open Sans" pitchFamily="34" charset="-122"/>
                <a:cs typeface="Open Sans" pitchFamily="34" charset="-120"/>
              </a:rPr>
              <a:t>cabezas</a:t>
            </a:r>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 lectoras/escritoras.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7474" y="1091922"/>
            <a:ext cx="7184469" cy="667464"/>
          </a:xfrm>
          <a:prstGeom prst="rect">
            <a:avLst/>
          </a:prstGeom>
          <a:noFill/>
          <a:ln/>
        </p:spPr>
        <p:txBody>
          <a:bodyPr wrap="none" lIns="0" tIns="0" rIns="0" bIns="0" rtlCol="0" anchor="t"/>
          <a:lstStyle/>
          <a:p>
            <a:pPr algn="l" indent="0" marL="0">
              <a:lnSpc>
                <a:spcPts val="5250"/>
              </a:lnSpc>
              <a:buNone/>
            </a:pPr>
            <a:r>
              <a:rPr lang="en-US" sz="4200" dirty="0">
                <a:solidFill>
                  <a:srgbClr val="2C3F42"/>
                </a:solidFill>
                <a:latin typeface="Bitter Medium" pitchFamily="34" charset="0"/>
                <a:ea typeface="Bitter Medium" pitchFamily="34" charset="-122"/>
                <a:cs typeface="Bitter Medium" pitchFamily="34" charset="-120"/>
              </a:rPr>
              <a:t>Tiempos de Acceso en Discos</a:t>
            </a:r>
            <a:endParaRPr lang="en-US" sz="4200" dirty="0"/>
          </a:p>
        </p:txBody>
      </p:sp>
      <p:pic>
        <p:nvPicPr>
          <p:cNvPr id="4" name="Image 1" descr="preencoded.png">    </p:cNvPr>
          <p:cNvPicPr>
            <a:picLocks noChangeAspect="1"/>
          </p:cNvPicPr>
          <p:nvPr/>
        </p:nvPicPr>
        <p:blipFill>
          <a:blip r:embed="rId2"/>
          <a:stretch>
            <a:fillRect/>
          </a:stretch>
        </p:blipFill>
        <p:spPr>
          <a:xfrm>
            <a:off x="747474" y="2079665"/>
            <a:ext cx="1067872" cy="1572101"/>
          </a:xfrm>
          <a:prstGeom prst="rect">
            <a:avLst/>
          </a:prstGeom>
        </p:spPr>
      </p:pic>
      <p:sp>
        <p:nvSpPr>
          <p:cNvPr id="5" name="Text 1"/>
          <p:cNvSpPr/>
          <p:nvPr/>
        </p:nvSpPr>
        <p:spPr>
          <a:xfrm>
            <a:off x="2028825" y="2293144"/>
            <a:ext cx="2669619" cy="333613"/>
          </a:xfrm>
          <a:prstGeom prst="rect">
            <a:avLst/>
          </a:prstGeom>
          <a:noFill/>
          <a:ln/>
        </p:spPr>
        <p:txBody>
          <a:bodyPr wrap="none" lIns="0" tIns="0" rIns="0" bIns="0" rtlCol="0" anchor="t"/>
          <a:lstStyle/>
          <a:p>
            <a:pPr algn="l" indent="0" marL="0">
              <a:lnSpc>
                <a:spcPts val="2600"/>
              </a:lnSpc>
              <a:buNone/>
            </a:pPr>
            <a:r>
              <a:rPr lang="en-US" sz="2100" dirty="0">
                <a:solidFill>
                  <a:srgbClr val="2B2E3C"/>
                </a:solidFill>
                <a:latin typeface="Bitter Medium" pitchFamily="34" charset="0"/>
                <a:ea typeface="Bitter Medium" pitchFamily="34" charset="-122"/>
                <a:cs typeface="Bitter Medium" pitchFamily="34" charset="-120"/>
              </a:rPr>
              <a:t>Tiempo de Búsqueda</a:t>
            </a:r>
            <a:endParaRPr lang="en-US" sz="2100" dirty="0"/>
          </a:p>
        </p:txBody>
      </p:sp>
      <p:sp>
        <p:nvSpPr>
          <p:cNvPr id="6" name="Text 2"/>
          <p:cNvSpPr/>
          <p:nvPr/>
        </p:nvSpPr>
        <p:spPr>
          <a:xfrm>
            <a:off x="2028825" y="2754868"/>
            <a:ext cx="6367701" cy="683419"/>
          </a:xfrm>
          <a:prstGeom prst="rect">
            <a:avLst/>
          </a:prstGeom>
          <a:noFill/>
          <a:ln/>
        </p:spPr>
        <p:txBody>
          <a:bodyPr wrap="square" lIns="0" tIns="0" rIns="0" bIns="0" rtlCol="0" anchor="t"/>
          <a:lstStyle/>
          <a:p>
            <a:pPr algn="l" indent="0" marL="0">
              <a:lnSpc>
                <a:spcPts val="2650"/>
              </a:lnSpc>
              <a:buNone/>
            </a:pPr>
            <a:r>
              <a:rPr lang="en-US" sz="1650" dirty="0">
                <a:solidFill>
                  <a:srgbClr val="2B2E3C"/>
                </a:solidFill>
                <a:latin typeface="Open Sans" pitchFamily="34" charset="0"/>
                <a:ea typeface="Open Sans" pitchFamily="34" charset="-122"/>
                <a:cs typeface="Open Sans" pitchFamily="34" charset="-120"/>
              </a:rPr>
              <a:t>Duración necesaria para que la cabeza se desplace de una pista a otra, dependiendo de la distancia entre posiciones.</a:t>
            </a:r>
            <a:endParaRPr lang="en-US" sz="1650" dirty="0"/>
          </a:p>
        </p:txBody>
      </p:sp>
      <p:pic>
        <p:nvPicPr>
          <p:cNvPr id="7" name="Image 2" descr="preencoded.png">    </p:cNvPr>
          <p:cNvPicPr>
            <a:picLocks noChangeAspect="1"/>
          </p:cNvPicPr>
          <p:nvPr/>
        </p:nvPicPr>
        <p:blipFill>
          <a:blip r:embed="rId3"/>
          <a:stretch>
            <a:fillRect/>
          </a:stretch>
        </p:blipFill>
        <p:spPr>
          <a:xfrm>
            <a:off x="747474" y="3651766"/>
            <a:ext cx="1067872" cy="1572101"/>
          </a:xfrm>
          <a:prstGeom prst="rect">
            <a:avLst/>
          </a:prstGeom>
        </p:spPr>
      </p:pic>
      <p:sp>
        <p:nvSpPr>
          <p:cNvPr id="8" name="Text 3"/>
          <p:cNvSpPr/>
          <p:nvPr/>
        </p:nvSpPr>
        <p:spPr>
          <a:xfrm>
            <a:off x="2028825" y="3865245"/>
            <a:ext cx="2669619" cy="333613"/>
          </a:xfrm>
          <a:prstGeom prst="rect">
            <a:avLst/>
          </a:prstGeom>
          <a:noFill/>
          <a:ln/>
        </p:spPr>
        <p:txBody>
          <a:bodyPr wrap="none" lIns="0" tIns="0" rIns="0" bIns="0" rtlCol="0" anchor="t"/>
          <a:lstStyle/>
          <a:p>
            <a:pPr algn="l" indent="0" marL="0">
              <a:lnSpc>
                <a:spcPts val="2600"/>
              </a:lnSpc>
              <a:buNone/>
            </a:pPr>
            <a:r>
              <a:rPr lang="en-US" sz="2100" dirty="0">
                <a:solidFill>
                  <a:srgbClr val="2B2E3C"/>
                </a:solidFill>
                <a:latin typeface="Bitter Medium" pitchFamily="34" charset="0"/>
                <a:ea typeface="Bitter Medium" pitchFamily="34" charset="-122"/>
                <a:cs typeface="Bitter Medium" pitchFamily="34" charset="-120"/>
              </a:rPr>
              <a:t>Tiempo de Latencia</a:t>
            </a:r>
            <a:endParaRPr lang="en-US" sz="2100" dirty="0"/>
          </a:p>
        </p:txBody>
      </p:sp>
      <p:sp>
        <p:nvSpPr>
          <p:cNvPr id="9" name="Text 4"/>
          <p:cNvSpPr/>
          <p:nvPr/>
        </p:nvSpPr>
        <p:spPr>
          <a:xfrm>
            <a:off x="2028825" y="4326969"/>
            <a:ext cx="6367701" cy="683419"/>
          </a:xfrm>
          <a:prstGeom prst="rect">
            <a:avLst/>
          </a:prstGeom>
          <a:noFill/>
          <a:ln/>
        </p:spPr>
        <p:txBody>
          <a:bodyPr wrap="square" lIns="0" tIns="0" rIns="0" bIns="0" rtlCol="0" anchor="t"/>
          <a:lstStyle/>
          <a:p>
            <a:pPr algn="l" indent="0" marL="0">
              <a:lnSpc>
                <a:spcPts val="2650"/>
              </a:lnSpc>
              <a:buNone/>
            </a:pPr>
            <a:r>
              <a:rPr lang="en-US" sz="1650" dirty="0">
                <a:solidFill>
                  <a:srgbClr val="2B2E3C"/>
                </a:solidFill>
                <a:latin typeface="Open Sans" pitchFamily="34" charset="0"/>
                <a:ea typeface="Open Sans" pitchFamily="34" charset="-122"/>
                <a:cs typeface="Open Sans" pitchFamily="34" charset="-120"/>
              </a:rPr>
              <a:t>Intervalo requerido para que la cabeza pase del sector actual al sector deseado, influenciado por la velocidad de rotación.</a:t>
            </a:r>
            <a:endParaRPr lang="en-US" sz="1650" dirty="0"/>
          </a:p>
        </p:txBody>
      </p:sp>
      <p:pic>
        <p:nvPicPr>
          <p:cNvPr id="10" name="Image 3" descr="preencoded.png">    </p:cNvPr>
          <p:cNvPicPr>
            <a:picLocks noChangeAspect="1"/>
          </p:cNvPicPr>
          <p:nvPr/>
        </p:nvPicPr>
        <p:blipFill>
          <a:blip r:embed="rId4"/>
          <a:stretch>
            <a:fillRect/>
          </a:stretch>
        </p:blipFill>
        <p:spPr>
          <a:xfrm>
            <a:off x="747474" y="5223867"/>
            <a:ext cx="1067872" cy="1913811"/>
          </a:xfrm>
          <a:prstGeom prst="rect">
            <a:avLst/>
          </a:prstGeom>
        </p:spPr>
      </p:pic>
      <p:sp>
        <p:nvSpPr>
          <p:cNvPr id="11" name="Text 5"/>
          <p:cNvSpPr/>
          <p:nvPr/>
        </p:nvSpPr>
        <p:spPr>
          <a:xfrm>
            <a:off x="2028825" y="5437346"/>
            <a:ext cx="2669619" cy="333613"/>
          </a:xfrm>
          <a:prstGeom prst="rect">
            <a:avLst/>
          </a:prstGeom>
          <a:noFill/>
          <a:ln/>
        </p:spPr>
        <p:txBody>
          <a:bodyPr wrap="none" lIns="0" tIns="0" rIns="0" bIns="0" rtlCol="0" anchor="t"/>
          <a:lstStyle/>
          <a:p>
            <a:pPr algn="l" indent="0" marL="0">
              <a:lnSpc>
                <a:spcPts val="2600"/>
              </a:lnSpc>
              <a:buNone/>
            </a:pPr>
            <a:r>
              <a:rPr lang="en-US" sz="2100" dirty="0">
                <a:solidFill>
                  <a:srgbClr val="2B2E3C"/>
                </a:solidFill>
                <a:latin typeface="Bitter Medium" pitchFamily="34" charset="0"/>
                <a:ea typeface="Bitter Medium" pitchFamily="34" charset="-122"/>
                <a:cs typeface="Bitter Medium" pitchFamily="34" charset="-120"/>
              </a:rPr>
              <a:t>Optimización</a:t>
            </a:r>
            <a:endParaRPr lang="en-US" sz="2100" dirty="0"/>
          </a:p>
        </p:txBody>
      </p:sp>
      <p:sp>
        <p:nvSpPr>
          <p:cNvPr id="12" name="Text 6"/>
          <p:cNvSpPr/>
          <p:nvPr/>
        </p:nvSpPr>
        <p:spPr>
          <a:xfrm>
            <a:off x="2028825" y="5899071"/>
            <a:ext cx="6367701" cy="1025128"/>
          </a:xfrm>
          <a:prstGeom prst="rect">
            <a:avLst/>
          </a:prstGeom>
          <a:noFill/>
          <a:ln/>
        </p:spPr>
        <p:txBody>
          <a:bodyPr wrap="square" lIns="0" tIns="0" rIns="0" bIns="0" rtlCol="0" anchor="t"/>
          <a:lstStyle/>
          <a:p>
            <a:pPr algn="l" indent="0" marL="0">
              <a:lnSpc>
                <a:spcPts val="2650"/>
              </a:lnSpc>
              <a:buNone/>
            </a:pPr>
            <a:r>
              <a:rPr lang="en-US" sz="1650" dirty="0">
                <a:solidFill>
                  <a:srgbClr val="2B2E3C"/>
                </a:solidFill>
                <a:latin typeface="Open Sans" pitchFamily="34" charset="0"/>
                <a:ea typeface="Open Sans" pitchFamily="34" charset="-122"/>
                <a:cs typeface="Open Sans" pitchFamily="34" charset="-120"/>
              </a:rPr>
              <a:t>Los algoritmos de planificación minimizan estos tiempos mediante estrategias inteligentes de ordenamiento de peticiones.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51153"/>
            <a:ext cx="10926842"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Algoritmos de Planificación de Peticiones</a:t>
            </a:r>
            <a:endParaRPr lang="en-US" sz="4450" dirty="0"/>
          </a:p>
        </p:txBody>
      </p:sp>
      <p:sp>
        <p:nvSpPr>
          <p:cNvPr id="3" name="Text 1"/>
          <p:cNvSpPr/>
          <p:nvPr/>
        </p:nvSpPr>
        <p:spPr>
          <a:xfrm>
            <a:off x="793790" y="1813560"/>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Estos algoritmos optimizan el orden de las operaciones de lectura y escritura para minimizar el movimiento del brazo del disco.</a:t>
            </a:r>
            <a:endParaRPr lang="en-US" sz="1750" dirty="0"/>
          </a:p>
        </p:txBody>
      </p:sp>
      <p:sp>
        <p:nvSpPr>
          <p:cNvPr id="4" name="Text 2"/>
          <p:cNvSpPr/>
          <p:nvPr/>
        </p:nvSpPr>
        <p:spPr>
          <a:xfrm>
            <a:off x="793790" y="2794516"/>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Bitter Light" pitchFamily="34" charset="0"/>
                <a:ea typeface="Bitter Light" pitchFamily="34" charset="-122"/>
                <a:cs typeface="Bitter Light" pitchFamily="34" charset="-120"/>
              </a:rPr>
              <a:t>01</a:t>
            </a:r>
            <a:endParaRPr lang="en-US" sz="1750" dirty="0"/>
          </a:p>
        </p:txBody>
      </p:sp>
      <p:sp>
        <p:nvSpPr>
          <p:cNvPr id="5" name="Shape 3"/>
          <p:cNvSpPr/>
          <p:nvPr/>
        </p:nvSpPr>
        <p:spPr>
          <a:xfrm>
            <a:off x="793790" y="3149560"/>
            <a:ext cx="6407944" cy="30480"/>
          </a:xfrm>
          <a:prstGeom prst="rect">
            <a:avLst/>
          </a:prstGeom>
          <a:solidFill>
            <a:srgbClr val="D2600F"/>
          </a:solidFill>
          <a:ln/>
        </p:spPr>
      </p:sp>
      <p:sp>
        <p:nvSpPr>
          <p:cNvPr id="6" name="Text 4"/>
          <p:cNvSpPr/>
          <p:nvPr/>
        </p:nvSpPr>
        <p:spPr>
          <a:xfrm>
            <a:off x="793790" y="3323868"/>
            <a:ext cx="3216593"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FIFO (Primero en Llegar)</a:t>
            </a:r>
            <a:endParaRPr lang="en-US" sz="2200" dirty="0"/>
          </a:p>
        </p:txBody>
      </p:sp>
      <p:sp>
        <p:nvSpPr>
          <p:cNvPr id="7" name="Text 5"/>
          <p:cNvSpPr/>
          <p:nvPr/>
        </p:nvSpPr>
        <p:spPr>
          <a:xfrm>
            <a:off x="793790" y="3814286"/>
            <a:ext cx="6407944"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Las peticiones se procesan en orden de llegada. Simple pero ineficiente al no considerar la posición física de los sectores.</a:t>
            </a:r>
            <a:endParaRPr lang="en-US" sz="1750" dirty="0"/>
          </a:p>
        </p:txBody>
      </p:sp>
      <p:sp>
        <p:nvSpPr>
          <p:cNvPr id="8" name="Text 6"/>
          <p:cNvSpPr/>
          <p:nvPr/>
        </p:nvSpPr>
        <p:spPr>
          <a:xfrm>
            <a:off x="7428548" y="2794516"/>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Bitter Light" pitchFamily="34" charset="0"/>
                <a:ea typeface="Bitter Light" pitchFamily="34" charset="-122"/>
                <a:cs typeface="Bitter Light" pitchFamily="34" charset="-120"/>
              </a:rPr>
              <a:t>02</a:t>
            </a:r>
            <a:endParaRPr lang="en-US" sz="1750" dirty="0"/>
          </a:p>
        </p:txBody>
      </p:sp>
      <p:sp>
        <p:nvSpPr>
          <p:cNvPr id="9" name="Shape 7"/>
          <p:cNvSpPr/>
          <p:nvPr/>
        </p:nvSpPr>
        <p:spPr>
          <a:xfrm>
            <a:off x="7428548" y="3149560"/>
            <a:ext cx="6408063" cy="30480"/>
          </a:xfrm>
          <a:prstGeom prst="rect">
            <a:avLst/>
          </a:prstGeom>
          <a:solidFill>
            <a:srgbClr val="D2600F"/>
          </a:solidFill>
          <a:ln/>
        </p:spPr>
      </p:sp>
      <p:sp>
        <p:nvSpPr>
          <p:cNvPr id="10" name="Text 8"/>
          <p:cNvSpPr/>
          <p:nvPr/>
        </p:nvSpPr>
        <p:spPr>
          <a:xfrm>
            <a:off x="7428548" y="332386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Más Cercano Primero</a:t>
            </a:r>
            <a:endParaRPr lang="en-US" sz="2200" dirty="0"/>
          </a:p>
        </p:txBody>
      </p:sp>
      <p:sp>
        <p:nvSpPr>
          <p:cNvPr id="11" name="Text 9"/>
          <p:cNvSpPr/>
          <p:nvPr/>
        </p:nvSpPr>
        <p:spPr>
          <a:xfrm>
            <a:off x="7428548" y="3814286"/>
            <a:ext cx="6408063"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Prioriza peticiones próximas a la posición actual de la cabeza, reduciendo movimientos pero puede causar una espera indefinida.</a:t>
            </a:r>
            <a:endParaRPr lang="en-US" sz="1750" dirty="0"/>
          </a:p>
        </p:txBody>
      </p:sp>
      <p:sp>
        <p:nvSpPr>
          <p:cNvPr id="12" name="Text 10"/>
          <p:cNvSpPr/>
          <p:nvPr/>
        </p:nvSpPr>
        <p:spPr>
          <a:xfrm>
            <a:off x="793790" y="529982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Bitter Light" pitchFamily="34" charset="0"/>
                <a:ea typeface="Bitter Light" pitchFamily="34" charset="-122"/>
                <a:cs typeface="Bitter Light" pitchFamily="34" charset="-120"/>
              </a:rPr>
              <a:t>03</a:t>
            </a:r>
            <a:endParaRPr lang="en-US" sz="1750" dirty="0"/>
          </a:p>
        </p:txBody>
      </p:sp>
      <p:sp>
        <p:nvSpPr>
          <p:cNvPr id="13" name="Shape 11"/>
          <p:cNvSpPr/>
          <p:nvPr/>
        </p:nvSpPr>
        <p:spPr>
          <a:xfrm>
            <a:off x="793790" y="5654873"/>
            <a:ext cx="6407944" cy="30480"/>
          </a:xfrm>
          <a:prstGeom prst="rect">
            <a:avLst/>
          </a:prstGeom>
          <a:solidFill>
            <a:srgbClr val="D2600F"/>
          </a:solidFill>
          <a:ln/>
        </p:spPr>
      </p:sp>
      <p:sp>
        <p:nvSpPr>
          <p:cNvPr id="14" name="Text 12"/>
          <p:cNvSpPr/>
          <p:nvPr/>
        </p:nvSpPr>
        <p:spPr>
          <a:xfrm>
            <a:off x="793790" y="5829181"/>
            <a:ext cx="3039189"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Algoritmo del Elevador</a:t>
            </a:r>
            <a:endParaRPr lang="en-US" sz="2200" dirty="0"/>
          </a:p>
        </p:txBody>
      </p:sp>
      <p:sp>
        <p:nvSpPr>
          <p:cNvPr id="15" name="Text 13"/>
          <p:cNvSpPr/>
          <p:nvPr/>
        </p:nvSpPr>
        <p:spPr>
          <a:xfrm>
            <a:off x="793790" y="6319599"/>
            <a:ext cx="6407944"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El brazo se mueve continuamente entre extremos, atendiendo peticiones en su trayectoria actual antes de cambiar dirección.</a:t>
            </a:r>
            <a:endParaRPr lang="en-US" sz="1750" dirty="0"/>
          </a:p>
        </p:txBody>
      </p:sp>
      <p:sp>
        <p:nvSpPr>
          <p:cNvPr id="16" name="Text 14"/>
          <p:cNvSpPr/>
          <p:nvPr/>
        </p:nvSpPr>
        <p:spPr>
          <a:xfrm>
            <a:off x="7428548" y="5299829"/>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Bitter Light" pitchFamily="34" charset="0"/>
                <a:ea typeface="Bitter Light" pitchFamily="34" charset="-122"/>
                <a:cs typeface="Bitter Light" pitchFamily="34" charset="-120"/>
              </a:rPr>
              <a:t>04</a:t>
            </a:r>
            <a:endParaRPr lang="en-US" sz="1750" dirty="0"/>
          </a:p>
        </p:txBody>
      </p:sp>
      <p:sp>
        <p:nvSpPr>
          <p:cNvPr id="17" name="Shape 15"/>
          <p:cNvSpPr/>
          <p:nvPr/>
        </p:nvSpPr>
        <p:spPr>
          <a:xfrm>
            <a:off x="7428548" y="5654873"/>
            <a:ext cx="6408063" cy="30480"/>
          </a:xfrm>
          <a:prstGeom prst="rect">
            <a:avLst/>
          </a:prstGeom>
          <a:solidFill>
            <a:srgbClr val="D2600F"/>
          </a:solidFill>
          <a:ln/>
        </p:spPr>
      </p:sp>
      <p:sp>
        <p:nvSpPr>
          <p:cNvPr id="18" name="Text 16"/>
          <p:cNvSpPr/>
          <p:nvPr/>
        </p:nvSpPr>
        <p:spPr>
          <a:xfrm>
            <a:off x="7428548" y="582918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Exploración Circular</a:t>
            </a:r>
            <a:endParaRPr lang="en-US" sz="2200" dirty="0"/>
          </a:p>
        </p:txBody>
      </p:sp>
      <p:sp>
        <p:nvSpPr>
          <p:cNvPr id="19" name="Text 17"/>
          <p:cNvSpPr/>
          <p:nvPr/>
        </p:nvSpPr>
        <p:spPr>
          <a:xfrm>
            <a:off x="7428548" y="6319599"/>
            <a:ext cx="6408063"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Variación del elevador que regresa al extremo inicial sin atender peticiones, proporcionando tiempos más uniformes.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29997"/>
          </a:xfrm>
          <a:prstGeom prst="rect">
            <a:avLst/>
          </a:prstGeom>
        </p:spPr>
      </p:pic>
      <p:sp>
        <p:nvSpPr>
          <p:cNvPr id="3" name="Text 0"/>
          <p:cNvSpPr/>
          <p:nvPr/>
        </p:nvSpPr>
        <p:spPr>
          <a:xfrm>
            <a:off x="792361" y="3452574"/>
            <a:ext cx="9736455" cy="70746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Organización de Archivos y Registros</a:t>
            </a:r>
            <a:endParaRPr lang="en-US" sz="4450" dirty="0"/>
          </a:p>
        </p:txBody>
      </p:sp>
      <p:sp>
        <p:nvSpPr>
          <p:cNvPr id="4" name="Text 1"/>
          <p:cNvSpPr/>
          <p:nvPr/>
        </p:nvSpPr>
        <p:spPr>
          <a:xfrm>
            <a:off x="792361" y="4499610"/>
            <a:ext cx="13045678" cy="724614"/>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Los archivos están compuestos por registros que pueden organizarse de diferentes maneras según las necesidades del sistema.</a:t>
            </a:r>
            <a:endParaRPr lang="en-US" sz="1750" dirty="0"/>
          </a:p>
        </p:txBody>
      </p:sp>
      <p:sp>
        <p:nvSpPr>
          <p:cNvPr id="5" name="Text 2"/>
          <p:cNvSpPr/>
          <p:nvPr/>
        </p:nvSpPr>
        <p:spPr>
          <a:xfrm>
            <a:off x="792361" y="5705237"/>
            <a:ext cx="3394472" cy="353735"/>
          </a:xfrm>
          <a:prstGeom prst="rect">
            <a:avLst/>
          </a:prstGeom>
          <a:noFill/>
          <a:ln/>
        </p:spPr>
        <p:txBody>
          <a:bodyPr wrap="none" lIns="0" tIns="0" rIns="0" bIns="0" rtlCol="0" anchor="t"/>
          <a:lstStyle/>
          <a:p>
            <a:pPr algn="l" indent="0" marL="0">
              <a:lnSpc>
                <a:spcPts val="2750"/>
              </a:lnSpc>
              <a:buNone/>
            </a:pPr>
            <a:r>
              <a:rPr lang="en-US" sz="2200" dirty="0">
                <a:solidFill>
                  <a:srgbClr val="2C3F42"/>
                </a:solidFill>
                <a:latin typeface="Bitter Medium" pitchFamily="34" charset="0"/>
                <a:ea typeface="Bitter Medium" pitchFamily="34" charset="-122"/>
                <a:cs typeface="Bitter Medium" pitchFamily="34" charset="-120"/>
              </a:rPr>
              <a:t>Registros de Longitud Fija</a:t>
            </a:r>
            <a:endParaRPr lang="en-US" sz="2200" dirty="0"/>
          </a:p>
        </p:txBody>
      </p:sp>
      <p:sp>
        <p:nvSpPr>
          <p:cNvPr id="6" name="Text 3"/>
          <p:cNvSpPr/>
          <p:nvPr/>
        </p:nvSpPr>
        <p:spPr>
          <a:xfrm>
            <a:off x="792361" y="6285309"/>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Fáciles de acceder directamente</a:t>
            </a:r>
            <a:endParaRPr lang="en-US" sz="1750" dirty="0"/>
          </a:p>
        </p:txBody>
      </p:sp>
      <p:sp>
        <p:nvSpPr>
          <p:cNvPr id="7" name="Text 4"/>
          <p:cNvSpPr/>
          <p:nvPr/>
        </p:nvSpPr>
        <p:spPr>
          <a:xfrm>
            <a:off x="792361" y="6726793"/>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Ideales para archivos de datos</a:t>
            </a:r>
            <a:endParaRPr lang="en-US" sz="1750" dirty="0"/>
          </a:p>
        </p:txBody>
      </p:sp>
      <p:sp>
        <p:nvSpPr>
          <p:cNvPr id="8" name="Text 5"/>
          <p:cNvSpPr/>
          <p:nvPr/>
        </p:nvSpPr>
        <p:spPr>
          <a:xfrm>
            <a:off x="792361" y="7168277"/>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Pueden desperdiciar espacio o truncar datos</a:t>
            </a:r>
            <a:endParaRPr lang="en-US" sz="1750" dirty="0"/>
          </a:p>
        </p:txBody>
      </p:sp>
      <p:sp>
        <p:nvSpPr>
          <p:cNvPr id="9" name="Text 6"/>
          <p:cNvSpPr/>
          <p:nvPr/>
        </p:nvSpPr>
        <p:spPr>
          <a:xfrm>
            <a:off x="7598926" y="5705237"/>
            <a:ext cx="4015145" cy="353735"/>
          </a:xfrm>
          <a:prstGeom prst="rect">
            <a:avLst/>
          </a:prstGeom>
          <a:noFill/>
          <a:ln/>
        </p:spPr>
        <p:txBody>
          <a:bodyPr wrap="none" lIns="0" tIns="0" rIns="0" bIns="0" rtlCol="0" anchor="t"/>
          <a:lstStyle/>
          <a:p>
            <a:pPr algn="l" indent="0" marL="0">
              <a:lnSpc>
                <a:spcPts val="2750"/>
              </a:lnSpc>
              <a:buNone/>
            </a:pPr>
            <a:r>
              <a:rPr lang="en-US" sz="2200" dirty="0">
                <a:solidFill>
                  <a:srgbClr val="2C3F42"/>
                </a:solidFill>
                <a:latin typeface="Bitter Medium" pitchFamily="34" charset="0"/>
                <a:ea typeface="Bitter Medium" pitchFamily="34" charset="-122"/>
                <a:cs typeface="Bitter Medium" pitchFamily="34" charset="-120"/>
              </a:rPr>
              <a:t>Registros de Longitud Variable</a:t>
            </a:r>
            <a:endParaRPr lang="en-US" sz="2200" dirty="0"/>
          </a:p>
        </p:txBody>
      </p:sp>
      <p:sp>
        <p:nvSpPr>
          <p:cNvPr id="10" name="Text 7"/>
          <p:cNvSpPr/>
          <p:nvPr/>
        </p:nvSpPr>
        <p:spPr>
          <a:xfrm>
            <a:off x="7598926" y="6285309"/>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Aprovechan eficientemente el espacio</a:t>
            </a:r>
            <a:endParaRPr lang="en-US" sz="1750" dirty="0"/>
          </a:p>
        </p:txBody>
      </p:sp>
      <p:sp>
        <p:nvSpPr>
          <p:cNvPr id="11" name="Text 8"/>
          <p:cNvSpPr/>
          <p:nvPr/>
        </p:nvSpPr>
        <p:spPr>
          <a:xfrm>
            <a:off x="7598926" y="6726793"/>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Perfectos para archivos de texto</a:t>
            </a:r>
            <a:endParaRPr lang="en-US" sz="1750" dirty="0"/>
          </a:p>
        </p:txBody>
      </p:sp>
      <p:sp>
        <p:nvSpPr>
          <p:cNvPr id="12" name="Text 9"/>
          <p:cNvSpPr/>
          <p:nvPr/>
        </p:nvSpPr>
        <p:spPr>
          <a:xfrm>
            <a:off x="7598926" y="7168277"/>
            <a:ext cx="6246733" cy="362307"/>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Complican el acceso directo a registros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51109"/>
            <a:ext cx="7041832"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Métodos de Acceso a Datos</a:t>
            </a:r>
            <a:endParaRPr lang="en-US" sz="4450" dirty="0"/>
          </a:p>
        </p:txBody>
      </p:sp>
      <p:sp>
        <p:nvSpPr>
          <p:cNvPr id="3" name="Text 1"/>
          <p:cNvSpPr/>
          <p:nvPr/>
        </p:nvSpPr>
        <p:spPr>
          <a:xfrm>
            <a:off x="1743789" y="3724989"/>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Acceso Secuencial</a:t>
            </a:r>
            <a:endParaRPr lang="en-US" sz="2200" dirty="0"/>
          </a:p>
        </p:txBody>
      </p:sp>
      <p:sp>
        <p:nvSpPr>
          <p:cNvPr id="4" name="Text 2"/>
          <p:cNvSpPr/>
          <p:nvPr/>
        </p:nvSpPr>
        <p:spPr>
          <a:xfrm>
            <a:off x="793790" y="4215408"/>
            <a:ext cx="3785235" cy="1451610"/>
          </a:xfrm>
          <a:prstGeom prst="rect">
            <a:avLst/>
          </a:prstGeom>
          <a:noFill/>
          <a:ln/>
        </p:spPr>
        <p:txBody>
          <a:bodyPr wrap="square" lIns="0" tIns="0" rIns="0" bIns="0" rtlCol="0" anchor="t"/>
          <a:lstStyle/>
          <a:p>
            <a:pPr algn="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Recorre componentes uno por uno hasta el registro deseado. Método más lento, común en cintas magnéticas.</a:t>
            </a:r>
            <a:endParaRPr lang="en-US" sz="175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5571411" y="4251484"/>
            <a:ext cx="339328" cy="339328"/>
          </a:xfrm>
          <a:prstGeom prst="rect">
            <a:avLst/>
          </a:prstGeom>
        </p:spPr>
      </p:pic>
      <p:sp>
        <p:nvSpPr>
          <p:cNvPr id="7" name="Text 3"/>
          <p:cNvSpPr/>
          <p:nvPr/>
        </p:nvSpPr>
        <p:spPr>
          <a:xfrm>
            <a:off x="9937790" y="249864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Acceso Directo</a:t>
            </a:r>
            <a:endParaRPr lang="en-US" sz="2200" dirty="0"/>
          </a:p>
        </p:txBody>
      </p:sp>
      <p:sp>
        <p:nvSpPr>
          <p:cNvPr id="8" name="Text 4"/>
          <p:cNvSpPr/>
          <p:nvPr/>
        </p:nvSpPr>
        <p:spPr>
          <a:xfrm>
            <a:off x="9937790" y="2989064"/>
            <a:ext cx="3898821" cy="1451610"/>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Permite acceder cualquier sector inmediatamente mediante llamadas como "seek". Rápido y usado en discos duros.</a:t>
            </a:r>
            <a:endParaRPr lang="en-US" sz="1750" dirty="0"/>
          </a:p>
        </p:txBody>
      </p:sp>
      <p:pic>
        <p:nvPicPr>
          <p:cNvPr id="9" name="Image 2" descr="preencoded.png">    </p:cNvPr>
          <p:cNvPicPr>
            <a:picLocks noChangeAspect="1"/>
          </p:cNvPicPr>
          <p:nvPr/>
        </p:nvPicPr>
        <p:blipFill>
          <a:blip r:embed="rId3"/>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70307" y="3300412"/>
            <a:ext cx="339328" cy="339328"/>
          </a:xfrm>
          <a:prstGeom prst="rect">
            <a:avLst/>
          </a:prstGeom>
        </p:spPr>
      </p:pic>
      <p:sp>
        <p:nvSpPr>
          <p:cNvPr id="11" name="Text 5"/>
          <p:cNvSpPr/>
          <p:nvPr/>
        </p:nvSpPr>
        <p:spPr>
          <a:xfrm>
            <a:off x="9937790" y="495121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Acceso Indexado</a:t>
            </a:r>
            <a:endParaRPr lang="en-US" sz="2200" dirty="0"/>
          </a:p>
        </p:txBody>
      </p:sp>
      <p:sp>
        <p:nvSpPr>
          <p:cNvPr id="12" name="Text 6"/>
          <p:cNvSpPr/>
          <p:nvPr/>
        </p:nvSpPr>
        <p:spPr>
          <a:xfrm>
            <a:off x="9937790" y="5441633"/>
            <a:ext cx="3898821" cy="1451610"/>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Utiliza tablas de apuntadores para grandes volúmenes de datos. Consume más recursos pero es extremadamente rápido.</a:t>
            </a:r>
            <a:endParaRPr lang="en-US" sz="1750" dirty="0"/>
          </a:p>
        </p:txBody>
      </p:sp>
      <p:pic>
        <p:nvPicPr>
          <p:cNvPr id="13" name="Image 4" descr="preencoded.png">    </p:cNvPr>
          <p:cNvPicPr>
            <a:picLocks noChangeAspect="1"/>
          </p:cNvPicPr>
          <p:nvPr/>
        </p:nvPicPr>
        <p:blipFill>
          <a:blip r:embed="rId6"/>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4533" y="6026587"/>
            <a:ext cx="339328" cy="3393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5678" y="540187"/>
            <a:ext cx="9887783" cy="594360"/>
          </a:xfrm>
          <a:prstGeom prst="rect">
            <a:avLst/>
          </a:prstGeom>
          <a:noFill/>
          <a:ln/>
        </p:spPr>
        <p:txBody>
          <a:bodyPr wrap="none" lIns="0" tIns="0" rIns="0" bIns="0" rtlCol="0" anchor="t"/>
          <a:lstStyle/>
          <a:p>
            <a:pPr algn="l" indent="0" marL="0">
              <a:lnSpc>
                <a:spcPts val="4650"/>
              </a:lnSpc>
              <a:buNone/>
            </a:pPr>
            <a:r>
              <a:rPr lang="en-US" sz="3700" dirty="0">
                <a:solidFill>
                  <a:srgbClr val="2C3F42"/>
                </a:solidFill>
                <a:latin typeface="Bitter Medium" pitchFamily="34" charset="0"/>
                <a:ea typeface="Bitter Medium" pitchFamily="34" charset="-122"/>
                <a:cs typeface="Bitter Medium" pitchFamily="34" charset="-120"/>
              </a:rPr>
              <a:t>Operaciones Básicas del Sistema de Archivos</a:t>
            </a:r>
            <a:endParaRPr lang="en-US" sz="3700" dirty="0"/>
          </a:p>
        </p:txBody>
      </p:sp>
      <p:sp>
        <p:nvSpPr>
          <p:cNvPr id="3" name="Text 1"/>
          <p:cNvSpPr/>
          <p:nvPr/>
        </p:nvSpPr>
        <p:spPr>
          <a:xfrm>
            <a:off x="665678" y="1514951"/>
            <a:ext cx="13299043" cy="304324"/>
          </a:xfrm>
          <a:prstGeom prst="rect">
            <a:avLst/>
          </a:prstGeom>
          <a:noFill/>
          <a:ln/>
        </p:spPr>
        <p:txBody>
          <a:bodyPr wrap="non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El subsistema de archivos proporciona un conjunto completo de llamadas al sistema para gestionar datos y garantizar seguridad.</a:t>
            </a:r>
            <a:endParaRPr lang="en-US" sz="1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5678" y="2033230"/>
            <a:ext cx="475536" cy="475536"/>
          </a:xfrm>
          <a:prstGeom prst="rect">
            <a:avLst/>
          </a:prstGeom>
        </p:spPr>
      </p:pic>
      <p:sp>
        <p:nvSpPr>
          <p:cNvPr id="5" name="Text 2"/>
          <p:cNvSpPr/>
          <p:nvPr/>
        </p:nvSpPr>
        <p:spPr>
          <a:xfrm>
            <a:off x="665678" y="2746534"/>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Crear y Gestionar</a:t>
            </a:r>
            <a:endParaRPr lang="en-US" sz="1850" dirty="0"/>
          </a:p>
        </p:txBody>
      </p:sp>
      <p:sp>
        <p:nvSpPr>
          <p:cNvPr id="6" name="Text 3"/>
          <p:cNvSpPr/>
          <p:nvPr/>
        </p:nvSpPr>
        <p:spPr>
          <a:xfrm>
            <a:off x="665678" y="3157776"/>
            <a:ext cx="6530578" cy="608648"/>
          </a:xfrm>
          <a:prstGeom prst="rect">
            <a:avLst/>
          </a:prstGeom>
          <a:noFill/>
          <a:ln/>
        </p:spPr>
        <p:txBody>
          <a:bodyPr wrap="square" lIns="0" tIns="0" rIns="0" bIns="0" rtlCol="0" anchor="t"/>
          <a:lstStyle/>
          <a:p>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Crear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archivos vacíos,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borrar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para liberar bloques,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renombrar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para cambiar nombres y ubicaciones en directorios.</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4024" y="2033230"/>
            <a:ext cx="475536" cy="475536"/>
          </a:xfrm>
          <a:prstGeom prst="rect">
            <a:avLst/>
          </a:prstGeom>
        </p:spPr>
      </p:pic>
      <p:sp>
        <p:nvSpPr>
          <p:cNvPr id="8" name="Text 4"/>
          <p:cNvSpPr/>
          <p:nvPr/>
        </p:nvSpPr>
        <p:spPr>
          <a:xfrm>
            <a:off x="7434024" y="2746534"/>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Abrir y Cerrar</a:t>
            </a:r>
            <a:endParaRPr lang="en-US" sz="1850" dirty="0"/>
          </a:p>
        </p:txBody>
      </p:sp>
      <p:sp>
        <p:nvSpPr>
          <p:cNvPr id="9" name="Text 5"/>
          <p:cNvSpPr/>
          <p:nvPr/>
        </p:nvSpPr>
        <p:spPr>
          <a:xfrm>
            <a:off x="7434024" y="3157776"/>
            <a:ext cx="6530697" cy="608648"/>
          </a:xfrm>
          <a:prstGeom prst="rect">
            <a:avLst/>
          </a:prstGeom>
          <a:noFill/>
          <a:ln/>
        </p:spPr>
        <p:txBody>
          <a:bodyPr wrap="square" lIns="0" tIns="0" rIns="0" bIns="0" rtlCol="0" anchor="t"/>
          <a:lstStyle/>
          <a:p>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Abrir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para cargar atributos del archivo,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cerrar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para asegurar integridad y liberar recursos del sistema.</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5678" y="4146828"/>
            <a:ext cx="475536" cy="475536"/>
          </a:xfrm>
          <a:prstGeom prst="rect">
            <a:avLst/>
          </a:prstGeom>
        </p:spPr>
      </p:pic>
      <p:sp>
        <p:nvSpPr>
          <p:cNvPr id="11" name="Text 6"/>
          <p:cNvSpPr/>
          <p:nvPr/>
        </p:nvSpPr>
        <p:spPr>
          <a:xfrm>
            <a:off x="665678" y="4860131"/>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Leer y Escribir</a:t>
            </a:r>
            <a:endParaRPr lang="en-US" sz="1850" dirty="0"/>
          </a:p>
        </p:txBody>
      </p:sp>
      <p:sp>
        <p:nvSpPr>
          <p:cNvPr id="12" name="Text 7"/>
          <p:cNvSpPr/>
          <p:nvPr/>
        </p:nvSpPr>
        <p:spPr>
          <a:xfrm>
            <a:off x="665678" y="5271373"/>
            <a:ext cx="6530578" cy="608648"/>
          </a:xfrm>
          <a:prstGeom prst="rect">
            <a:avLst/>
          </a:prstGeom>
          <a:noFill/>
          <a:ln/>
        </p:spPr>
        <p:txBody>
          <a:bodyPr wrap="square" lIns="0" tIns="0" rIns="0" bIns="0" rtlCol="0" anchor="t"/>
          <a:lstStyle/>
          <a:p>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Leer/escribir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caracteres desde posición actual,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concatenar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al final,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localizar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para acceso aleatorio.</a:t>
            </a:r>
            <a:endParaRPr lang="en-US" sz="14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4024" y="4146828"/>
            <a:ext cx="475536" cy="475536"/>
          </a:xfrm>
          <a:prstGeom prst="rect">
            <a:avLst/>
          </a:prstGeom>
        </p:spPr>
      </p:pic>
      <p:sp>
        <p:nvSpPr>
          <p:cNvPr id="14" name="Text 8"/>
          <p:cNvSpPr/>
          <p:nvPr/>
        </p:nvSpPr>
        <p:spPr>
          <a:xfrm>
            <a:off x="7434024" y="4860131"/>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Gestionar Atributos</a:t>
            </a:r>
            <a:endParaRPr lang="en-US" sz="1850" dirty="0"/>
          </a:p>
        </p:txBody>
      </p:sp>
      <p:sp>
        <p:nvSpPr>
          <p:cNvPr id="15" name="Text 9"/>
          <p:cNvSpPr/>
          <p:nvPr/>
        </p:nvSpPr>
        <p:spPr>
          <a:xfrm>
            <a:off x="7434024" y="5271373"/>
            <a:ext cx="6530697" cy="608648"/>
          </a:xfrm>
          <a:prstGeom prst="rect">
            <a:avLst/>
          </a:prstGeom>
          <a:noFill/>
          <a:ln/>
        </p:spPr>
        <p:txBody>
          <a:bodyPr wrap="square" lIns="0" tIns="0" rIns="0" bIns="0" rtlCol="0" anchor="t"/>
          <a:lstStyle/>
          <a:p>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Leer</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y </a:t>
            </a:r>
            <a:pPr algn="l" indent="0" marL="0">
              <a:lnSpc>
                <a:spcPts val="2350"/>
              </a:lnSpc>
              <a:buNone/>
            </a:pPr>
            <a:r>
              <a:rPr lang="en-US" sz="1450" b="1" dirty="0">
                <a:solidFill>
                  <a:srgbClr val="2B2E3C"/>
                </a:solidFill>
                <a:latin typeface="Open Sans" pitchFamily="34" charset="0"/>
                <a:ea typeface="Open Sans" pitchFamily="34" charset="-122"/>
                <a:cs typeface="Open Sans" pitchFamily="34" charset="-120"/>
              </a:rPr>
              <a:t>modificar atributos</a:t>
            </a:r>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 como permisos, fechas y propiedades específicas del archivo o dispositivo.</a:t>
            </a:r>
            <a:endParaRPr lang="en-US" sz="14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5678" y="6260425"/>
            <a:ext cx="475536" cy="475536"/>
          </a:xfrm>
          <a:prstGeom prst="rect">
            <a:avLst/>
          </a:prstGeom>
        </p:spPr>
      </p:pic>
      <p:sp>
        <p:nvSpPr>
          <p:cNvPr id="17" name="Text 10"/>
          <p:cNvSpPr/>
          <p:nvPr/>
        </p:nvSpPr>
        <p:spPr>
          <a:xfrm>
            <a:off x="665678" y="6973729"/>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Concatenar</a:t>
            </a:r>
            <a:endParaRPr lang="en-US" sz="1850" dirty="0"/>
          </a:p>
        </p:txBody>
      </p:sp>
      <p:sp>
        <p:nvSpPr>
          <p:cNvPr id="18" name="Text 11"/>
          <p:cNvSpPr/>
          <p:nvPr/>
        </p:nvSpPr>
        <p:spPr>
          <a:xfrm>
            <a:off x="665678" y="7384971"/>
            <a:ext cx="6530578" cy="304324"/>
          </a:xfrm>
          <a:prstGeom prst="rect">
            <a:avLst/>
          </a:prstGeom>
          <a:noFill/>
          <a:ln/>
        </p:spPr>
        <p:txBody>
          <a:bodyPr wrap="non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añadir datos solo al final del archivo.</a:t>
            </a:r>
            <a:endParaRPr lang="en-US" sz="14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34024" y="6260425"/>
            <a:ext cx="475536" cy="475536"/>
          </a:xfrm>
          <a:prstGeom prst="rect">
            <a:avLst/>
          </a:prstGeom>
        </p:spPr>
      </p:pic>
      <p:sp>
        <p:nvSpPr>
          <p:cNvPr id="20" name="Text 12"/>
          <p:cNvSpPr/>
          <p:nvPr/>
        </p:nvSpPr>
        <p:spPr>
          <a:xfrm>
            <a:off x="7434024" y="6973729"/>
            <a:ext cx="2377678" cy="297180"/>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Localizar</a:t>
            </a:r>
            <a:endParaRPr lang="en-US" sz="1850" dirty="0"/>
          </a:p>
        </p:txBody>
      </p:sp>
      <p:sp>
        <p:nvSpPr>
          <p:cNvPr id="21" name="Text 13"/>
          <p:cNvSpPr/>
          <p:nvPr/>
        </p:nvSpPr>
        <p:spPr>
          <a:xfrm>
            <a:off x="7434024" y="7384971"/>
            <a:ext cx="6530697" cy="304324"/>
          </a:xfrm>
          <a:prstGeom prst="rect">
            <a:avLst/>
          </a:prstGeom>
          <a:noFill/>
          <a:ln/>
        </p:spPr>
        <p:txBody>
          <a:bodyPr wrap="non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mover el puntero de lectura/escritura a una posición específica.</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1039" y="544711"/>
            <a:ext cx="7761923" cy="1233964"/>
          </a:xfrm>
          <a:prstGeom prst="rect">
            <a:avLst/>
          </a:prstGeom>
          <a:noFill/>
          <a:ln/>
        </p:spPr>
        <p:txBody>
          <a:bodyPr wrap="square" lIns="0" tIns="0" rIns="0" bIns="0" rtlCol="0" anchor="t"/>
          <a:lstStyle/>
          <a:p>
            <a:pPr algn="l" indent="0" marL="0">
              <a:lnSpc>
                <a:spcPts val="4850"/>
              </a:lnSpc>
              <a:buNone/>
            </a:pPr>
            <a:r>
              <a:rPr lang="en-US" sz="3850" dirty="0">
                <a:solidFill>
                  <a:srgbClr val="2C3F42"/>
                </a:solidFill>
                <a:latin typeface="Bitter Medium" pitchFamily="34" charset="0"/>
                <a:ea typeface="Bitter Medium" pitchFamily="34" charset="-122"/>
                <a:cs typeface="Bitter Medium" pitchFamily="34" charset="-120"/>
              </a:rPr>
              <a:t>Estrategias de Asignación de Almacenamiento</a:t>
            </a:r>
            <a:endParaRPr lang="en-US" sz="3850" dirty="0"/>
          </a:p>
        </p:txBody>
      </p:sp>
      <p:sp>
        <p:nvSpPr>
          <p:cNvPr id="4" name="Text 1"/>
          <p:cNvSpPr/>
          <p:nvPr/>
        </p:nvSpPr>
        <p:spPr>
          <a:xfrm>
            <a:off x="691039" y="2074783"/>
            <a:ext cx="7761923" cy="631984"/>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El subsistema de archivos administra el espacio en disco mediante </a:t>
            </a:r>
            <a:pPr algn="l" indent="0" marL="0">
              <a:lnSpc>
                <a:spcPts val="2450"/>
              </a:lnSpc>
              <a:buNone/>
            </a:pPr>
            <a:r>
              <a:rPr lang="en-US" sz="1550" b="1" dirty="0">
                <a:solidFill>
                  <a:srgbClr val="2B2E3C"/>
                </a:solidFill>
                <a:latin typeface="Open Sans" pitchFamily="34" charset="0"/>
                <a:ea typeface="Open Sans" pitchFamily="34" charset="-122"/>
                <a:cs typeface="Open Sans" pitchFamily="34" charset="-120"/>
              </a:rPr>
              <a:t>directorios</a:t>
            </a:r>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 que registran los archivos y la ubicación de sus datos.</a:t>
            </a:r>
            <a:endParaRPr lang="en-US" sz="1550" dirty="0"/>
          </a:p>
        </p:txBody>
      </p:sp>
      <p:sp>
        <p:nvSpPr>
          <p:cNvPr id="5" name="Shape 2"/>
          <p:cNvSpPr/>
          <p:nvPr/>
        </p:nvSpPr>
        <p:spPr>
          <a:xfrm>
            <a:off x="888444" y="3224927"/>
            <a:ext cx="197406" cy="1157526"/>
          </a:xfrm>
          <a:prstGeom prst="roundRect">
            <a:avLst>
              <a:gd name="adj" fmla="val 42014"/>
            </a:avLst>
          </a:prstGeom>
          <a:solidFill>
            <a:srgbClr val="FCE2CF"/>
          </a:solidFill>
          <a:ln w="7620">
            <a:solidFill>
              <a:srgbClr val="E2C8B5"/>
            </a:solidFill>
            <a:prstDash val="solid"/>
          </a:ln>
        </p:spPr>
      </p:sp>
      <p:sp>
        <p:nvSpPr>
          <p:cNvPr id="6" name="Shape 3"/>
          <p:cNvSpPr/>
          <p:nvPr/>
        </p:nvSpPr>
        <p:spPr>
          <a:xfrm>
            <a:off x="691039" y="3095387"/>
            <a:ext cx="592336" cy="592336"/>
          </a:xfrm>
          <a:prstGeom prst="roundRect">
            <a:avLst>
              <a:gd name="adj" fmla="val 77186"/>
            </a:avLst>
          </a:prstGeom>
          <a:solidFill>
            <a:srgbClr val="FCE2CF"/>
          </a:solidFill>
          <a:ln w="7620">
            <a:solidFill>
              <a:srgbClr val="E2C8B5"/>
            </a:solidFill>
            <a:prstDash val="solid"/>
          </a:ln>
        </p:spPr>
      </p:sp>
      <p:pic>
        <p:nvPicPr>
          <p:cNvPr id="7" name="Image 1" descr="preencoded.png">    </p:cNvPr>
          <p:cNvPicPr>
            <a:picLocks noChangeAspect="1"/>
          </p:cNvPicPr>
          <p:nvPr/>
        </p:nvPicPr>
        <p:blipFill>
          <a:blip r:embed="rId2"/>
          <a:stretch>
            <a:fillRect/>
          </a:stretch>
        </p:blipFill>
        <p:spPr>
          <a:xfrm>
            <a:off x="839152" y="3243501"/>
            <a:ext cx="296108" cy="296108"/>
          </a:xfrm>
          <a:prstGeom prst="rect">
            <a:avLst/>
          </a:prstGeom>
        </p:spPr>
      </p:pic>
      <p:sp>
        <p:nvSpPr>
          <p:cNvPr id="8" name="Text 4"/>
          <p:cNvSpPr/>
          <p:nvPr/>
        </p:nvSpPr>
        <p:spPr>
          <a:xfrm>
            <a:off x="1480780" y="3126224"/>
            <a:ext cx="2468285" cy="308491"/>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Asignación Contigua</a:t>
            </a:r>
            <a:endParaRPr lang="en-US" sz="1900" dirty="0"/>
          </a:p>
        </p:txBody>
      </p:sp>
      <p:sp>
        <p:nvSpPr>
          <p:cNvPr id="9" name="Text 5"/>
          <p:cNvSpPr/>
          <p:nvPr/>
        </p:nvSpPr>
        <p:spPr>
          <a:xfrm>
            <a:off x="1480780" y="3553182"/>
            <a:ext cx="6972181" cy="631984"/>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Almacena archivos en bloques consecutivos. Simple y rápida, pero genera fragmentación externa al borrar archivos.</a:t>
            </a:r>
            <a:endParaRPr lang="en-US" sz="1550" dirty="0"/>
          </a:p>
        </p:txBody>
      </p:sp>
      <p:sp>
        <p:nvSpPr>
          <p:cNvPr id="10" name="Shape 6"/>
          <p:cNvSpPr/>
          <p:nvPr/>
        </p:nvSpPr>
        <p:spPr>
          <a:xfrm>
            <a:off x="1184553" y="4876086"/>
            <a:ext cx="197406" cy="1157526"/>
          </a:xfrm>
          <a:prstGeom prst="roundRect">
            <a:avLst>
              <a:gd name="adj" fmla="val 42014"/>
            </a:avLst>
          </a:prstGeom>
          <a:solidFill>
            <a:srgbClr val="FCE2CF"/>
          </a:solidFill>
          <a:ln w="7620">
            <a:solidFill>
              <a:srgbClr val="E2C8B5"/>
            </a:solidFill>
            <a:prstDash val="solid"/>
          </a:ln>
        </p:spPr>
      </p:sp>
      <p:sp>
        <p:nvSpPr>
          <p:cNvPr id="11" name="Shape 7"/>
          <p:cNvSpPr/>
          <p:nvPr/>
        </p:nvSpPr>
        <p:spPr>
          <a:xfrm>
            <a:off x="987147" y="4746546"/>
            <a:ext cx="592336" cy="592336"/>
          </a:xfrm>
          <a:prstGeom prst="roundRect">
            <a:avLst>
              <a:gd name="adj" fmla="val 77186"/>
            </a:avLst>
          </a:prstGeom>
          <a:solidFill>
            <a:srgbClr val="FCE2CF"/>
          </a:solidFill>
          <a:ln w="7620">
            <a:solidFill>
              <a:srgbClr val="E2C8B5"/>
            </a:solidFill>
            <a:prstDash val="solid"/>
          </a:ln>
        </p:spPr>
      </p:sp>
      <p:pic>
        <p:nvPicPr>
          <p:cNvPr id="12"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5261" y="4894659"/>
            <a:ext cx="296108" cy="296108"/>
          </a:xfrm>
          <a:prstGeom prst="rect">
            <a:avLst/>
          </a:prstGeom>
        </p:spPr>
      </p:pic>
      <p:sp>
        <p:nvSpPr>
          <p:cNvPr id="13" name="Text 8"/>
          <p:cNvSpPr/>
          <p:nvPr/>
        </p:nvSpPr>
        <p:spPr>
          <a:xfrm>
            <a:off x="1776889" y="4777383"/>
            <a:ext cx="2761298" cy="308491"/>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Asignación Encadenada</a:t>
            </a:r>
            <a:endParaRPr lang="en-US" sz="1900" dirty="0"/>
          </a:p>
        </p:txBody>
      </p:sp>
      <p:sp>
        <p:nvSpPr>
          <p:cNvPr id="14" name="Text 9"/>
          <p:cNvSpPr/>
          <p:nvPr/>
        </p:nvSpPr>
        <p:spPr>
          <a:xfrm>
            <a:off x="1776889" y="5204341"/>
            <a:ext cx="6676073" cy="631984"/>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Crea listas ligadas de bloques no contiguos. Elimina fragmentación pero consume espacio en direcciones de enlace.</a:t>
            </a:r>
            <a:endParaRPr lang="en-US" sz="1550" dirty="0"/>
          </a:p>
        </p:txBody>
      </p:sp>
      <p:sp>
        <p:nvSpPr>
          <p:cNvPr id="15" name="Shape 10"/>
          <p:cNvSpPr/>
          <p:nvPr/>
        </p:nvSpPr>
        <p:spPr>
          <a:xfrm>
            <a:off x="1480780" y="6527244"/>
            <a:ext cx="197406" cy="1157526"/>
          </a:xfrm>
          <a:prstGeom prst="roundRect">
            <a:avLst>
              <a:gd name="adj" fmla="val 42014"/>
            </a:avLst>
          </a:prstGeom>
          <a:solidFill>
            <a:srgbClr val="FCE2CF"/>
          </a:solidFill>
          <a:ln w="7620">
            <a:solidFill>
              <a:srgbClr val="E2C8B5"/>
            </a:solidFill>
            <a:prstDash val="solid"/>
          </a:ln>
        </p:spPr>
      </p:sp>
      <p:sp>
        <p:nvSpPr>
          <p:cNvPr id="16" name="Shape 11"/>
          <p:cNvSpPr/>
          <p:nvPr/>
        </p:nvSpPr>
        <p:spPr>
          <a:xfrm>
            <a:off x="1283375" y="6397704"/>
            <a:ext cx="592336" cy="592336"/>
          </a:xfrm>
          <a:prstGeom prst="roundRect">
            <a:avLst>
              <a:gd name="adj" fmla="val 77186"/>
            </a:avLst>
          </a:prstGeom>
          <a:solidFill>
            <a:srgbClr val="FCE2CF"/>
          </a:solidFill>
          <a:ln w="7620">
            <a:solidFill>
              <a:srgbClr val="E2C8B5"/>
            </a:solidFill>
            <a:prstDash val="solid"/>
          </a:ln>
        </p:spPr>
      </p:sp>
      <p:pic>
        <p:nvPicPr>
          <p:cNvPr id="17"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31488" y="6545818"/>
            <a:ext cx="296108" cy="296108"/>
          </a:xfrm>
          <a:prstGeom prst="rect">
            <a:avLst/>
          </a:prstGeom>
        </p:spPr>
      </p:pic>
      <p:sp>
        <p:nvSpPr>
          <p:cNvPr id="18" name="Text 12"/>
          <p:cNvSpPr/>
          <p:nvPr/>
        </p:nvSpPr>
        <p:spPr>
          <a:xfrm>
            <a:off x="2073116" y="6428542"/>
            <a:ext cx="2468285" cy="308491"/>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Asignación Indexada</a:t>
            </a:r>
            <a:endParaRPr lang="en-US" sz="1900" dirty="0"/>
          </a:p>
        </p:txBody>
      </p:sp>
      <p:sp>
        <p:nvSpPr>
          <p:cNvPr id="19" name="Text 13"/>
          <p:cNvSpPr/>
          <p:nvPr/>
        </p:nvSpPr>
        <p:spPr>
          <a:xfrm>
            <a:off x="2073116" y="6855500"/>
            <a:ext cx="6379845" cy="631984"/>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Utiliza bloques de índices con apuntadores. Excelente para archivos grandes, costosa para archivos pequeños.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9615" y="738068"/>
            <a:ext cx="8311158" cy="651510"/>
          </a:xfrm>
          <a:prstGeom prst="rect">
            <a:avLst/>
          </a:prstGeom>
          <a:noFill/>
          <a:ln/>
        </p:spPr>
        <p:txBody>
          <a:bodyPr wrap="none" lIns="0" tIns="0" rIns="0" bIns="0" rtlCol="0" anchor="t"/>
          <a:lstStyle/>
          <a:p>
            <a:pPr algn="l" indent="0" marL="0">
              <a:lnSpc>
                <a:spcPts val="5100"/>
              </a:lnSpc>
              <a:buNone/>
            </a:pPr>
            <a:r>
              <a:rPr lang="en-US" sz="4100" dirty="0">
                <a:solidFill>
                  <a:srgbClr val="2C3F42"/>
                </a:solidFill>
                <a:latin typeface="Bitter Medium" pitchFamily="34" charset="0"/>
                <a:ea typeface="Bitter Medium" pitchFamily="34" charset="-122"/>
                <a:cs typeface="Bitter Medium" pitchFamily="34" charset="-120"/>
              </a:rPr>
              <a:t>Protección y Permisos de Archivos</a:t>
            </a:r>
            <a:endParaRPr lang="en-US" sz="4100" dirty="0"/>
          </a:p>
        </p:txBody>
      </p:sp>
      <p:sp>
        <p:nvSpPr>
          <p:cNvPr id="3" name="Text 1"/>
          <p:cNvSpPr/>
          <p:nvPr/>
        </p:nvSpPr>
        <p:spPr>
          <a:xfrm>
            <a:off x="729615" y="1806535"/>
            <a:ext cx="13171170" cy="666988"/>
          </a:xfrm>
          <a:prstGeom prst="rect">
            <a:avLst/>
          </a:prstGeom>
          <a:noFill/>
          <a:ln/>
        </p:spPr>
        <p:txBody>
          <a:bodyPr wrap="square" lIns="0" tIns="0" rIns="0" bIns="0" rtlCol="0" anchor="t"/>
          <a:lstStyle/>
          <a:p>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Los sistemas modernos implementan mecanismos sofisticados de control de acceso para garantizar seguridad y privacidad de los datos.</a:t>
            </a:r>
            <a:endParaRPr lang="en-US" sz="1600" dirty="0"/>
          </a:p>
        </p:txBody>
      </p:sp>
      <p:sp>
        <p:nvSpPr>
          <p:cNvPr id="4" name="Shape 2"/>
          <p:cNvSpPr/>
          <p:nvPr/>
        </p:nvSpPr>
        <p:spPr>
          <a:xfrm>
            <a:off x="729615" y="2707958"/>
            <a:ext cx="4251365" cy="4783455"/>
          </a:xfrm>
          <a:prstGeom prst="roundRect">
            <a:avLst>
              <a:gd name="adj" fmla="val 2060"/>
            </a:avLst>
          </a:prstGeom>
          <a:solidFill>
            <a:srgbClr val="FCE2CF"/>
          </a:solidFill>
          <a:ln w="7620">
            <a:solidFill>
              <a:srgbClr val="E2C8B5"/>
            </a:solidFill>
            <a:prstDash val="solid"/>
          </a:ln>
        </p:spPr>
      </p:sp>
      <p:sp>
        <p:nvSpPr>
          <p:cNvPr id="5" name="Shape 3"/>
          <p:cNvSpPr/>
          <p:nvPr/>
        </p:nvSpPr>
        <p:spPr>
          <a:xfrm>
            <a:off x="945713" y="2924056"/>
            <a:ext cx="625435" cy="625435"/>
          </a:xfrm>
          <a:prstGeom prst="roundRect">
            <a:avLst>
              <a:gd name="adj" fmla="val 14618762"/>
            </a:avLst>
          </a:prstGeom>
          <a:solidFill>
            <a:srgbClr val="D2600F"/>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7759" y="3095982"/>
            <a:ext cx="281345" cy="281345"/>
          </a:xfrm>
          <a:prstGeom prst="rect">
            <a:avLst/>
          </a:prstGeom>
        </p:spPr>
      </p:pic>
      <p:sp>
        <p:nvSpPr>
          <p:cNvPr id="7" name="Text 4"/>
          <p:cNvSpPr/>
          <p:nvPr/>
        </p:nvSpPr>
        <p:spPr>
          <a:xfrm>
            <a:off x="945713" y="3757970"/>
            <a:ext cx="3819168" cy="651510"/>
          </a:xfrm>
          <a:prstGeom prst="rect">
            <a:avLst/>
          </a:prstGeom>
          <a:noFill/>
          <a:ln/>
        </p:spPr>
        <p:txBody>
          <a:bodyPr wrap="square" lIns="0" tIns="0" rIns="0" bIns="0" rtlCol="0" anchor="t"/>
          <a:lstStyle/>
          <a:p>
            <a:pPr algn="l" indent="0" marL="0">
              <a:lnSpc>
                <a:spcPts val="2550"/>
              </a:lnSpc>
              <a:buNone/>
            </a:pPr>
            <a:r>
              <a:rPr lang="en-US" sz="2050" dirty="0">
                <a:solidFill>
                  <a:srgbClr val="2B2E3C"/>
                </a:solidFill>
                <a:latin typeface="Bitter Medium" pitchFamily="34" charset="0"/>
                <a:ea typeface="Bitter Medium" pitchFamily="34" charset="-122"/>
                <a:cs typeface="Bitter Medium" pitchFamily="34" charset="-120"/>
              </a:rPr>
              <a:t>Herramientas de administración</a:t>
            </a:r>
            <a:endParaRPr lang="en-US" sz="2050" dirty="0"/>
          </a:p>
        </p:txBody>
      </p:sp>
      <p:sp>
        <p:nvSpPr>
          <p:cNvPr id="8" name="Text 5"/>
          <p:cNvSpPr/>
          <p:nvPr/>
        </p:nvSpPr>
        <p:spPr>
          <a:xfrm>
            <a:off x="945713" y="4534495"/>
            <a:ext cx="3819168" cy="1000482"/>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Compartir archivos</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el dueño define qué permisos tendrán otros (leer, escribir, borrar, crear).</a:t>
            </a:r>
            <a:endParaRPr lang="en-US" sz="1600" dirty="0"/>
          </a:p>
        </p:txBody>
      </p:sp>
      <p:sp>
        <p:nvSpPr>
          <p:cNvPr id="9" name="Text 6"/>
          <p:cNvSpPr/>
          <p:nvPr/>
        </p:nvSpPr>
        <p:spPr>
          <a:xfrm>
            <a:off x="945713" y="5607844"/>
            <a:ext cx="3819168" cy="166747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Cotas de espacio</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límite máximo de almacenamiento por usuario; al superarlo, el sistema bloquea nuevas escrituras hasta liberar espacio.</a:t>
            </a:r>
            <a:endParaRPr lang="en-US" sz="1600" dirty="0"/>
          </a:p>
        </p:txBody>
      </p:sp>
      <p:sp>
        <p:nvSpPr>
          <p:cNvPr id="10" name="Shape 7"/>
          <p:cNvSpPr/>
          <p:nvPr/>
        </p:nvSpPr>
        <p:spPr>
          <a:xfrm>
            <a:off x="5189458" y="2707958"/>
            <a:ext cx="4251365" cy="4783455"/>
          </a:xfrm>
          <a:prstGeom prst="roundRect">
            <a:avLst>
              <a:gd name="adj" fmla="val 2060"/>
            </a:avLst>
          </a:prstGeom>
          <a:solidFill>
            <a:srgbClr val="FCE2CF"/>
          </a:solidFill>
          <a:ln w="7620">
            <a:solidFill>
              <a:srgbClr val="E2C8B5"/>
            </a:solidFill>
            <a:prstDash val="solid"/>
          </a:ln>
        </p:spPr>
      </p:sp>
      <p:sp>
        <p:nvSpPr>
          <p:cNvPr id="11" name="Shape 8"/>
          <p:cNvSpPr/>
          <p:nvPr/>
        </p:nvSpPr>
        <p:spPr>
          <a:xfrm>
            <a:off x="5405557" y="2924056"/>
            <a:ext cx="625435" cy="625435"/>
          </a:xfrm>
          <a:prstGeom prst="roundRect">
            <a:avLst>
              <a:gd name="adj" fmla="val 14618762"/>
            </a:avLst>
          </a:prstGeom>
          <a:solidFill>
            <a:srgbClr val="D2600F"/>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7602" y="3095982"/>
            <a:ext cx="281345" cy="281345"/>
          </a:xfrm>
          <a:prstGeom prst="rect">
            <a:avLst/>
          </a:prstGeom>
        </p:spPr>
      </p:pic>
      <p:sp>
        <p:nvSpPr>
          <p:cNvPr id="13" name="Text 9"/>
          <p:cNvSpPr/>
          <p:nvPr/>
        </p:nvSpPr>
        <p:spPr>
          <a:xfrm>
            <a:off x="5405557" y="3757970"/>
            <a:ext cx="3447574" cy="325755"/>
          </a:xfrm>
          <a:prstGeom prst="rect">
            <a:avLst/>
          </a:prstGeom>
          <a:noFill/>
          <a:ln/>
        </p:spPr>
        <p:txBody>
          <a:bodyPr wrap="none" lIns="0" tIns="0" rIns="0" bIns="0" rtlCol="0" anchor="t"/>
          <a:lstStyle/>
          <a:p>
            <a:pPr algn="l" indent="0" marL="0">
              <a:lnSpc>
                <a:spcPts val="2550"/>
              </a:lnSpc>
              <a:buNone/>
            </a:pPr>
            <a:r>
              <a:rPr lang="en-US" sz="2050" dirty="0">
                <a:solidFill>
                  <a:srgbClr val="2B2E3C"/>
                </a:solidFill>
                <a:latin typeface="Bitter Medium" pitchFamily="34" charset="0"/>
                <a:ea typeface="Bitter Medium" pitchFamily="34" charset="-122"/>
                <a:cs typeface="Bitter Medium" pitchFamily="34" charset="-120"/>
              </a:rPr>
              <a:t>Tipos de sistema de archivos</a:t>
            </a:r>
            <a:endParaRPr lang="en-US" sz="2050" dirty="0"/>
          </a:p>
        </p:txBody>
      </p:sp>
      <p:sp>
        <p:nvSpPr>
          <p:cNvPr id="14" name="Text 10"/>
          <p:cNvSpPr/>
          <p:nvPr/>
        </p:nvSpPr>
        <p:spPr>
          <a:xfrm>
            <a:off x="5405557" y="4208740"/>
            <a:ext cx="3819168" cy="1000482"/>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Aislados</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residen en una sola computadora, sin acceso desde la red (ej. MS-DOS clásico).</a:t>
            </a:r>
            <a:endParaRPr lang="en-US" sz="1600" dirty="0"/>
          </a:p>
        </p:txBody>
      </p:sp>
      <p:sp>
        <p:nvSpPr>
          <p:cNvPr id="15" name="Text 11"/>
          <p:cNvSpPr/>
          <p:nvPr/>
        </p:nvSpPr>
        <p:spPr>
          <a:xfrm>
            <a:off x="5405557" y="5282089"/>
            <a:ext cx="3819168" cy="1333976"/>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Compartidos o de red</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accesibles desde distintos equipos a través de un servidor y clientes, como si fueran locales.</a:t>
            </a:r>
            <a:endParaRPr lang="en-US" sz="1600" dirty="0"/>
          </a:p>
        </p:txBody>
      </p:sp>
      <p:sp>
        <p:nvSpPr>
          <p:cNvPr id="16" name="Shape 12"/>
          <p:cNvSpPr/>
          <p:nvPr/>
        </p:nvSpPr>
        <p:spPr>
          <a:xfrm>
            <a:off x="9649301" y="2707958"/>
            <a:ext cx="4251484" cy="4783455"/>
          </a:xfrm>
          <a:prstGeom prst="roundRect">
            <a:avLst>
              <a:gd name="adj" fmla="val 2060"/>
            </a:avLst>
          </a:prstGeom>
          <a:solidFill>
            <a:srgbClr val="FCE2CF"/>
          </a:solidFill>
          <a:ln w="7620">
            <a:solidFill>
              <a:srgbClr val="E2C8B5"/>
            </a:solidFill>
            <a:prstDash val="solid"/>
          </a:ln>
        </p:spPr>
      </p:sp>
      <p:sp>
        <p:nvSpPr>
          <p:cNvPr id="17" name="Shape 13"/>
          <p:cNvSpPr/>
          <p:nvPr/>
        </p:nvSpPr>
        <p:spPr>
          <a:xfrm>
            <a:off x="9865400" y="2924056"/>
            <a:ext cx="625435" cy="625435"/>
          </a:xfrm>
          <a:prstGeom prst="roundRect">
            <a:avLst>
              <a:gd name="adj" fmla="val 14618762"/>
            </a:avLst>
          </a:prstGeom>
          <a:solidFill>
            <a:srgbClr val="D2600F"/>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37445" y="3095982"/>
            <a:ext cx="281345" cy="281345"/>
          </a:xfrm>
          <a:prstGeom prst="rect">
            <a:avLst/>
          </a:prstGeom>
        </p:spPr>
      </p:pic>
      <p:sp>
        <p:nvSpPr>
          <p:cNvPr id="19" name="Text 14"/>
          <p:cNvSpPr/>
          <p:nvPr/>
        </p:nvSpPr>
        <p:spPr>
          <a:xfrm>
            <a:off x="9865400" y="3757970"/>
            <a:ext cx="2606040" cy="325755"/>
          </a:xfrm>
          <a:prstGeom prst="rect">
            <a:avLst/>
          </a:prstGeom>
          <a:noFill/>
          <a:ln/>
        </p:spPr>
        <p:txBody>
          <a:bodyPr wrap="none" lIns="0" tIns="0" rIns="0" bIns="0" rtlCol="0" anchor="t"/>
          <a:lstStyle/>
          <a:p>
            <a:pPr algn="l" indent="0" marL="0">
              <a:lnSpc>
                <a:spcPts val="2550"/>
              </a:lnSpc>
              <a:buNone/>
            </a:pPr>
            <a:r>
              <a:rPr lang="en-US" sz="2050" dirty="0">
                <a:solidFill>
                  <a:srgbClr val="2B2E3C"/>
                </a:solidFill>
                <a:latin typeface="Bitter Medium" pitchFamily="34" charset="0"/>
                <a:ea typeface="Bitter Medium" pitchFamily="34" charset="-122"/>
                <a:cs typeface="Bitter Medium" pitchFamily="34" charset="-120"/>
              </a:rPr>
              <a:t>Protección y control</a:t>
            </a:r>
            <a:endParaRPr lang="en-US" sz="2050" dirty="0"/>
          </a:p>
        </p:txBody>
      </p:sp>
      <p:sp>
        <p:nvSpPr>
          <p:cNvPr id="20" name="Text 15"/>
          <p:cNvSpPr/>
          <p:nvPr/>
        </p:nvSpPr>
        <p:spPr>
          <a:xfrm>
            <a:off x="9865400" y="4208740"/>
            <a:ext cx="3819287" cy="1333976"/>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Si un usuario intenta una acción no permitida, se genera un </a:t>
            </a:r>
            <a:pPr algn="l" indent="0" marL="0">
              <a:lnSpc>
                <a:spcPts val="2600"/>
              </a:lnSpc>
              <a:buNone/>
            </a:pPr>
            <a:r>
              <a:rPr lang="en-US" sz="1600" b="1" dirty="0">
                <a:solidFill>
                  <a:srgbClr val="2B2E3C"/>
                </a:solidFill>
                <a:latin typeface="Open Sans" pitchFamily="34" charset="0"/>
                <a:ea typeface="Open Sans" pitchFamily="34" charset="-122"/>
                <a:cs typeface="Open Sans" pitchFamily="34" charset="-120"/>
              </a:rPr>
              <a:t>error</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y puede quedar registrado en el subsistema de seguridad.</a:t>
            </a:r>
            <a:endParaRPr lang="en-US" sz="1600" dirty="0"/>
          </a:p>
        </p:txBody>
      </p:sp>
      <p:sp>
        <p:nvSpPr>
          <p:cNvPr id="21" name="Text 16"/>
          <p:cNvSpPr/>
          <p:nvPr/>
        </p:nvSpPr>
        <p:spPr>
          <a:xfrm>
            <a:off x="9865400" y="5615583"/>
            <a:ext cx="3819287" cy="1000482"/>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Los permisos y accesos se gestionan mediante </a:t>
            </a:r>
            <a:pPr algn="l" indent="0" marL="0">
              <a:lnSpc>
                <a:spcPts val="2600"/>
              </a:lnSpc>
              <a:buNone/>
            </a:pPr>
            <a:r>
              <a:rPr lang="en-US" sz="1600" b="1" dirty="0">
                <a:solidFill>
                  <a:srgbClr val="2B2E3C"/>
                </a:solidFill>
                <a:latin typeface="Open Sans" pitchFamily="34" charset="0"/>
                <a:ea typeface="Open Sans" pitchFamily="34" charset="-122"/>
                <a:cs typeface="Open Sans" pitchFamily="34" charset="-120"/>
              </a:rPr>
              <a:t>listas de acceso (Access lists)</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2115" y="576143"/>
            <a:ext cx="11009709" cy="653772"/>
          </a:xfrm>
          <a:prstGeom prst="rect">
            <a:avLst/>
          </a:prstGeom>
          <a:noFill/>
          <a:ln/>
        </p:spPr>
        <p:txBody>
          <a:bodyPr wrap="none" lIns="0" tIns="0" rIns="0" bIns="0" rtlCol="0" anchor="t"/>
          <a:lstStyle/>
          <a:p>
            <a:pPr algn="l" indent="0" marL="0">
              <a:lnSpc>
                <a:spcPts val="5100"/>
              </a:lnSpc>
              <a:buNone/>
            </a:pPr>
            <a:r>
              <a:rPr lang="en-US" sz="4100" dirty="0">
                <a:solidFill>
                  <a:srgbClr val="2C3F42"/>
                </a:solidFill>
                <a:latin typeface="Bitter Medium" pitchFamily="34" charset="0"/>
                <a:ea typeface="Bitter Medium" pitchFamily="34" charset="-122"/>
                <a:cs typeface="Bitter Medium" pitchFamily="34" charset="-120"/>
              </a:rPr>
              <a:t>Módulos de Verificación de Control de Acceso</a:t>
            </a:r>
            <a:endParaRPr lang="en-US" sz="4100" dirty="0"/>
          </a:p>
        </p:txBody>
      </p:sp>
      <p:sp>
        <p:nvSpPr>
          <p:cNvPr id="3" name="Text 1"/>
          <p:cNvSpPr/>
          <p:nvPr/>
        </p:nvSpPr>
        <p:spPr>
          <a:xfrm>
            <a:off x="732115" y="1648301"/>
            <a:ext cx="13166169" cy="669369"/>
          </a:xfrm>
          <a:prstGeom prst="rect">
            <a:avLst/>
          </a:prstGeom>
          <a:noFill/>
          <a:ln/>
        </p:spPr>
        <p:txBody>
          <a:bodyPr wrap="square" lIns="0" tIns="0" rIns="0" bIns="0" rtlCol="0" anchor="t"/>
          <a:lstStyle/>
          <a:p>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Para garantizar la seguridad de los archivos y directorios, los sistemas operativos utilizan </a:t>
            </a:r>
            <a:pPr algn="l" indent="0" marL="0">
              <a:lnSpc>
                <a:spcPts val="2600"/>
              </a:lnSpc>
              <a:buNone/>
            </a:pPr>
            <a:r>
              <a:rPr lang="en-US" sz="1600" b="1" dirty="0">
                <a:solidFill>
                  <a:srgbClr val="2B2E3C"/>
                </a:solidFill>
                <a:latin typeface="Open Sans" pitchFamily="34" charset="0"/>
                <a:ea typeface="Open Sans" pitchFamily="34" charset="-122"/>
                <a:cs typeface="Open Sans" pitchFamily="34" charset="-120"/>
              </a:rPr>
              <a:t>permisos de acceso</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los cuales determinan qué acciones puede realizar cada usuario sobre la información.</a:t>
            </a:r>
            <a:endParaRPr lang="en-US" sz="1600" dirty="0"/>
          </a:p>
        </p:txBody>
      </p:sp>
      <p:sp>
        <p:nvSpPr>
          <p:cNvPr id="4" name="Shape 2"/>
          <p:cNvSpPr/>
          <p:nvPr/>
        </p:nvSpPr>
        <p:spPr>
          <a:xfrm>
            <a:off x="732115" y="2552938"/>
            <a:ext cx="6478429" cy="5100399"/>
          </a:xfrm>
          <a:prstGeom prst="roundRect">
            <a:avLst>
              <a:gd name="adj" fmla="val 1723"/>
            </a:avLst>
          </a:prstGeom>
          <a:solidFill>
            <a:srgbClr val="FCE2CF"/>
          </a:solidFill>
          <a:ln w="7620">
            <a:solidFill>
              <a:srgbClr val="E2C8B5"/>
            </a:solidFill>
            <a:prstDash val="solid"/>
          </a:ln>
        </p:spPr>
      </p:sp>
      <p:sp>
        <p:nvSpPr>
          <p:cNvPr id="5" name="Shape 3"/>
          <p:cNvSpPr/>
          <p:nvPr/>
        </p:nvSpPr>
        <p:spPr>
          <a:xfrm>
            <a:off x="948928" y="2769751"/>
            <a:ext cx="627578" cy="627578"/>
          </a:xfrm>
          <a:prstGeom prst="roundRect">
            <a:avLst>
              <a:gd name="adj" fmla="val 14568843"/>
            </a:avLst>
          </a:prstGeom>
          <a:solidFill>
            <a:srgbClr val="D2600F"/>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1450" y="2942273"/>
            <a:ext cx="282416" cy="282416"/>
          </a:xfrm>
          <a:prstGeom prst="rect">
            <a:avLst/>
          </a:prstGeom>
        </p:spPr>
      </p:pic>
      <p:sp>
        <p:nvSpPr>
          <p:cNvPr id="7" name="Text 4"/>
          <p:cNvSpPr/>
          <p:nvPr/>
        </p:nvSpPr>
        <p:spPr>
          <a:xfrm>
            <a:off x="948928" y="3606522"/>
            <a:ext cx="3462337" cy="326827"/>
          </a:xfrm>
          <a:prstGeom prst="rect">
            <a:avLst/>
          </a:prstGeom>
          <a:noFill/>
          <a:ln/>
        </p:spPr>
        <p:txBody>
          <a:bodyPr wrap="none" lIns="0" tIns="0" rIns="0" bIns="0" rtlCol="0" anchor="t"/>
          <a:lstStyle/>
          <a:p>
            <a:pPr algn="l" indent="0" marL="0">
              <a:lnSpc>
                <a:spcPts val="2550"/>
              </a:lnSpc>
              <a:buNone/>
            </a:pPr>
            <a:r>
              <a:rPr lang="en-US" sz="2050" dirty="0">
                <a:solidFill>
                  <a:srgbClr val="2B2E3C"/>
                </a:solidFill>
                <a:latin typeface="Bitter Medium" pitchFamily="34" charset="0"/>
                <a:ea typeface="Bitter Medium" pitchFamily="34" charset="-122"/>
                <a:cs typeface="Bitter Medium" pitchFamily="34" charset="-120"/>
              </a:rPr>
              <a:t>Tipos de Permisos de Acceso</a:t>
            </a:r>
            <a:endParaRPr lang="en-US" sz="2050" dirty="0"/>
          </a:p>
        </p:txBody>
      </p:sp>
      <p:sp>
        <p:nvSpPr>
          <p:cNvPr id="8" name="Text 5"/>
          <p:cNvSpPr/>
          <p:nvPr/>
        </p:nvSpPr>
        <p:spPr>
          <a:xfrm>
            <a:off x="948928" y="4058841"/>
            <a:ext cx="6044803" cy="1004054"/>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Sobre directorio compartido</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aplican cuando se accede desde otro equipo; afectan a todos los archivos y subdirectorios dentro de él.</a:t>
            </a:r>
            <a:endParaRPr lang="en-US" sz="1600" dirty="0"/>
          </a:p>
        </p:txBody>
      </p:sp>
      <p:sp>
        <p:nvSpPr>
          <p:cNvPr id="9" name="Text 6"/>
          <p:cNvSpPr/>
          <p:nvPr/>
        </p:nvSpPr>
        <p:spPr>
          <a:xfrm>
            <a:off x="948928" y="5135999"/>
            <a:ext cx="6044803" cy="669369"/>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Sobre directorio local</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efectivos solo cuando se accede desde el mismo equipo.</a:t>
            </a:r>
            <a:endParaRPr lang="en-US" sz="1600" dirty="0"/>
          </a:p>
        </p:txBody>
      </p:sp>
      <p:sp>
        <p:nvSpPr>
          <p:cNvPr id="10" name="Text 7"/>
          <p:cNvSpPr/>
          <p:nvPr/>
        </p:nvSpPr>
        <p:spPr>
          <a:xfrm>
            <a:off x="948928" y="5878473"/>
            <a:ext cx="6044803" cy="1004054"/>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Herencia</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los permisos se transmiten automáticamente a archivos y subdirectorios (a menos que se especifique lo contrario).</a:t>
            </a:r>
            <a:endParaRPr lang="en-US" sz="1600" dirty="0"/>
          </a:p>
        </p:txBody>
      </p:sp>
      <p:sp>
        <p:nvSpPr>
          <p:cNvPr id="11" name="Shape 8"/>
          <p:cNvSpPr/>
          <p:nvPr/>
        </p:nvSpPr>
        <p:spPr>
          <a:xfrm>
            <a:off x="7419737" y="2552938"/>
            <a:ext cx="6478548" cy="5100399"/>
          </a:xfrm>
          <a:prstGeom prst="roundRect">
            <a:avLst>
              <a:gd name="adj" fmla="val 1723"/>
            </a:avLst>
          </a:prstGeom>
          <a:solidFill>
            <a:srgbClr val="FCE2CF"/>
          </a:solidFill>
          <a:ln w="7620">
            <a:solidFill>
              <a:srgbClr val="E2C8B5"/>
            </a:solidFill>
            <a:prstDash val="solid"/>
          </a:ln>
        </p:spPr>
      </p:sp>
      <p:sp>
        <p:nvSpPr>
          <p:cNvPr id="12" name="Shape 9"/>
          <p:cNvSpPr/>
          <p:nvPr/>
        </p:nvSpPr>
        <p:spPr>
          <a:xfrm>
            <a:off x="7636550" y="2769751"/>
            <a:ext cx="627578" cy="627578"/>
          </a:xfrm>
          <a:prstGeom prst="roundRect">
            <a:avLst>
              <a:gd name="adj" fmla="val 14568843"/>
            </a:avLst>
          </a:prstGeom>
          <a:solidFill>
            <a:srgbClr val="D2600F"/>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9071" y="2942273"/>
            <a:ext cx="282416" cy="282416"/>
          </a:xfrm>
          <a:prstGeom prst="rect">
            <a:avLst/>
          </a:prstGeom>
        </p:spPr>
      </p:pic>
      <p:sp>
        <p:nvSpPr>
          <p:cNvPr id="14" name="Text 10"/>
          <p:cNvSpPr/>
          <p:nvPr/>
        </p:nvSpPr>
        <p:spPr>
          <a:xfrm>
            <a:off x="7636550" y="3606522"/>
            <a:ext cx="4647486" cy="326827"/>
          </a:xfrm>
          <a:prstGeom prst="rect">
            <a:avLst/>
          </a:prstGeom>
          <a:noFill/>
          <a:ln/>
        </p:spPr>
        <p:txBody>
          <a:bodyPr wrap="none" lIns="0" tIns="0" rIns="0" bIns="0" rtlCol="0" anchor="t"/>
          <a:lstStyle/>
          <a:p>
            <a:pPr algn="l" indent="0" marL="0">
              <a:lnSpc>
                <a:spcPts val="2550"/>
              </a:lnSpc>
              <a:buNone/>
            </a:pPr>
            <a:r>
              <a:rPr lang="en-US" sz="2050" dirty="0">
                <a:solidFill>
                  <a:srgbClr val="2B2E3C"/>
                </a:solidFill>
                <a:latin typeface="Bitter Medium" pitchFamily="34" charset="0"/>
                <a:ea typeface="Bitter Medium" pitchFamily="34" charset="-122"/>
                <a:cs typeface="Bitter Medium" pitchFamily="34" charset="-120"/>
              </a:rPr>
              <a:t>Permisos en NTFS (directorios locales)</a:t>
            </a:r>
            <a:endParaRPr lang="en-US" sz="2050" dirty="0"/>
          </a:p>
        </p:txBody>
      </p:sp>
      <p:sp>
        <p:nvSpPr>
          <p:cNvPr id="15" name="Text 11"/>
          <p:cNvSpPr/>
          <p:nvPr/>
        </p:nvSpPr>
        <p:spPr>
          <a:xfrm>
            <a:off x="7636550" y="4058841"/>
            <a:ext cx="6044922" cy="334685"/>
          </a:xfrm>
          <a:prstGeom prst="rect">
            <a:avLst/>
          </a:prstGeom>
          <a:noFill/>
          <a:ln/>
        </p:spPr>
        <p:txBody>
          <a:bodyPr wrap="non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Control total</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todas las acciones posibles.</a:t>
            </a:r>
            <a:endParaRPr lang="en-US" sz="1600" dirty="0"/>
          </a:p>
        </p:txBody>
      </p:sp>
      <p:sp>
        <p:nvSpPr>
          <p:cNvPr id="16" name="Text 12"/>
          <p:cNvSpPr/>
          <p:nvPr/>
        </p:nvSpPr>
        <p:spPr>
          <a:xfrm>
            <a:off x="7636550" y="4466630"/>
            <a:ext cx="6044922" cy="669369"/>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Modificar</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permite cambios, excepto eliminar, cambiar permisos o tomar posesión.</a:t>
            </a:r>
            <a:endParaRPr lang="en-US" sz="1600" dirty="0"/>
          </a:p>
        </p:txBody>
      </p:sp>
      <p:sp>
        <p:nvSpPr>
          <p:cNvPr id="17" name="Text 13"/>
          <p:cNvSpPr/>
          <p:nvPr/>
        </p:nvSpPr>
        <p:spPr>
          <a:xfrm>
            <a:off x="7636550" y="5209103"/>
            <a:ext cx="6044922" cy="669369"/>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Lectura y ejecución</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ver datos, atributos, permisos y ejecutar programas.</a:t>
            </a:r>
            <a:endParaRPr lang="en-US" sz="1600" dirty="0"/>
          </a:p>
        </p:txBody>
      </p:sp>
      <p:sp>
        <p:nvSpPr>
          <p:cNvPr id="18" name="Text 14"/>
          <p:cNvSpPr/>
          <p:nvPr/>
        </p:nvSpPr>
        <p:spPr>
          <a:xfrm>
            <a:off x="7636550" y="5951577"/>
            <a:ext cx="6044922" cy="669369"/>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Mostrar contenido de la carpeta</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similar a lectura, pero aplicado solo a carpetas.</a:t>
            </a:r>
            <a:endParaRPr lang="en-US" sz="1600" dirty="0"/>
          </a:p>
        </p:txBody>
      </p:sp>
      <p:sp>
        <p:nvSpPr>
          <p:cNvPr id="19" name="Text 15"/>
          <p:cNvSpPr/>
          <p:nvPr/>
        </p:nvSpPr>
        <p:spPr>
          <a:xfrm>
            <a:off x="7636550" y="6694051"/>
            <a:ext cx="6044922" cy="334685"/>
          </a:xfrm>
          <a:prstGeom prst="rect">
            <a:avLst/>
          </a:prstGeom>
          <a:noFill/>
          <a:ln/>
        </p:spPr>
        <p:txBody>
          <a:bodyPr wrap="non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Leer</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ver nombres, datos, atributos y permisos.</a:t>
            </a:r>
            <a:endParaRPr lang="en-US" sz="1600" dirty="0"/>
          </a:p>
        </p:txBody>
      </p:sp>
      <p:sp>
        <p:nvSpPr>
          <p:cNvPr id="20" name="Text 16"/>
          <p:cNvSpPr/>
          <p:nvPr/>
        </p:nvSpPr>
        <p:spPr>
          <a:xfrm>
            <a:off x="7636550" y="7101840"/>
            <a:ext cx="6044922" cy="334685"/>
          </a:xfrm>
          <a:prstGeom prst="rect">
            <a:avLst/>
          </a:prstGeom>
          <a:noFill/>
          <a:ln/>
        </p:spPr>
        <p:txBody>
          <a:bodyPr wrap="none" lIns="0" tIns="0" rIns="0" bIns="0" rtlCol="0" anchor="t"/>
          <a:lstStyle/>
          <a:p>
            <a:pPr algn="l" marL="342900" indent="-342900">
              <a:lnSpc>
                <a:spcPts val="2600"/>
              </a:lnSpc>
              <a:buSzPct val="100000"/>
              <a:buChar char="•"/>
            </a:pPr>
            <a:r>
              <a:rPr lang="en-US" sz="1600" b="1" dirty="0">
                <a:solidFill>
                  <a:srgbClr val="2B2E3C"/>
                </a:solidFill>
                <a:latin typeface="Open Sans" pitchFamily="34" charset="0"/>
                <a:ea typeface="Open Sans" pitchFamily="34" charset="-122"/>
                <a:cs typeface="Open Sans" pitchFamily="34" charset="-120"/>
              </a:rPr>
              <a:t>Escribir</a:t>
            </a:r>
            <a:pPr algn="l" indent="0" marL="0">
              <a:lnSpc>
                <a:spcPts val="2600"/>
              </a:lnSpc>
              <a:buNone/>
            </a:pPr>
            <a:r>
              <a:rPr lang="en-US" sz="1600" dirty="0">
                <a:solidFill>
                  <a:srgbClr val="2B2E3C"/>
                </a:solidFill>
                <a:latin typeface="Open Sans" pitchFamily="34" charset="0"/>
                <a:ea typeface="Open Sans" pitchFamily="34" charset="-122"/>
                <a:cs typeface="Open Sans" pitchFamily="34" charset="-120"/>
              </a:rPr>
              <a:t>: crear o modificar archivos y subdirectorios.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3291"/>
          </a:xfrm>
          <a:prstGeom prst="rect">
            <a:avLst/>
          </a:prstGeom>
        </p:spPr>
      </p:pic>
      <p:sp>
        <p:nvSpPr>
          <p:cNvPr id="3" name="Text 0"/>
          <p:cNvSpPr/>
          <p:nvPr/>
        </p:nvSpPr>
        <p:spPr>
          <a:xfrm>
            <a:off x="791647" y="621983"/>
            <a:ext cx="7560707" cy="1413748"/>
          </a:xfrm>
          <a:prstGeom prst="rect">
            <a:avLst/>
          </a:prstGeom>
          <a:noFill/>
          <a:ln/>
        </p:spPr>
        <p:txBody>
          <a:bodyPr wrap="squar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¿Qué es administración de archivos?</a:t>
            </a:r>
            <a:endParaRPr lang="en-US" sz="4450" dirty="0"/>
          </a:p>
        </p:txBody>
      </p:sp>
      <p:sp>
        <p:nvSpPr>
          <p:cNvPr id="4" name="Text 1"/>
          <p:cNvSpPr/>
          <p:nvPr/>
        </p:nvSpPr>
        <p:spPr>
          <a:xfrm>
            <a:off x="791647" y="2374940"/>
            <a:ext cx="7560707" cy="1447800"/>
          </a:xfrm>
          <a:prstGeom prst="rect">
            <a:avLst/>
          </a:prstGeom>
          <a:noFill/>
          <a:ln/>
        </p:spPr>
        <p:txBody>
          <a:bodyPr wrap="square" lIns="0" tIns="0" rIns="0" bIns="0" rtlCol="0" anchor="t"/>
          <a:lstStyle/>
          <a:p>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Los archivos deben ser accesibles y seguros, independientemente de las aplicaciones. Para lograrlo, los sistemas operativos ofrecen herramientas específicas que organizan y protegen los archivos mediante servicios especiales.</a:t>
            </a:r>
            <a:endParaRPr lang="en-US" sz="1750" dirty="0"/>
          </a:p>
        </p:txBody>
      </p:sp>
      <p:sp>
        <p:nvSpPr>
          <p:cNvPr id="5" name="Text 2"/>
          <p:cNvSpPr/>
          <p:nvPr/>
        </p:nvSpPr>
        <p:spPr>
          <a:xfrm>
            <a:off x="791647" y="4303276"/>
            <a:ext cx="3504486" cy="706755"/>
          </a:xfrm>
          <a:prstGeom prst="rect">
            <a:avLst/>
          </a:prstGeom>
          <a:noFill/>
          <a:ln/>
        </p:spPr>
        <p:txBody>
          <a:bodyPr wrap="square" lIns="0" tIns="0" rIns="0" bIns="0" rtlCol="0" anchor="t"/>
          <a:lstStyle/>
          <a:p>
            <a:pPr algn="l" indent="0" marL="0">
              <a:lnSpc>
                <a:spcPts val="2750"/>
              </a:lnSpc>
              <a:buNone/>
            </a:pPr>
            <a:r>
              <a:rPr lang="en-US" sz="2200" b="1" dirty="0">
                <a:solidFill>
                  <a:srgbClr val="2C3F42"/>
                </a:solidFill>
                <a:latin typeface="Bitter Medium" pitchFamily="34" charset="0"/>
                <a:ea typeface="Bitter Medium" pitchFamily="34" charset="-122"/>
                <a:cs typeface="Bitter Medium" pitchFamily="34" charset="-120"/>
              </a:rPr>
              <a:t>Independencia de los archivos</a:t>
            </a:r>
            <a:endParaRPr lang="en-US" sz="2200" dirty="0"/>
          </a:p>
        </p:txBody>
      </p:sp>
      <p:sp>
        <p:nvSpPr>
          <p:cNvPr id="6" name="Text 3"/>
          <p:cNvSpPr/>
          <p:nvPr/>
        </p:nvSpPr>
        <p:spPr>
          <a:xfrm>
            <a:off x="791647" y="5236131"/>
            <a:ext cx="3504486" cy="2171700"/>
          </a:xfrm>
          <a:prstGeom prst="rect">
            <a:avLst/>
          </a:prstGeom>
          <a:noFill/>
          <a:ln/>
        </p:spPr>
        <p:txBody>
          <a:bodyPr wrap="square" lIns="0" tIns="0" rIns="0" bIns="0" rtlCol="0" anchor="t"/>
          <a:lstStyle/>
          <a:p>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Los archivos existen fuera de las aplicaciones. Los usuarios necesitan acceder, guardar y proteger su contenido sin depender de un programa específico.</a:t>
            </a:r>
            <a:endParaRPr lang="en-US" sz="1750" dirty="0"/>
          </a:p>
        </p:txBody>
      </p:sp>
      <p:sp>
        <p:nvSpPr>
          <p:cNvPr id="7" name="Text 4"/>
          <p:cNvSpPr/>
          <p:nvPr/>
        </p:nvSpPr>
        <p:spPr>
          <a:xfrm>
            <a:off x="4855488" y="4303276"/>
            <a:ext cx="3504486" cy="706755"/>
          </a:xfrm>
          <a:prstGeom prst="rect">
            <a:avLst/>
          </a:prstGeom>
          <a:noFill/>
          <a:ln/>
        </p:spPr>
        <p:txBody>
          <a:bodyPr wrap="square" lIns="0" tIns="0" rIns="0" bIns="0" rtlCol="0" anchor="t"/>
          <a:lstStyle/>
          <a:p>
            <a:pPr algn="l" indent="0" marL="0">
              <a:lnSpc>
                <a:spcPts val="2750"/>
              </a:lnSpc>
              <a:buNone/>
            </a:pPr>
            <a:r>
              <a:rPr lang="en-US" sz="2200" b="1" dirty="0">
                <a:solidFill>
                  <a:srgbClr val="2C3F42"/>
                </a:solidFill>
                <a:latin typeface="Bitter Medium" pitchFamily="34" charset="0"/>
                <a:ea typeface="Bitter Medium" pitchFamily="34" charset="-122"/>
                <a:cs typeface="Bitter Medium" pitchFamily="34" charset="-120"/>
              </a:rPr>
              <a:t>Gestión de archivos en el sistema operativo</a:t>
            </a:r>
            <a:endParaRPr lang="en-US" sz="2200" dirty="0"/>
          </a:p>
        </p:txBody>
      </p:sp>
      <p:sp>
        <p:nvSpPr>
          <p:cNvPr id="8" name="Text 5"/>
          <p:cNvSpPr/>
          <p:nvPr/>
        </p:nvSpPr>
        <p:spPr>
          <a:xfrm>
            <a:off x="4855488" y="5236131"/>
            <a:ext cx="3504486" cy="2171700"/>
          </a:xfrm>
          <a:prstGeom prst="rect">
            <a:avLst/>
          </a:prstGeom>
          <a:noFill/>
          <a:ln/>
        </p:spPr>
        <p:txBody>
          <a:bodyPr wrap="square" lIns="0" tIns="0" rIns="0" bIns="0" rtlCol="0" anchor="t"/>
          <a:lstStyle/>
          <a:p>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El sistema operativo incluye herramientas para organizar y proteger archivos. Estas funciones requieren servicios especiales para garantizar su correcto funcionamiento.</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21638" y="732234"/>
            <a:ext cx="7334012" cy="644366"/>
          </a:xfrm>
          <a:prstGeom prst="rect">
            <a:avLst/>
          </a:prstGeom>
          <a:noFill/>
          <a:ln/>
        </p:spPr>
        <p:txBody>
          <a:bodyPr wrap="none" lIns="0" tIns="0" rIns="0" bIns="0" rtlCol="0" anchor="t"/>
          <a:lstStyle/>
          <a:p>
            <a:pPr algn="l" indent="0" marL="0">
              <a:lnSpc>
                <a:spcPts val="5050"/>
              </a:lnSpc>
              <a:buNone/>
            </a:pPr>
            <a:r>
              <a:rPr lang="en-US" sz="4050" dirty="0">
                <a:solidFill>
                  <a:srgbClr val="2C3F42"/>
                </a:solidFill>
                <a:latin typeface="Bitter Medium" pitchFamily="34" charset="0"/>
                <a:ea typeface="Bitter Medium" pitchFamily="34" charset="-122"/>
                <a:cs typeface="Bitter Medium" pitchFamily="34" charset="-120"/>
              </a:rPr>
              <a:t>Conceptos Básicos de Archivos</a:t>
            </a:r>
            <a:endParaRPr lang="en-US" sz="4050" dirty="0"/>
          </a:p>
        </p:txBody>
      </p:sp>
      <p:sp>
        <p:nvSpPr>
          <p:cNvPr id="3" name="Text 1"/>
          <p:cNvSpPr/>
          <p:nvPr/>
        </p:nvSpPr>
        <p:spPr>
          <a:xfrm>
            <a:off x="721638" y="1788914"/>
            <a:ext cx="13187124" cy="659844"/>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El sistema de archivos, parte fundamental del sistema operativo, es responsable de administrar la información en el almacenamiento secundario. Abstrae los detalles técnicos para que los usuarios puedan guardar y leer datos sin preocuparse por la ubicación física.</a:t>
            </a:r>
            <a:endParaRPr lang="en-US" sz="1600" dirty="0"/>
          </a:p>
        </p:txBody>
      </p:sp>
      <p:sp>
        <p:nvSpPr>
          <p:cNvPr id="4" name="Text 2"/>
          <p:cNvSpPr/>
          <p:nvPr/>
        </p:nvSpPr>
        <p:spPr>
          <a:xfrm>
            <a:off x="721638" y="2757964"/>
            <a:ext cx="6487001" cy="515541"/>
          </a:xfrm>
          <a:prstGeom prst="rect">
            <a:avLst/>
          </a:prstGeom>
          <a:noFill/>
          <a:ln/>
        </p:spPr>
        <p:txBody>
          <a:bodyPr wrap="none" lIns="0" tIns="0" rIns="0" bIns="0" rtlCol="0" anchor="t"/>
          <a:lstStyle/>
          <a:p>
            <a:pPr algn="l" indent="0" marL="0">
              <a:lnSpc>
                <a:spcPts val="4050"/>
              </a:lnSpc>
              <a:buNone/>
            </a:pPr>
            <a:r>
              <a:rPr lang="en-US" sz="3200" dirty="0">
                <a:solidFill>
                  <a:srgbClr val="2C3F42"/>
                </a:solidFill>
                <a:latin typeface="Bitter Medium" pitchFamily="34" charset="0"/>
                <a:ea typeface="Bitter Medium" pitchFamily="34" charset="-122"/>
                <a:cs typeface="Bitter Medium" pitchFamily="34" charset="-120"/>
              </a:rPr>
              <a:t>Estructuras Comunes de Archivos</a:t>
            </a:r>
            <a:endParaRPr lang="en-US" sz="3200" dirty="0"/>
          </a:p>
        </p:txBody>
      </p:sp>
      <p:sp>
        <p:nvSpPr>
          <p:cNvPr id="5" name="Shape 3"/>
          <p:cNvSpPr/>
          <p:nvPr/>
        </p:nvSpPr>
        <p:spPr>
          <a:xfrm>
            <a:off x="721638" y="3582710"/>
            <a:ext cx="4258270" cy="3089791"/>
          </a:xfrm>
          <a:prstGeom prst="roundRect">
            <a:avLst>
              <a:gd name="adj" fmla="val 2803"/>
            </a:avLst>
          </a:prstGeom>
          <a:solidFill>
            <a:srgbClr val="FCE2CF"/>
          </a:solidFill>
          <a:ln w="7620">
            <a:solidFill>
              <a:srgbClr val="E2C8B5"/>
            </a:solidFill>
            <a:prstDash val="solid"/>
          </a:ln>
        </p:spPr>
      </p:sp>
      <p:sp>
        <p:nvSpPr>
          <p:cNvPr id="6" name="Shape 4"/>
          <p:cNvSpPr/>
          <p:nvPr/>
        </p:nvSpPr>
        <p:spPr>
          <a:xfrm>
            <a:off x="935355" y="3796427"/>
            <a:ext cx="618530" cy="618530"/>
          </a:xfrm>
          <a:prstGeom prst="roundRect">
            <a:avLst>
              <a:gd name="adj" fmla="val 14781960"/>
            </a:avLst>
          </a:prstGeom>
          <a:solidFill>
            <a:srgbClr val="D2600F"/>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5376" y="3966448"/>
            <a:ext cx="278368" cy="278368"/>
          </a:xfrm>
          <a:prstGeom prst="rect">
            <a:avLst/>
          </a:prstGeom>
        </p:spPr>
      </p:pic>
      <p:sp>
        <p:nvSpPr>
          <p:cNvPr id="8" name="Text 5"/>
          <p:cNvSpPr/>
          <p:nvPr/>
        </p:nvSpPr>
        <p:spPr>
          <a:xfrm>
            <a:off x="935355" y="4621054"/>
            <a:ext cx="2577584" cy="322183"/>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Secuencia de Bytes</a:t>
            </a:r>
            <a:endParaRPr lang="en-US" sz="2000" dirty="0"/>
          </a:p>
        </p:txBody>
      </p:sp>
      <p:sp>
        <p:nvSpPr>
          <p:cNvPr id="9" name="Text 6"/>
          <p:cNvSpPr/>
          <p:nvPr/>
        </p:nvSpPr>
        <p:spPr>
          <a:xfrm>
            <a:off x="935355" y="5066943"/>
            <a:ext cx="3830836"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Máxima flexibilidad.</a:t>
            </a:r>
            <a:endParaRPr lang="en-US" sz="1600" dirty="0"/>
          </a:p>
        </p:txBody>
      </p:sp>
      <p:sp>
        <p:nvSpPr>
          <p:cNvPr id="10" name="Text 7"/>
          <p:cNvSpPr/>
          <p:nvPr/>
        </p:nvSpPr>
        <p:spPr>
          <a:xfrm>
            <a:off x="935355" y="5469017"/>
            <a:ext cx="3830836"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El sistema operativo no interpreta el contenido.</a:t>
            </a:r>
            <a:endParaRPr lang="en-US" sz="1600" dirty="0"/>
          </a:p>
        </p:txBody>
      </p:sp>
      <p:sp>
        <p:nvSpPr>
          <p:cNvPr id="11" name="Shape 8"/>
          <p:cNvSpPr/>
          <p:nvPr/>
        </p:nvSpPr>
        <p:spPr>
          <a:xfrm>
            <a:off x="5186005" y="3582710"/>
            <a:ext cx="4258270" cy="3089791"/>
          </a:xfrm>
          <a:prstGeom prst="roundRect">
            <a:avLst>
              <a:gd name="adj" fmla="val 2803"/>
            </a:avLst>
          </a:prstGeom>
          <a:solidFill>
            <a:srgbClr val="FCE2CF"/>
          </a:solidFill>
          <a:ln w="7620">
            <a:solidFill>
              <a:srgbClr val="E2C8B5"/>
            </a:solidFill>
            <a:prstDash val="solid"/>
          </a:ln>
        </p:spPr>
      </p:sp>
      <p:sp>
        <p:nvSpPr>
          <p:cNvPr id="12" name="Shape 9"/>
          <p:cNvSpPr/>
          <p:nvPr/>
        </p:nvSpPr>
        <p:spPr>
          <a:xfrm>
            <a:off x="5399723" y="3796427"/>
            <a:ext cx="618530" cy="618530"/>
          </a:xfrm>
          <a:prstGeom prst="roundRect">
            <a:avLst>
              <a:gd name="adj" fmla="val 14781960"/>
            </a:avLst>
          </a:prstGeom>
          <a:solidFill>
            <a:srgbClr val="D2600F"/>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9744" y="3966448"/>
            <a:ext cx="278368" cy="278368"/>
          </a:xfrm>
          <a:prstGeom prst="rect">
            <a:avLst/>
          </a:prstGeom>
        </p:spPr>
      </p:pic>
      <p:sp>
        <p:nvSpPr>
          <p:cNvPr id="14" name="Text 10"/>
          <p:cNvSpPr/>
          <p:nvPr/>
        </p:nvSpPr>
        <p:spPr>
          <a:xfrm>
            <a:off x="5399723" y="4621054"/>
            <a:ext cx="2756892" cy="322183"/>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Secuencia de Registros</a:t>
            </a:r>
            <a:endParaRPr lang="en-US" sz="2000" dirty="0"/>
          </a:p>
        </p:txBody>
      </p:sp>
      <p:sp>
        <p:nvSpPr>
          <p:cNvPr id="15" name="Text 11"/>
          <p:cNvSpPr/>
          <p:nvPr/>
        </p:nvSpPr>
        <p:spPr>
          <a:xfrm>
            <a:off x="5399723" y="5066943"/>
            <a:ext cx="3830836"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Registros de longitud fija.</a:t>
            </a:r>
            <a:endParaRPr lang="en-US" sz="1600" dirty="0"/>
          </a:p>
        </p:txBody>
      </p:sp>
      <p:sp>
        <p:nvSpPr>
          <p:cNvPr id="16" name="Text 12"/>
          <p:cNvSpPr/>
          <p:nvPr/>
        </p:nvSpPr>
        <p:spPr>
          <a:xfrm>
            <a:off x="5399723" y="5469017"/>
            <a:ext cx="3830836"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Cada uno con estructura interna definida.</a:t>
            </a:r>
            <a:endParaRPr lang="en-US" sz="1600" dirty="0"/>
          </a:p>
        </p:txBody>
      </p:sp>
      <p:sp>
        <p:nvSpPr>
          <p:cNvPr id="17" name="Shape 13"/>
          <p:cNvSpPr/>
          <p:nvPr/>
        </p:nvSpPr>
        <p:spPr>
          <a:xfrm>
            <a:off x="9650373" y="3582710"/>
            <a:ext cx="4258270" cy="3089791"/>
          </a:xfrm>
          <a:prstGeom prst="roundRect">
            <a:avLst>
              <a:gd name="adj" fmla="val 2803"/>
            </a:avLst>
          </a:prstGeom>
          <a:solidFill>
            <a:srgbClr val="FCE2CF"/>
          </a:solidFill>
          <a:ln w="7620">
            <a:solidFill>
              <a:srgbClr val="E2C8B5"/>
            </a:solidFill>
            <a:prstDash val="solid"/>
          </a:ln>
        </p:spPr>
      </p:sp>
      <p:sp>
        <p:nvSpPr>
          <p:cNvPr id="18" name="Shape 14"/>
          <p:cNvSpPr/>
          <p:nvPr/>
        </p:nvSpPr>
        <p:spPr>
          <a:xfrm>
            <a:off x="9864090" y="3796427"/>
            <a:ext cx="618530" cy="618530"/>
          </a:xfrm>
          <a:prstGeom prst="roundRect">
            <a:avLst>
              <a:gd name="adj" fmla="val 14781960"/>
            </a:avLst>
          </a:prstGeom>
          <a:solidFill>
            <a:srgbClr val="D2600F"/>
          </a:solidFill>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34111" y="3966448"/>
            <a:ext cx="278368" cy="278368"/>
          </a:xfrm>
          <a:prstGeom prst="rect">
            <a:avLst/>
          </a:prstGeom>
        </p:spPr>
      </p:pic>
      <p:sp>
        <p:nvSpPr>
          <p:cNvPr id="20" name="Text 15"/>
          <p:cNvSpPr/>
          <p:nvPr/>
        </p:nvSpPr>
        <p:spPr>
          <a:xfrm>
            <a:off x="9864090" y="4621054"/>
            <a:ext cx="2577584" cy="322183"/>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Árbol</a:t>
            </a:r>
            <a:endParaRPr lang="en-US" sz="2000" dirty="0"/>
          </a:p>
        </p:txBody>
      </p:sp>
      <p:sp>
        <p:nvSpPr>
          <p:cNvPr id="21" name="Text 16"/>
          <p:cNvSpPr/>
          <p:nvPr/>
        </p:nvSpPr>
        <p:spPr>
          <a:xfrm>
            <a:off x="9864090" y="5066943"/>
            <a:ext cx="3830836"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Registros no necesariamente de la misma longitud.</a:t>
            </a:r>
            <a:endParaRPr lang="en-US" sz="1600" dirty="0"/>
          </a:p>
        </p:txBody>
      </p:sp>
      <p:sp>
        <p:nvSpPr>
          <p:cNvPr id="22" name="Text 17"/>
          <p:cNvSpPr/>
          <p:nvPr/>
        </p:nvSpPr>
        <p:spPr>
          <a:xfrm>
            <a:off x="9864090" y="5798939"/>
            <a:ext cx="3830836"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2B2E3C"/>
                </a:solidFill>
                <a:latin typeface="Open Sans" pitchFamily="34" charset="0"/>
                <a:ea typeface="Open Sans" pitchFamily="34" charset="-122"/>
                <a:cs typeface="Open Sans" pitchFamily="34" charset="-120"/>
              </a:rPr>
              <a:t>Ordenado por un campo clave para búsquedas rápidas.</a:t>
            </a:r>
            <a:endParaRPr lang="en-US" sz="1600" dirty="0"/>
          </a:p>
        </p:txBody>
      </p:sp>
      <p:sp>
        <p:nvSpPr>
          <p:cNvPr id="23" name="Text 18"/>
          <p:cNvSpPr/>
          <p:nvPr/>
        </p:nvSpPr>
        <p:spPr>
          <a:xfrm>
            <a:off x="721638" y="6981706"/>
            <a:ext cx="4124087" cy="515541"/>
          </a:xfrm>
          <a:prstGeom prst="rect">
            <a:avLst/>
          </a:prstGeom>
          <a:noFill/>
          <a:ln/>
        </p:spPr>
        <p:txBody>
          <a:bodyPr wrap="none" lIns="0" tIns="0" rIns="0" bIns="0" rtlCol="0" anchor="t"/>
          <a:lstStyle/>
          <a:p>
            <a:pPr algn="l" indent="0" marL="0">
              <a:lnSpc>
                <a:spcPts val="4050"/>
              </a:lnSpc>
              <a:buNone/>
            </a:pP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8179" y="675442"/>
            <a:ext cx="6784419" cy="477202"/>
          </a:xfrm>
          <a:prstGeom prst="rect">
            <a:avLst/>
          </a:prstGeom>
          <a:noFill/>
          <a:ln/>
        </p:spPr>
        <p:txBody>
          <a:bodyPr wrap="none" lIns="0" tIns="0" rIns="0" bIns="0" rtlCol="0" anchor="t"/>
          <a:lstStyle/>
          <a:p>
            <a:pPr algn="l" indent="0" marL="0">
              <a:lnSpc>
                <a:spcPts val="3750"/>
              </a:lnSpc>
              <a:buNone/>
            </a:pPr>
            <a:r>
              <a:rPr lang="en-US" sz="3000" dirty="0">
                <a:solidFill>
                  <a:srgbClr val="2C3F42"/>
                </a:solidFill>
                <a:latin typeface="Bitter Medium" pitchFamily="34" charset="0"/>
                <a:ea typeface="Bitter Medium" pitchFamily="34" charset="-122"/>
                <a:cs typeface="Bitter Medium" pitchFamily="34" charset="-120"/>
              </a:rPr>
              <a:t>Atributos y Nomenclatura de Archivos</a:t>
            </a:r>
            <a:endParaRPr lang="en-US" sz="3000" dirty="0"/>
          </a:p>
        </p:txBody>
      </p:sp>
      <p:sp>
        <p:nvSpPr>
          <p:cNvPr id="3" name="Text 1"/>
          <p:cNvSpPr/>
          <p:nvPr/>
        </p:nvSpPr>
        <p:spPr>
          <a:xfrm>
            <a:off x="668179" y="1534477"/>
            <a:ext cx="13294043" cy="305514"/>
          </a:xfrm>
          <a:prstGeom prst="rect">
            <a:avLst/>
          </a:prstGeom>
          <a:noFill/>
          <a:ln/>
        </p:spPr>
        <p:txBody>
          <a:bodyPr wrap="non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Un archivo es la porción más pequeña de almacenamiento lógico secundario, definido por su creador y accesible mediante un nombre único.</a:t>
            </a:r>
            <a:endParaRPr lang="en-US" sz="1500" dirty="0"/>
          </a:p>
        </p:txBody>
      </p:sp>
      <p:sp>
        <p:nvSpPr>
          <p:cNvPr id="4" name="Shape 2"/>
          <p:cNvSpPr/>
          <p:nvPr/>
        </p:nvSpPr>
        <p:spPr>
          <a:xfrm>
            <a:off x="668179" y="2054781"/>
            <a:ext cx="6551533" cy="1451372"/>
          </a:xfrm>
          <a:prstGeom prst="roundRect">
            <a:avLst>
              <a:gd name="adj" fmla="val 5525"/>
            </a:avLst>
          </a:prstGeom>
          <a:solidFill>
            <a:srgbClr val="FFF8F0"/>
          </a:solidFill>
          <a:ln w="22860">
            <a:solidFill>
              <a:srgbClr val="E2C8B5"/>
            </a:solidFill>
            <a:prstDash val="solid"/>
          </a:ln>
        </p:spPr>
      </p:sp>
      <p:sp>
        <p:nvSpPr>
          <p:cNvPr id="5" name="Text 3"/>
          <p:cNvSpPr/>
          <p:nvPr/>
        </p:nvSpPr>
        <p:spPr>
          <a:xfrm>
            <a:off x="881896" y="2268498"/>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Nombre</a:t>
            </a:r>
            <a:endParaRPr lang="en-US" sz="1850" dirty="0"/>
          </a:p>
        </p:txBody>
      </p:sp>
      <p:sp>
        <p:nvSpPr>
          <p:cNvPr id="6" name="Text 4"/>
          <p:cNvSpPr/>
          <p:nvPr/>
        </p:nvSpPr>
        <p:spPr>
          <a:xfrm>
            <a:off x="881896" y="2681407"/>
            <a:ext cx="6124099"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Identificador simbólico legible por humanos, independiente del proceso que lo creó.</a:t>
            </a:r>
            <a:endParaRPr lang="en-US" sz="1500" dirty="0"/>
          </a:p>
        </p:txBody>
      </p:sp>
      <p:sp>
        <p:nvSpPr>
          <p:cNvPr id="7" name="Shape 5"/>
          <p:cNvSpPr/>
          <p:nvPr/>
        </p:nvSpPr>
        <p:spPr>
          <a:xfrm>
            <a:off x="7410569" y="2054781"/>
            <a:ext cx="6551652" cy="1451372"/>
          </a:xfrm>
          <a:prstGeom prst="roundRect">
            <a:avLst>
              <a:gd name="adj" fmla="val 5525"/>
            </a:avLst>
          </a:prstGeom>
          <a:solidFill>
            <a:srgbClr val="FFF8F0"/>
          </a:solidFill>
          <a:ln w="22860">
            <a:solidFill>
              <a:srgbClr val="E2C8B5"/>
            </a:solidFill>
            <a:prstDash val="solid"/>
          </a:ln>
        </p:spPr>
      </p:sp>
      <p:sp>
        <p:nvSpPr>
          <p:cNvPr id="8" name="Text 6"/>
          <p:cNvSpPr/>
          <p:nvPr/>
        </p:nvSpPr>
        <p:spPr>
          <a:xfrm>
            <a:off x="7624286" y="2268498"/>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Tipo</a:t>
            </a:r>
            <a:endParaRPr lang="en-US" sz="1850" dirty="0"/>
          </a:p>
        </p:txBody>
      </p:sp>
      <p:sp>
        <p:nvSpPr>
          <p:cNvPr id="9" name="Text 7"/>
          <p:cNvSpPr/>
          <p:nvPr/>
        </p:nvSpPr>
        <p:spPr>
          <a:xfrm>
            <a:off x="7624286" y="2681407"/>
            <a:ext cx="6124218"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Indica la naturaleza del contenido (ej. programa, texto, imagen), relevante en sistemas con tipos específicos.</a:t>
            </a:r>
            <a:endParaRPr lang="en-US" sz="1500" dirty="0"/>
          </a:p>
        </p:txBody>
      </p:sp>
      <p:sp>
        <p:nvSpPr>
          <p:cNvPr id="10" name="Shape 8"/>
          <p:cNvSpPr/>
          <p:nvPr/>
        </p:nvSpPr>
        <p:spPr>
          <a:xfrm>
            <a:off x="668179" y="3697010"/>
            <a:ext cx="6551533" cy="1451372"/>
          </a:xfrm>
          <a:prstGeom prst="roundRect">
            <a:avLst>
              <a:gd name="adj" fmla="val 5525"/>
            </a:avLst>
          </a:prstGeom>
          <a:solidFill>
            <a:srgbClr val="FFF8F0"/>
          </a:solidFill>
          <a:ln w="22860">
            <a:solidFill>
              <a:srgbClr val="E2C8B5"/>
            </a:solidFill>
            <a:prstDash val="solid"/>
          </a:ln>
        </p:spPr>
      </p:sp>
      <p:sp>
        <p:nvSpPr>
          <p:cNvPr id="11" name="Text 9"/>
          <p:cNvSpPr/>
          <p:nvPr/>
        </p:nvSpPr>
        <p:spPr>
          <a:xfrm>
            <a:off x="881896" y="3910727"/>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Ubicación</a:t>
            </a:r>
            <a:endParaRPr lang="en-US" sz="1850" dirty="0"/>
          </a:p>
        </p:txBody>
      </p:sp>
      <p:sp>
        <p:nvSpPr>
          <p:cNvPr id="12" name="Text 10"/>
          <p:cNvSpPr/>
          <p:nvPr/>
        </p:nvSpPr>
        <p:spPr>
          <a:xfrm>
            <a:off x="881896" y="4323636"/>
            <a:ext cx="6124099"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Apuntador al dispositivo y la posición física del archivo en el almacenamiento.</a:t>
            </a:r>
            <a:endParaRPr lang="en-US" sz="1500" dirty="0"/>
          </a:p>
        </p:txBody>
      </p:sp>
      <p:sp>
        <p:nvSpPr>
          <p:cNvPr id="13" name="Shape 11"/>
          <p:cNvSpPr/>
          <p:nvPr/>
        </p:nvSpPr>
        <p:spPr>
          <a:xfrm>
            <a:off x="7410569" y="3697010"/>
            <a:ext cx="6551652" cy="1451372"/>
          </a:xfrm>
          <a:prstGeom prst="roundRect">
            <a:avLst>
              <a:gd name="adj" fmla="val 5525"/>
            </a:avLst>
          </a:prstGeom>
          <a:solidFill>
            <a:srgbClr val="FFF8F0"/>
          </a:solidFill>
          <a:ln w="22860">
            <a:solidFill>
              <a:srgbClr val="E2C8B5"/>
            </a:solidFill>
            <a:prstDash val="solid"/>
          </a:ln>
        </p:spPr>
      </p:sp>
      <p:sp>
        <p:nvSpPr>
          <p:cNvPr id="14" name="Text 12"/>
          <p:cNvSpPr/>
          <p:nvPr/>
        </p:nvSpPr>
        <p:spPr>
          <a:xfrm>
            <a:off x="7624286" y="3910727"/>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Tamaño</a:t>
            </a:r>
            <a:endParaRPr lang="en-US" sz="1850" dirty="0"/>
          </a:p>
        </p:txBody>
      </p:sp>
      <p:sp>
        <p:nvSpPr>
          <p:cNvPr id="15" name="Text 13"/>
          <p:cNvSpPr/>
          <p:nvPr/>
        </p:nvSpPr>
        <p:spPr>
          <a:xfrm>
            <a:off x="7624286" y="4323636"/>
            <a:ext cx="6124218"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Espacio actual ocupado y, opcionalmente, el tamaño máximo permitido.</a:t>
            </a:r>
            <a:endParaRPr lang="en-US" sz="1500" dirty="0"/>
          </a:p>
        </p:txBody>
      </p:sp>
      <p:sp>
        <p:nvSpPr>
          <p:cNvPr id="16" name="Shape 14"/>
          <p:cNvSpPr/>
          <p:nvPr/>
        </p:nvSpPr>
        <p:spPr>
          <a:xfrm>
            <a:off x="668179" y="5339239"/>
            <a:ext cx="6551533" cy="1451372"/>
          </a:xfrm>
          <a:prstGeom prst="roundRect">
            <a:avLst>
              <a:gd name="adj" fmla="val 5525"/>
            </a:avLst>
          </a:prstGeom>
          <a:solidFill>
            <a:srgbClr val="FFF8F0"/>
          </a:solidFill>
          <a:ln w="22860">
            <a:solidFill>
              <a:srgbClr val="E2C8B5"/>
            </a:solidFill>
            <a:prstDash val="solid"/>
          </a:ln>
        </p:spPr>
      </p:sp>
      <p:sp>
        <p:nvSpPr>
          <p:cNvPr id="17" name="Text 15"/>
          <p:cNvSpPr/>
          <p:nvPr/>
        </p:nvSpPr>
        <p:spPr>
          <a:xfrm>
            <a:off x="881896" y="5552956"/>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Protección</a:t>
            </a:r>
            <a:endParaRPr lang="en-US" sz="1850" dirty="0"/>
          </a:p>
        </p:txBody>
      </p:sp>
      <p:sp>
        <p:nvSpPr>
          <p:cNvPr id="18" name="Text 16"/>
          <p:cNvSpPr/>
          <p:nvPr/>
        </p:nvSpPr>
        <p:spPr>
          <a:xfrm>
            <a:off x="881896" y="5965865"/>
            <a:ext cx="6124099"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Información de control de acceso para definir quién puede leer, escribir o ejecutar el archivo.</a:t>
            </a:r>
            <a:endParaRPr lang="en-US" sz="1500" dirty="0"/>
          </a:p>
        </p:txBody>
      </p:sp>
      <p:sp>
        <p:nvSpPr>
          <p:cNvPr id="19" name="Shape 17"/>
          <p:cNvSpPr/>
          <p:nvPr/>
        </p:nvSpPr>
        <p:spPr>
          <a:xfrm>
            <a:off x="7410569" y="5339239"/>
            <a:ext cx="6551652" cy="1451372"/>
          </a:xfrm>
          <a:prstGeom prst="roundRect">
            <a:avLst>
              <a:gd name="adj" fmla="val 5525"/>
            </a:avLst>
          </a:prstGeom>
          <a:solidFill>
            <a:srgbClr val="FFF8F0"/>
          </a:solidFill>
          <a:ln w="22860">
            <a:solidFill>
              <a:srgbClr val="E2C8B5"/>
            </a:solidFill>
            <a:prstDash val="solid"/>
          </a:ln>
        </p:spPr>
      </p:sp>
      <p:sp>
        <p:nvSpPr>
          <p:cNvPr id="20" name="Text 18"/>
          <p:cNvSpPr/>
          <p:nvPr/>
        </p:nvSpPr>
        <p:spPr>
          <a:xfrm>
            <a:off x="7624286" y="5552956"/>
            <a:ext cx="2386608" cy="298371"/>
          </a:xfrm>
          <a:prstGeom prst="rect">
            <a:avLst/>
          </a:prstGeom>
          <a:noFill/>
          <a:ln/>
        </p:spPr>
        <p:txBody>
          <a:bodyPr wrap="none" lIns="0" tIns="0" rIns="0" bIns="0" rtlCol="0" anchor="t"/>
          <a:lstStyle/>
          <a:p>
            <a:pPr algn="l" indent="0" marL="0">
              <a:lnSpc>
                <a:spcPts val="2300"/>
              </a:lnSpc>
              <a:buNone/>
            </a:pPr>
            <a:r>
              <a:rPr lang="en-US" sz="1850" dirty="0">
                <a:solidFill>
                  <a:srgbClr val="2B2E3C"/>
                </a:solidFill>
                <a:latin typeface="Bitter Medium" pitchFamily="34" charset="0"/>
                <a:ea typeface="Bitter Medium" pitchFamily="34" charset="-122"/>
                <a:cs typeface="Bitter Medium" pitchFamily="34" charset="-120"/>
              </a:rPr>
              <a:t>Fecha y Hora</a:t>
            </a:r>
            <a:endParaRPr lang="en-US" sz="1850" dirty="0"/>
          </a:p>
        </p:txBody>
      </p:sp>
      <p:sp>
        <p:nvSpPr>
          <p:cNvPr id="21" name="Text 19"/>
          <p:cNvSpPr/>
          <p:nvPr/>
        </p:nvSpPr>
        <p:spPr>
          <a:xfrm>
            <a:off x="7624286" y="5965865"/>
            <a:ext cx="6124218" cy="611029"/>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Registra la creación, última modificación y último uso, útil para seguridad y auditoría.</a:t>
            </a:r>
            <a:endParaRPr lang="en-US" sz="1500" dirty="0"/>
          </a:p>
        </p:txBody>
      </p:sp>
      <p:sp>
        <p:nvSpPr>
          <p:cNvPr id="22" name="Text 20"/>
          <p:cNvSpPr/>
          <p:nvPr/>
        </p:nvSpPr>
        <p:spPr>
          <a:xfrm>
            <a:off x="668179" y="7076956"/>
            <a:ext cx="3818692" cy="477202"/>
          </a:xfrm>
          <a:prstGeom prst="rect">
            <a:avLst/>
          </a:prstGeom>
          <a:noFill/>
          <a:ln/>
        </p:spPr>
        <p:txBody>
          <a:bodyPr wrap="none" lIns="0" tIns="0" rIns="0" bIns="0" rtlCol="0" anchor="t"/>
          <a:lstStyle/>
          <a:p>
            <a:pPr algn="l" indent="0" marL="0">
              <a:lnSpc>
                <a:spcPts val="3750"/>
              </a:lnSpc>
              <a:buNone/>
            </a:pP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71644" y="606266"/>
            <a:ext cx="7352705" cy="551259"/>
          </a:xfrm>
          <a:prstGeom prst="rect">
            <a:avLst/>
          </a:prstGeom>
          <a:noFill/>
          <a:ln/>
        </p:spPr>
        <p:txBody>
          <a:bodyPr wrap="none" lIns="0" tIns="0" rIns="0" bIns="0" rtlCol="0" anchor="t"/>
          <a:lstStyle/>
          <a:p>
            <a:pPr algn="l" indent="0" marL="0">
              <a:lnSpc>
                <a:spcPts val="4300"/>
              </a:lnSpc>
              <a:buNone/>
            </a:pPr>
            <a:r>
              <a:rPr lang="en-US" sz="3450" dirty="0">
                <a:solidFill>
                  <a:srgbClr val="2C3F42"/>
                </a:solidFill>
                <a:latin typeface="Bitter Medium" pitchFamily="34" charset="0"/>
                <a:ea typeface="Bitter Medium" pitchFamily="34" charset="-122"/>
                <a:cs typeface="Bitter Medium" pitchFamily="34" charset="-120"/>
              </a:rPr>
              <a:t>Operaciones Básicas sobre Archivos</a:t>
            </a:r>
            <a:endParaRPr lang="en-US" sz="3450" dirty="0"/>
          </a:p>
        </p:txBody>
      </p:sp>
      <p:sp>
        <p:nvSpPr>
          <p:cNvPr id="3" name="Text 1"/>
          <p:cNvSpPr/>
          <p:nvPr/>
        </p:nvSpPr>
        <p:spPr>
          <a:xfrm>
            <a:off x="771644" y="1598414"/>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01</a:t>
            </a:r>
            <a:endParaRPr lang="en-US" sz="1700" dirty="0"/>
          </a:p>
        </p:txBody>
      </p:sp>
      <p:sp>
        <p:nvSpPr>
          <p:cNvPr id="4" name="Shape 2"/>
          <p:cNvSpPr/>
          <p:nvPr/>
        </p:nvSpPr>
        <p:spPr>
          <a:xfrm>
            <a:off x="771644" y="1942505"/>
            <a:ext cx="6433304" cy="30480"/>
          </a:xfrm>
          <a:prstGeom prst="rect">
            <a:avLst/>
          </a:prstGeom>
          <a:solidFill>
            <a:srgbClr val="D2600F"/>
          </a:solidFill>
          <a:ln/>
        </p:spPr>
      </p:sp>
      <p:sp>
        <p:nvSpPr>
          <p:cNvPr id="5" name="Text 3"/>
          <p:cNvSpPr/>
          <p:nvPr/>
        </p:nvSpPr>
        <p:spPr>
          <a:xfrm>
            <a:off x="771644" y="2113598"/>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Crear</a:t>
            </a:r>
            <a:endParaRPr lang="en-US" sz="2150" dirty="0"/>
          </a:p>
        </p:txBody>
      </p:sp>
      <p:sp>
        <p:nvSpPr>
          <p:cNvPr id="6" name="Text 4"/>
          <p:cNvSpPr/>
          <p:nvPr/>
        </p:nvSpPr>
        <p:spPr>
          <a:xfrm>
            <a:off x="771644" y="2590324"/>
            <a:ext cx="6433304"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Encontrar espacio, añadir entrada en el directorio con nombre y ubicación.</a:t>
            </a:r>
            <a:endParaRPr lang="en-US" sz="1700" dirty="0"/>
          </a:p>
        </p:txBody>
      </p:sp>
      <p:sp>
        <p:nvSpPr>
          <p:cNvPr id="7" name="Text 5"/>
          <p:cNvSpPr/>
          <p:nvPr/>
        </p:nvSpPr>
        <p:spPr>
          <a:xfrm>
            <a:off x="7425333" y="1598414"/>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02</a:t>
            </a:r>
            <a:endParaRPr lang="en-US" sz="1700" dirty="0"/>
          </a:p>
        </p:txBody>
      </p:sp>
      <p:sp>
        <p:nvSpPr>
          <p:cNvPr id="8" name="Shape 6"/>
          <p:cNvSpPr/>
          <p:nvPr/>
        </p:nvSpPr>
        <p:spPr>
          <a:xfrm>
            <a:off x="7425333" y="1942505"/>
            <a:ext cx="6433423" cy="30480"/>
          </a:xfrm>
          <a:prstGeom prst="rect">
            <a:avLst/>
          </a:prstGeom>
          <a:solidFill>
            <a:srgbClr val="D2600F"/>
          </a:solidFill>
          <a:ln/>
        </p:spPr>
      </p:sp>
      <p:sp>
        <p:nvSpPr>
          <p:cNvPr id="9" name="Text 7"/>
          <p:cNvSpPr/>
          <p:nvPr/>
        </p:nvSpPr>
        <p:spPr>
          <a:xfrm>
            <a:off x="7425333" y="2113598"/>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Escribir</a:t>
            </a:r>
            <a:endParaRPr lang="en-US" sz="2150" dirty="0"/>
          </a:p>
        </p:txBody>
      </p:sp>
      <p:sp>
        <p:nvSpPr>
          <p:cNvPr id="10" name="Text 8"/>
          <p:cNvSpPr/>
          <p:nvPr/>
        </p:nvSpPr>
        <p:spPr>
          <a:xfrm>
            <a:off x="7425333" y="2590324"/>
            <a:ext cx="6433423"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Especificar archivo e información. El sistema actualiza el apuntador de escritura.</a:t>
            </a:r>
            <a:endParaRPr lang="en-US" sz="1700" dirty="0"/>
          </a:p>
        </p:txBody>
      </p:sp>
      <p:sp>
        <p:nvSpPr>
          <p:cNvPr id="11" name="Text 9"/>
          <p:cNvSpPr/>
          <p:nvPr/>
        </p:nvSpPr>
        <p:spPr>
          <a:xfrm>
            <a:off x="771644" y="3681532"/>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03</a:t>
            </a:r>
            <a:endParaRPr lang="en-US" sz="1700" dirty="0"/>
          </a:p>
        </p:txBody>
      </p:sp>
      <p:sp>
        <p:nvSpPr>
          <p:cNvPr id="12" name="Shape 10"/>
          <p:cNvSpPr/>
          <p:nvPr/>
        </p:nvSpPr>
        <p:spPr>
          <a:xfrm>
            <a:off x="771644" y="4025622"/>
            <a:ext cx="6433304" cy="30480"/>
          </a:xfrm>
          <a:prstGeom prst="rect">
            <a:avLst/>
          </a:prstGeom>
          <a:solidFill>
            <a:srgbClr val="D2600F"/>
          </a:solidFill>
          <a:ln/>
        </p:spPr>
      </p:sp>
      <p:sp>
        <p:nvSpPr>
          <p:cNvPr id="13" name="Text 11"/>
          <p:cNvSpPr/>
          <p:nvPr/>
        </p:nvSpPr>
        <p:spPr>
          <a:xfrm>
            <a:off x="771644" y="4196715"/>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Leer</a:t>
            </a:r>
            <a:endParaRPr lang="en-US" sz="2150" dirty="0"/>
          </a:p>
        </p:txBody>
      </p:sp>
      <p:sp>
        <p:nvSpPr>
          <p:cNvPr id="14" name="Text 12"/>
          <p:cNvSpPr/>
          <p:nvPr/>
        </p:nvSpPr>
        <p:spPr>
          <a:xfrm>
            <a:off x="771644" y="4673441"/>
            <a:ext cx="6433304"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Especificar archivo y lugar en memoria. El sistema actualiza el apuntador de lectura.</a:t>
            </a:r>
            <a:endParaRPr lang="en-US" sz="1700" dirty="0"/>
          </a:p>
        </p:txBody>
      </p:sp>
      <p:sp>
        <p:nvSpPr>
          <p:cNvPr id="15" name="Text 13"/>
          <p:cNvSpPr/>
          <p:nvPr/>
        </p:nvSpPr>
        <p:spPr>
          <a:xfrm>
            <a:off x="7425333" y="3681532"/>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04</a:t>
            </a:r>
            <a:endParaRPr lang="en-US" sz="1700" dirty="0"/>
          </a:p>
        </p:txBody>
      </p:sp>
      <p:sp>
        <p:nvSpPr>
          <p:cNvPr id="16" name="Shape 14"/>
          <p:cNvSpPr/>
          <p:nvPr/>
        </p:nvSpPr>
        <p:spPr>
          <a:xfrm>
            <a:off x="7425333" y="4025622"/>
            <a:ext cx="6433423" cy="30480"/>
          </a:xfrm>
          <a:prstGeom prst="rect">
            <a:avLst/>
          </a:prstGeom>
          <a:solidFill>
            <a:srgbClr val="D2600F"/>
          </a:solidFill>
          <a:ln/>
        </p:spPr>
      </p:sp>
      <p:sp>
        <p:nvSpPr>
          <p:cNvPr id="17" name="Text 15"/>
          <p:cNvSpPr/>
          <p:nvPr/>
        </p:nvSpPr>
        <p:spPr>
          <a:xfrm>
            <a:off x="7425333" y="4196715"/>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Reposicionar</a:t>
            </a:r>
            <a:endParaRPr lang="en-US" sz="2150" dirty="0"/>
          </a:p>
        </p:txBody>
      </p:sp>
      <p:sp>
        <p:nvSpPr>
          <p:cNvPr id="18" name="Text 16"/>
          <p:cNvSpPr/>
          <p:nvPr/>
        </p:nvSpPr>
        <p:spPr>
          <a:xfrm>
            <a:off x="7425333" y="4673441"/>
            <a:ext cx="6433423"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Mover el apuntador de lectura/escritura a una posición específica (también "búsqueda en archivo").</a:t>
            </a:r>
            <a:endParaRPr lang="en-US" sz="1700" dirty="0"/>
          </a:p>
        </p:txBody>
      </p:sp>
      <p:sp>
        <p:nvSpPr>
          <p:cNvPr id="19" name="Text 17"/>
          <p:cNvSpPr/>
          <p:nvPr/>
        </p:nvSpPr>
        <p:spPr>
          <a:xfrm>
            <a:off x="771644" y="5764649"/>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05</a:t>
            </a:r>
            <a:endParaRPr lang="en-US" sz="1700" dirty="0"/>
          </a:p>
        </p:txBody>
      </p:sp>
      <p:sp>
        <p:nvSpPr>
          <p:cNvPr id="20" name="Shape 18"/>
          <p:cNvSpPr/>
          <p:nvPr/>
        </p:nvSpPr>
        <p:spPr>
          <a:xfrm>
            <a:off x="771644" y="6108740"/>
            <a:ext cx="6433304" cy="30480"/>
          </a:xfrm>
          <a:prstGeom prst="rect">
            <a:avLst/>
          </a:prstGeom>
          <a:solidFill>
            <a:srgbClr val="D2600F"/>
          </a:solidFill>
          <a:ln/>
        </p:spPr>
      </p:sp>
      <p:sp>
        <p:nvSpPr>
          <p:cNvPr id="21" name="Text 19"/>
          <p:cNvSpPr/>
          <p:nvPr/>
        </p:nvSpPr>
        <p:spPr>
          <a:xfrm>
            <a:off x="771644" y="6279833"/>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Borrar</a:t>
            </a:r>
            <a:endParaRPr lang="en-US" sz="2150" dirty="0"/>
          </a:p>
        </p:txBody>
      </p:sp>
      <p:sp>
        <p:nvSpPr>
          <p:cNvPr id="22" name="Text 20"/>
          <p:cNvSpPr/>
          <p:nvPr/>
        </p:nvSpPr>
        <p:spPr>
          <a:xfrm>
            <a:off x="771644" y="6756559"/>
            <a:ext cx="6433304"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Liberar espacio del archivo y eliminar su entrada del directorio.</a:t>
            </a:r>
            <a:endParaRPr lang="en-US" sz="1700" dirty="0"/>
          </a:p>
        </p:txBody>
      </p:sp>
      <p:sp>
        <p:nvSpPr>
          <p:cNvPr id="23" name="Text 21"/>
          <p:cNvSpPr/>
          <p:nvPr/>
        </p:nvSpPr>
        <p:spPr>
          <a:xfrm>
            <a:off x="7425333" y="5764649"/>
            <a:ext cx="220385" cy="275511"/>
          </a:xfrm>
          <a:prstGeom prst="rect">
            <a:avLst/>
          </a:prstGeom>
          <a:noFill/>
          <a:ln/>
        </p:spPr>
        <p:txBody>
          <a:bodyPr wrap="none" lIns="0" tIns="0" rIns="0" bIns="0" rtlCol="0" anchor="t"/>
          <a:lstStyle/>
          <a:p>
            <a:pPr algn="l" indent="0" marL="0">
              <a:lnSpc>
                <a:spcPts val="2750"/>
              </a:lnSpc>
              <a:buNone/>
            </a:pPr>
            <a:r>
              <a:rPr lang="en-US" sz="1700" dirty="0">
                <a:solidFill>
                  <a:srgbClr val="2B2E3C"/>
                </a:solidFill>
                <a:latin typeface="Bitter Light" pitchFamily="34" charset="0"/>
                <a:ea typeface="Bitter Light" pitchFamily="34" charset="-122"/>
                <a:cs typeface="Bitter Light" pitchFamily="34" charset="-120"/>
              </a:rPr>
              <a:t>06</a:t>
            </a:r>
            <a:endParaRPr lang="en-US" sz="1700" dirty="0"/>
          </a:p>
        </p:txBody>
      </p:sp>
      <p:sp>
        <p:nvSpPr>
          <p:cNvPr id="24" name="Shape 22"/>
          <p:cNvSpPr/>
          <p:nvPr/>
        </p:nvSpPr>
        <p:spPr>
          <a:xfrm>
            <a:off x="7425333" y="6108740"/>
            <a:ext cx="6433423" cy="30480"/>
          </a:xfrm>
          <a:prstGeom prst="rect">
            <a:avLst/>
          </a:prstGeom>
          <a:solidFill>
            <a:srgbClr val="D2600F"/>
          </a:solidFill>
          <a:ln/>
        </p:spPr>
      </p:sp>
      <p:sp>
        <p:nvSpPr>
          <p:cNvPr id="25" name="Text 23"/>
          <p:cNvSpPr/>
          <p:nvPr/>
        </p:nvSpPr>
        <p:spPr>
          <a:xfrm>
            <a:off x="7425333" y="6279833"/>
            <a:ext cx="2756178" cy="344448"/>
          </a:xfrm>
          <a:prstGeom prst="rect">
            <a:avLst/>
          </a:prstGeom>
          <a:noFill/>
          <a:ln/>
        </p:spPr>
        <p:txBody>
          <a:bodyPr wrap="none" lIns="0" tIns="0" rIns="0" bIns="0" rtlCol="0" anchor="t"/>
          <a:lstStyle/>
          <a:p>
            <a:pPr algn="l" indent="0" marL="0">
              <a:lnSpc>
                <a:spcPts val="2700"/>
              </a:lnSpc>
              <a:buNone/>
            </a:pPr>
            <a:r>
              <a:rPr lang="en-US" sz="2150" dirty="0">
                <a:solidFill>
                  <a:srgbClr val="2B2E3C"/>
                </a:solidFill>
                <a:latin typeface="Bitter Medium" pitchFamily="34" charset="0"/>
                <a:ea typeface="Bitter Medium" pitchFamily="34" charset="-122"/>
                <a:cs typeface="Bitter Medium" pitchFamily="34" charset="-120"/>
              </a:rPr>
              <a:t>Truncar</a:t>
            </a:r>
            <a:endParaRPr lang="en-US" sz="2150" dirty="0"/>
          </a:p>
        </p:txBody>
      </p:sp>
      <p:sp>
        <p:nvSpPr>
          <p:cNvPr id="26" name="Text 24"/>
          <p:cNvSpPr/>
          <p:nvPr/>
        </p:nvSpPr>
        <p:spPr>
          <a:xfrm>
            <a:off x="7425333" y="6756559"/>
            <a:ext cx="6433423" cy="705564"/>
          </a:xfrm>
          <a:prstGeom prst="rect">
            <a:avLst/>
          </a:prstGeom>
          <a:noFill/>
          <a:ln/>
        </p:spPr>
        <p:txBody>
          <a:bodyPr wrap="square" lIns="0" tIns="0" rIns="0" bIns="0" rtlCol="0" anchor="t"/>
          <a:lstStyle/>
          <a:p>
            <a:pPr algn="l" indent="0" marL="0">
              <a:lnSpc>
                <a:spcPts val="2750"/>
              </a:lnSpc>
              <a:buNone/>
            </a:pPr>
            <a:r>
              <a:rPr lang="en-US" sz="1700" dirty="0">
                <a:solidFill>
                  <a:srgbClr val="2B2E3C"/>
                </a:solidFill>
                <a:latin typeface="Open Sans" pitchFamily="34" charset="0"/>
                <a:ea typeface="Open Sans" pitchFamily="34" charset="-122"/>
                <a:cs typeface="Open Sans" pitchFamily="34" charset="-120"/>
              </a:rPr>
              <a:t>Mantener atributos pero borrar contenido, restableciendo la longitud a cero.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1829633"/>
          </a:xfrm>
          <a:prstGeom prst="rect">
            <a:avLst/>
          </a:prstGeom>
        </p:spPr>
      </p:pic>
      <p:sp>
        <p:nvSpPr>
          <p:cNvPr id="3" name="Text 0"/>
          <p:cNvSpPr/>
          <p:nvPr/>
        </p:nvSpPr>
        <p:spPr>
          <a:xfrm>
            <a:off x="512326" y="2363629"/>
            <a:ext cx="7061121" cy="457438"/>
          </a:xfrm>
          <a:prstGeom prst="rect">
            <a:avLst/>
          </a:prstGeom>
          <a:noFill/>
          <a:ln/>
        </p:spPr>
        <p:txBody>
          <a:bodyPr wrap="none" lIns="0" tIns="0" rIns="0" bIns="0" rtlCol="0" anchor="t"/>
          <a:lstStyle/>
          <a:p>
            <a:pPr algn="l" indent="0" marL="0">
              <a:lnSpc>
                <a:spcPts val="3600"/>
              </a:lnSpc>
              <a:buNone/>
            </a:pPr>
            <a:r>
              <a:rPr lang="en-US" sz="2850" b="1" dirty="0">
                <a:solidFill>
                  <a:srgbClr val="2C3F42"/>
                </a:solidFill>
                <a:latin typeface="Bitter Medium" pitchFamily="34" charset="0"/>
                <a:ea typeface="Bitter Medium" pitchFamily="34" charset="-122"/>
                <a:cs typeface="Bitter Medium" pitchFamily="34" charset="-120"/>
              </a:rPr>
              <a:t>DIRECTORIOS Y NOMBRES DE ARCHIVOS</a:t>
            </a:r>
            <a:endParaRPr lang="en-US" sz="2850" dirty="0"/>
          </a:p>
        </p:txBody>
      </p:sp>
      <p:sp>
        <p:nvSpPr>
          <p:cNvPr id="4" name="Text 1"/>
          <p:cNvSpPr/>
          <p:nvPr/>
        </p:nvSpPr>
        <p:spPr>
          <a:xfrm>
            <a:off x="512326" y="3040618"/>
            <a:ext cx="13605748" cy="234077"/>
          </a:xfrm>
          <a:prstGeom prst="rect">
            <a:avLst/>
          </a:prstGeom>
          <a:noFill/>
          <a:ln/>
        </p:spPr>
        <p:txBody>
          <a:bodyPr wrap="non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el sistema de archivos comúnmente tiene directorios o carpetas. La forma más sencilla del sistema de directorios es que un directorio contenga todos los archivos a veces se le llama directorio raíz.</a:t>
            </a:r>
            <a:endParaRPr lang="en-US" sz="1150" dirty="0"/>
          </a:p>
        </p:txBody>
      </p:sp>
      <p:sp>
        <p:nvSpPr>
          <p:cNvPr id="5" name="Text 2"/>
          <p:cNvSpPr/>
          <p:nvPr/>
        </p:nvSpPr>
        <p:spPr>
          <a:xfrm>
            <a:off x="512326" y="3494246"/>
            <a:ext cx="6194108" cy="365879"/>
          </a:xfrm>
          <a:prstGeom prst="rect">
            <a:avLst/>
          </a:prstGeom>
          <a:noFill/>
          <a:ln/>
        </p:spPr>
        <p:txBody>
          <a:bodyPr wrap="none" lIns="0" tIns="0" rIns="0" bIns="0" rtlCol="0" anchor="t"/>
          <a:lstStyle/>
          <a:p>
            <a:pPr algn="l" indent="0" marL="0">
              <a:lnSpc>
                <a:spcPts val="2850"/>
              </a:lnSpc>
              <a:buNone/>
            </a:pPr>
            <a:r>
              <a:rPr lang="en-US" sz="2300" b="1" dirty="0">
                <a:solidFill>
                  <a:srgbClr val="2C3F42"/>
                </a:solidFill>
                <a:latin typeface="Bitter Medium" pitchFamily="34" charset="0"/>
                <a:ea typeface="Bitter Medium" pitchFamily="34" charset="-122"/>
                <a:cs typeface="Bitter Medium" pitchFamily="34" charset="-120"/>
              </a:rPr>
              <a:t>Operaciones que se realizan a los directorios:</a:t>
            </a:r>
            <a:endParaRPr lang="en-US" sz="2300" dirty="0"/>
          </a:p>
        </p:txBody>
      </p:sp>
      <p:sp>
        <p:nvSpPr>
          <p:cNvPr id="6" name="Shape 3"/>
          <p:cNvSpPr/>
          <p:nvPr/>
        </p:nvSpPr>
        <p:spPr>
          <a:xfrm>
            <a:off x="512326" y="4079677"/>
            <a:ext cx="6729651" cy="1107758"/>
          </a:xfrm>
          <a:prstGeom prst="roundRect">
            <a:avLst>
              <a:gd name="adj" fmla="val 5550"/>
            </a:avLst>
          </a:prstGeom>
          <a:solidFill>
            <a:srgbClr val="FFF8F0"/>
          </a:solidFill>
          <a:ln w="15240">
            <a:solidFill>
              <a:srgbClr val="E2C8B5"/>
            </a:solidFill>
            <a:prstDash val="solid"/>
          </a:ln>
        </p:spPr>
      </p:sp>
      <p:sp>
        <p:nvSpPr>
          <p:cNvPr id="7" name="Text 4"/>
          <p:cNvSpPr/>
          <p:nvPr/>
        </p:nvSpPr>
        <p:spPr>
          <a:xfrm>
            <a:off x="673894" y="4241244"/>
            <a:ext cx="1829633"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Buscar un archivo</a:t>
            </a:r>
            <a:endParaRPr lang="en-US" sz="1400" dirty="0"/>
          </a:p>
        </p:txBody>
      </p:sp>
      <p:sp>
        <p:nvSpPr>
          <p:cNvPr id="8" name="Text 5"/>
          <p:cNvSpPr/>
          <p:nvPr/>
        </p:nvSpPr>
        <p:spPr>
          <a:xfrm>
            <a:off x="673894" y="4557713"/>
            <a:ext cx="6406515" cy="468154"/>
          </a:xfrm>
          <a:prstGeom prst="rect">
            <a:avLst/>
          </a:prstGeom>
          <a:noFill/>
          <a:ln/>
        </p:spPr>
        <p:txBody>
          <a:bodyPr wrap="squar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consiste en hacer una búsqueda de una estructura de directorios para encontrar la entrada para un archivo particular.</a:t>
            </a:r>
            <a:endParaRPr lang="en-US" sz="1150" dirty="0"/>
          </a:p>
        </p:txBody>
      </p:sp>
      <p:sp>
        <p:nvSpPr>
          <p:cNvPr id="9" name="Shape 6"/>
          <p:cNvSpPr/>
          <p:nvPr/>
        </p:nvSpPr>
        <p:spPr>
          <a:xfrm>
            <a:off x="7388304" y="4079677"/>
            <a:ext cx="6729770" cy="1107758"/>
          </a:xfrm>
          <a:prstGeom prst="roundRect">
            <a:avLst>
              <a:gd name="adj" fmla="val 5550"/>
            </a:avLst>
          </a:prstGeom>
          <a:solidFill>
            <a:srgbClr val="FFF8F0"/>
          </a:solidFill>
          <a:ln w="15240">
            <a:solidFill>
              <a:srgbClr val="E2C8B5"/>
            </a:solidFill>
            <a:prstDash val="solid"/>
          </a:ln>
        </p:spPr>
      </p:sp>
      <p:sp>
        <p:nvSpPr>
          <p:cNvPr id="10" name="Text 7"/>
          <p:cNvSpPr/>
          <p:nvPr/>
        </p:nvSpPr>
        <p:spPr>
          <a:xfrm>
            <a:off x="7549872" y="4241244"/>
            <a:ext cx="1829633"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Crear un archivo</a:t>
            </a:r>
            <a:endParaRPr lang="en-US" sz="1400" dirty="0"/>
          </a:p>
        </p:txBody>
      </p:sp>
      <p:sp>
        <p:nvSpPr>
          <p:cNvPr id="11" name="Text 8"/>
          <p:cNvSpPr/>
          <p:nvPr/>
        </p:nvSpPr>
        <p:spPr>
          <a:xfrm>
            <a:off x="7549872" y="4557713"/>
            <a:ext cx="6406634" cy="234077"/>
          </a:xfrm>
          <a:prstGeom prst="rect">
            <a:avLst/>
          </a:prstGeom>
          <a:noFill/>
          <a:ln/>
        </p:spPr>
        <p:txBody>
          <a:bodyPr wrap="non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crea nuevos archivos y los agrega al directorio.</a:t>
            </a:r>
            <a:endParaRPr lang="en-US" sz="1150" dirty="0"/>
          </a:p>
        </p:txBody>
      </p:sp>
      <p:sp>
        <p:nvSpPr>
          <p:cNvPr id="12" name="Shape 9"/>
          <p:cNvSpPr/>
          <p:nvPr/>
        </p:nvSpPr>
        <p:spPr>
          <a:xfrm>
            <a:off x="512326" y="5333762"/>
            <a:ext cx="6729651" cy="1107758"/>
          </a:xfrm>
          <a:prstGeom prst="roundRect">
            <a:avLst>
              <a:gd name="adj" fmla="val 5550"/>
            </a:avLst>
          </a:prstGeom>
          <a:solidFill>
            <a:srgbClr val="FFF8F0"/>
          </a:solidFill>
          <a:ln w="15240">
            <a:solidFill>
              <a:srgbClr val="E2C8B5"/>
            </a:solidFill>
            <a:prstDash val="solid"/>
          </a:ln>
        </p:spPr>
      </p:sp>
      <p:sp>
        <p:nvSpPr>
          <p:cNvPr id="13" name="Text 10"/>
          <p:cNvSpPr/>
          <p:nvPr/>
        </p:nvSpPr>
        <p:spPr>
          <a:xfrm>
            <a:off x="673894" y="5495330"/>
            <a:ext cx="1829633"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Borrar un archivo</a:t>
            </a:r>
            <a:endParaRPr lang="en-US" sz="1400" dirty="0"/>
          </a:p>
        </p:txBody>
      </p:sp>
      <p:sp>
        <p:nvSpPr>
          <p:cNvPr id="14" name="Text 11"/>
          <p:cNvSpPr/>
          <p:nvPr/>
        </p:nvSpPr>
        <p:spPr>
          <a:xfrm>
            <a:off x="673894" y="5811798"/>
            <a:ext cx="6406515" cy="234077"/>
          </a:xfrm>
          <a:prstGeom prst="rect">
            <a:avLst/>
          </a:prstGeom>
          <a:noFill/>
          <a:ln/>
        </p:spPr>
        <p:txBody>
          <a:bodyPr wrap="non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cuando un archivo ya no se necesita, se remueve del directorio.</a:t>
            </a:r>
            <a:endParaRPr lang="en-US" sz="1150" dirty="0"/>
          </a:p>
        </p:txBody>
      </p:sp>
      <p:sp>
        <p:nvSpPr>
          <p:cNvPr id="15" name="Shape 12"/>
          <p:cNvSpPr/>
          <p:nvPr/>
        </p:nvSpPr>
        <p:spPr>
          <a:xfrm>
            <a:off x="7388304" y="5333762"/>
            <a:ext cx="6729770" cy="1107758"/>
          </a:xfrm>
          <a:prstGeom prst="roundRect">
            <a:avLst>
              <a:gd name="adj" fmla="val 5550"/>
            </a:avLst>
          </a:prstGeom>
          <a:solidFill>
            <a:srgbClr val="FFF8F0"/>
          </a:solidFill>
          <a:ln w="15240">
            <a:solidFill>
              <a:srgbClr val="E2C8B5"/>
            </a:solidFill>
            <a:prstDash val="solid"/>
          </a:ln>
        </p:spPr>
      </p:sp>
      <p:sp>
        <p:nvSpPr>
          <p:cNvPr id="16" name="Text 13"/>
          <p:cNvSpPr/>
          <p:nvPr/>
        </p:nvSpPr>
        <p:spPr>
          <a:xfrm>
            <a:off x="7549872" y="5495330"/>
            <a:ext cx="1829633"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Listar un directorio</a:t>
            </a:r>
            <a:endParaRPr lang="en-US" sz="1400" dirty="0"/>
          </a:p>
        </p:txBody>
      </p:sp>
      <p:sp>
        <p:nvSpPr>
          <p:cNvPr id="17" name="Text 14"/>
          <p:cNvSpPr/>
          <p:nvPr/>
        </p:nvSpPr>
        <p:spPr>
          <a:xfrm>
            <a:off x="7549872" y="5811798"/>
            <a:ext cx="6406634" cy="468154"/>
          </a:xfrm>
          <a:prstGeom prst="rect">
            <a:avLst/>
          </a:prstGeom>
          <a:noFill/>
          <a:ln/>
        </p:spPr>
        <p:txBody>
          <a:bodyPr wrap="squar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lista de los archivos en un directorio y el contenido de la entrada del directorio para cada archivo de la lista.</a:t>
            </a:r>
            <a:endParaRPr lang="en-US" sz="1150" dirty="0"/>
          </a:p>
        </p:txBody>
      </p:sp>
      <p:sp>
        <p:nvSpPr>
          <p:cNvPr id="18" name="Shape 15"/>
          <p:cNvSpPr/>
          <p:nvPr/>
        </p:nvSpPr>
        <p:spPr>
          <a:xfrm>
            <a:off x="512326" y="6587847"/>
            <a:ext cx="6729651" cy="1107758"/>
          </a:xfrm>
          <a:prstGeom prst="roundRect">
            <a:avLst>
              <a:gd name="adj" fmla="val 5550"/>
            </a:avLst>
          </a:prstGeom>
          <a:solidFill>
            <a:srgbClr val="FFF8F0"/>
          </a:solidFill>
          <a:ln w="15240">
            <a:solidFill>
              <a:srgbClr val="E2C8B5"/>
            </a:solidFill>
            <a:prstDash val="solid"/>
          </a:ln>
        </p:spPr>
      </p:sp>
      <p:sp>
        <p:nvSpPr>
          <p:cNvPr id="19" name="Text 16"/>
          <p:cNvSpPr/>
          <p:nvPr/>
        </p:nvSpPr>
        <p:spPr>
          <a:xfrm>
            <a:off x="673894" y="6749415"/>
            <a:ext cx="1918692"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Renombrar un archivo</a:t>
            </a:r>
            <a:endParaRPr lang="en-US" sz="1400" dirty="0"/>
          </a:p>
        </p:txBody>
      </p:sp>
      <p:sp>
        <p:nvSpPr>
          <p:cNvPr id="20" name="Text 17"/>
          <p:cNvSpPr/>
          <p:nvPr/>
        </p:nvSpPr>
        <p:spPr>
          <a:xfrm>
            <a:off x="673894" y="7065883"/>
            <a:ext cx="6406515" cy="468154"/>
          </a:xfrm>
          <a:prstGeom prst="rect">
            <a:avLst/>
          </a:prstGeom>
          <a:noFill/>
          <a:ln/>
        </p:spPr>
        <p:txBody>
          <a:bodyPr wrap="squar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Renombrar un archivo permite que se modifique su posición dentro de la estructura de directorios.</a:t>
            </a:r>
            <a:endParaRPr lang="en-US" sz="1150" dirty="0"/>
          </a:p>
        </p:txBody>
      </p:sp>
      <p:sp>
        <p:nvSpPr>
          <p:cNvPr id="21" name="Shape 18"/>
          <p:cNvSpPr/>
          <p:nvPr/>
        </p:nvSpPr>
        <p:spPr>
          <a:xfrm>
            <a:off x="7388304" y="6587847"/>
            <a:ext cx="6729770" cy="1107758"/>
          </a:xfrm>
          <a:prstGeom prst="roundRect">
            <a:avLst>
              <a:gd name="adj" fmla="val 5550"/>
            </a:avLst>
          </a:prstGeom>
          <a:solidFill>
            <a:srgbClr val="FFF8F0"/>
          </a:solidFill>
          <a:ln w="15240">
            <a:solidFill>
              <a:srgbClr val="E2C8B5"/>
            </a:solidFill>
            <a:prstDash val="solid"/>
          </a:ln>
        </p:spPr>
      </p:sp>
      <p:sp>
        <p:nvSpPr>
          <p:cNvPr id="22" name="Text 19"/>
          <p:cNvSpPr/>
          <p:nvPr/>
        </p:nvSpPr>
        <p:spPr>
          <a:xfrm>
            <a:off x="7549872" y="6749415"/>
            <a:ext cx="2656165" cy="228719"/>
          </a:xfrm>
          <a:prstGeom prst="rect">
            <a:avLst/>
          </a:prstGeom>
          <a:noFill/>
          <a:ln/>
        </p:spPr>
        <p:txBody>
          <a:bodyPr wrap="none" lIns="0" tIns="0" rIns="0" bIns="0" rtlCol="0" anchor="t"/>
          <a:lstStyle/>
          <a:p>
            <a:pPr algn="l" indent="0" marL="0">
              <a:lnSpc>
                <a:spcPts val="1800"/>
              </a:lnSpc>
              <a:buNone/>
            </a:pPr>
            <a:r>
              <a:rPr lang="en-US" sz="1400" dirty="0">
                <a:solidFill>
                  <a:srgbClr val="2B2E3C"/>
                </a:solidFill>
                <a:latin typeface="Bitter Medium" pitchFamily="34" charset="0"/>
                <a:ea typeface="Bitter Medium" pitchFamily="34" charset="-122"/>
                <a:cs typeface="Bitter Medium" pitchFamily="34" charset="-120"/>
              </a:rPr>
              <a:t>Recorrer el sistema de archivos</a:t>
            </a:r>
            <a:endParaRPr lang="en-US" sz="1400" dirty="0"/>
          </a:p>
        </p:txBody>
      </p:sp>
      <p:sp>
        <p:nvSpPr>
          <p:cNvPr id="23" name="Text 20"/>
          <p:cNvSpPr/>
          <p:nvPr/>
        </p:nvSpPr>
        <p:spPr>
          <a:xfrm>
            <a:off x="7549872" y="7065883"/>
            <a:ext cx="6406634" cy="234077"/>
          </a:xfrm>
          <a:prstGeom prst="rect">
            <a:avLst/>
          </a:prstGeom>
          <a:noFill/>
          <a:ln/>
        </p:spPr>
        <p:txBody>
          <a:bodyPr wrap="none" lIns="0" tIns="0" rIns="0" bIns="0" rtlCol="0" anchor="t"/>
          <a:lstStyle/>
          <a:p>
            <a:pPr algn="l" indent="0" marL="0">
              <a:lnSpc>
                <a:spcPts val="1800"/>
              </a:lnSpc>
              <a:buNone/>
            </a:pPr>
            <a:r>
              <a:rPr lang="en-US" sz="1150" dirty="0">
                <a:solidFill>
                  <a:srgbClr val="2B2E3C"/>
                </a:solidFill>
                <a:latin typeface="Open Sans" pitchFamily="34" charset="0"/>
                <a:ea typeface="Open Sans" pitchFamily="34" charset="-122"/>
                <a:cs typeface="Open Sans" pitchFamily="34" charset="-120"/>
              </a:rPr>
              <a:t>tener acceso a cada directorio y a cada archivo dentro de una estructura de directorios.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54754" y="469106"/>
            <a:ext cx="3320772" cy="415052"/>
          </a:xfrm>
          <a:prstGeom prst="rect">
            <a:avLst/>
          </a:prstGeom>
          <a:noFill/>
          <a:ln/>
        </p:spPr>
        <p:txBody>
          <a:bodyPr wrap="none" lIns="0" tIns="0" rIns="0" bIns="0" rtlCol="0" anchor="t"/>
          <a:lstStyle/>
          <a:p>
            <a:pPr algn="ctr" indent="0" marL="0">
              <a:lnSpc>
                <a:spcPts val="3250"/>
              </a:lnSpc>
              <a:buNone/>
            </a:pPr>
            <a:r>
              <a:rPr lang="en-US" sz="2600" dirty="0">
                <a:solidFill>
                  <a:srgbClr val="2C3F42"/>
                </a:solidFill>
                <a:latin typeface="Bitter Medium" pitchFamily="34" charset="0"/>
                <a:ea typeface="Bitter Medium" pitchFamily="34" charset="-122"/>
                <a:cs typeface="Bitter Medium" pitchFamily="34" charset="-120"/>
              </a:rPr>
              <a:t>PERMISOS</a:t>
            </a:r>
            <a:endParaRPr lang="en-US" sz="2600" dirty="0"/>
          </a:p>
        </p:txBody>
      </p:sp>
      <p:sp>
        <p:nvSpPr>
          <p:cNvPr id="3" name="Text 1"/>
          <p:cNvSpPr/>
          <p:nvPr/>
        </p:nvSpPr>
        <p:spPr>
          <a:xfrm>
            <a:off x="464820" y="1149787"/>
            <a:ext cx="13700760"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Proteger archivos es un resultado directo de la capacidad para acceder a archivos. En los sistemas que no permiten al acceso a archivos de otros usuarios, la protección no es necesaria.</a:t>
            </a:r>
            <a:endParaRPr lang="en-US" sz="1000" dirty="0"/>
          </a:p>
        </p:txBody>
      </p:sp>
      <p:sp>
        <p:nvSpPr>
          <p:cNvPr id="4" name="Text 2"/>
          <p:cNvSpPr/>
          <p:nvPr/>
        </p:nvSpPr>
        <p:spPr>
          <a:xfrm>
            <a:off x="464820" y="1511737"/>
            <a:ext cx="13700760" cy="425053"/>
          </a:xfrm>
          <a:prstGeom prst="rect">
            <a:avLst/>
          </a:prstGeom>
          <a:noFill/>
          <a:ln/>
        </p:spPr>
        <p:txBody>
          <a:bodyPr wrap="squar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Los mecanismos de protección proporcionan un acceso controlado limitando los tipos de acceso que pueden hacerse a los archivos. El acceso se permite o se niega dependiendo de varios factores, uno de los cuales es el tipo de acceso solicitado.</a:t>
            </a:r>
            <a:endParaRPr lang="en-US" sz="1000" dirty="0"/>
          </a:p>
        </p:txBody>
      </p:sp>
      <p:sp>
        <p:nvSpPr>
          <p:cNvPr id="5" name="Text 3"/>
          <p:cNvSpPr/>
          <p:nvPr/>
        </p:nvSpPr>
        <p:spPr>
          <a:xfrm>
            <a:off x="464820" y="2086213"/>
            <a:ext cx="13700760" cy="212527"/>
          </a:xfrm>
          <a:prstGeom prst="rect">
            <a:avLst/>
          </a:prstGeom>
          <a:noFill/>
          <a:ln/>
        </p:spPr>
        <p:txBody>
          <a:bodyPr wrap="none" lIns="0" tIns="0" rIns="0" bIns="0" rtlCol="0" anchor="t"/>
          <a:lstStyle/>
          <a:p>
            <a:pPr algn="ctr" indent="0" marL="0">
              <a:lnSpc>
                <a:spcPts val="1650"/>
              </a:lnSpc>
              <a:buNone/>
            </a:pPr>
            <a:endParaRPr lang="en-US" sz="1000" dirty="0"/>
          </a:p>
        </p:txBody>
      </p:sp>
      <p:sp>
        <p:nvSpPr>
          <p:cNvPr id="6" name="Text 4"/>
          <p:cNvSpPr/>
          <p:nvPr/>
        </p:nvSpPr>
        <p:spPr>
          <a:xfrm>
            <a:off x="464820" y="2497931"/>
            <a:ext cx="2656642" cy="331946"/>
          </a:xfrm>
          <a:prstGeom prst="rect">
            <a:avLst/>
          </a:prstGeom>
          <a:noFill/>
          <a:ln/>
        </p:spPr>
        <p:txBody>
          <a:bodyPr wrap="none" lIns="0" tIns="0" rIns="0" bIns="0" rtlCol="0" anchor="t"/>
          <a:lstStyle/>
          <a:p>
            <a:pPr algn="l" indent="0" marL="0">
              <a:lnSpc>
                <a:spcPts val="2600"/>
              </a:lnSpc>
              <a:buNone/>
            </a:pPr>
            <a:r>
              <a:rPr lang="en-US" sz="2050" b="1" dirty="0">
                <a:solidFill>
                  <a:srgbClr val="2B2E3C"/>
                </a:solidFill>
                <a:latin typeface="Bitter Medium" pitchFamily="34" charset="0"/>
                <a:ea typeface="Bitter Medium" pitchFamily="34" charset="-122"/>
                <a:cs typeface="Bitter Medium" pitchFamily="34" charset="-120"/>
              </a:rPr>
              <a:t>Accesos solicitados</a:t>
            </a:r>
            <a:endParaRPr lang="en-US" sz="2050" dirty="0"/>
          </a:p>
        </p:txBody>
      </p:sp>
      <p:sp>
        <p:nvSpPr>
          <p:cNvPr id="7" name="Shape 5"/>
          <p:cNvSpPr/>
          <p:nvPr/>
        </p:nvSpPr>
        <p:spPr>
          <a:xfrm>
            <a:off x="464820" y="3029069"/>
            <a:ext cx="6783943" cy="1311593"/>
          </a:xfrm>
          <a:prstGeom prst="roundRect">
            <a:avLst>
              <a:gd name="adj" fmla="val 4254"/>
            </a:avLst>
          </a:prstGeom>
          <a:solidFill>
            <a:srgbClr val="FCE2CF"/>
          </a:solidFill>
          <a:ln w="7620">
            <a:solidFill>
              <a:srgbClr val="E2C8B5"/>
            </a:solidFill>
            <a:prstDash val="solid"/>
          </a:ln>
        </p:spPr>
      </p:sp>
      <p:sp>
        <p:nvSpPr>
          <p:cNvPr id="8" name="Shape 6"/>
          <p:cNvSpPr/>
          <p:nvPr/>
        </p:nvSpPr>
        <p:spPr>
          <a:xfrm>
            <a:off x="605195" y="3169444"/>
            <a:ext cx="398383" cy="398383"/>
          </a:xfrm>
          <a:prstGeom prst="roundRect">
            <a:avLst>
              <a:gd name="adj" fmla="val 22950491"/>
            </a:avLst>
          </a:prstGeom>
          <a:solidFill>
            <a:srgbClr val="D2600F"/>
          </a:solidFill>
          <a:ln/>
        </p:spPr>
      </p:sp>
      <p:pic>
        <p:nvPicPr>
          <p:cNvPr id="9" name="Image 0" descr="preencoded.png">    </p:cNvPr>
          <p:cNvPicPr>
            <a:picLocks noChangeAspect="1"/>
          </p:cNvPicPr>
          <p:nvPr/>
        </p:nvPicPr>
        <p:blipFill>
          <a:blip r:embed="rId1"/>
          <a:stretch>
            <a:fillRect/>
          </a:stretch>
        </p:blipFill>
        <p:spPr>
          <a:xfrm>
            <a:off x="714732" y="3278981"/>
            <a:ext cx="179308" cy="179308"/>
          </a:xfrm>
          <a:prstGeom prst="rect">
            <a:avLst/>
          </a:prstGeom>
        </p:spPr>
      </p:pic>
      <p:sp>
        <p:nvSpPr>
          <p:cNvPr id="10" name="Text 7"/>
          <p:cNvSpPr/>
          <p:nvPr/>
        </p:nvSpPr>
        <p:spPr>
          <a:xfrm>
            <a:off x="605195" y="3700582"/>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Ejecutar</a:t>
            </a:r>
            <a:endParaRPr lang="en-US" sz="1300" dirty="0"/>
          </a:p>
        </p:txBody>
      </p:sp>
      <p:sp>
        <p:nvSpPr>
          <p:cNvPr id="11" name="Text 8"/>
          <p:cNvSpPr/>
          <p:nvPr/>
        </p:nvSpPr>
        <p:spPr>
          <a:xfrm>
            <a:off x="605195" y="3987760"/>
            <a:ext cx="6503194"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cargar el archivo en memoria y ejecutarlo.</a:t>
            </a:r>
            <a:endParaRPr lang="en-US" sz="1000" dirty="0"/>
          </a:p>
        </p:txBody>
      </p:sp>
      <p:sp>
        <p:nvSpPr>
          <p:cNvPr id="12" name="Shape 9"/>
          <p:cNvSpPr/>
          <p:nvPr/>
        </p:nvSpPr>
        <p:spPr>
          <a:xfrm>
            <a:off x="7381518" y="3029069"/>
            <a:ext cx="6784062" cy="1311593"/>
          </a:xfrm>
          <a:prstGeom prst="roundRect">
            <a:avLst>
              <a:gd name="adj" fmla="val 4254"/>
            </a:avLst>
          </a:prstGeom>
          <a:solidFill>
            <a:srgbClr val="FCE2CF"/>
          </a:solidFill>
          <a:ln w="7620">
            <a:solidFill>
              <a:srgbClr val="E2C8B5"/>
            </a:solidFill>
            <a:prstDash val="solid"/>
          </a:ln>
        </p:spPr>
      </p:sp>
      <p:sp>
        <p:nvSpPr>
          <p:cNvPr id="13" name="Shape 10"/>
          <p:cNvSpPr/>
          <p:nvPr/>
        </p:nvSpPr>
        <p:spPr>
          <a:xfrm>
            <a:off x="7521893" y="3169444"/>
            <a:ext cx="398383" cy="398383"/>
          </a:xfrm>
          <a:prstGeom prst="roundRect">
            <a:avLst>
              <a:gd name="adj" fmla="val 22950491"/>
            </a:avLst>
          </a:prstGeom>
          <a:solidFill>
            <a:srgbClr val="D2600F"/>
          </a:solidFill>
          <a:ln/>
        </p:spPr>
      </p:sp>
      <p:pic>
        <p:nvPicPr>
          <p:cNvPr id="1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31430" y="3278981"/>
            <a:ext cx="179308" cy="179308"/>
          </a:xfrm>
          <a:prstGeom prst="rect">
            <a:avLst/>
          </a:prstGeom>
        </p:spPr>
      </p:pic>
      <p:sp>
        <p:nvSpPr>
          <p:cNvPr id="15" name="Text 11"/>
          <p:cNvSpPr/>
          <p:nvPr/>
        </p:nvSpPr>
        <p:spPr>
          <a:xfrm>
            <a:off x="7521893" y="3700582"/>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Leer</a:t>
            </a:r>
            <a:endParaRPr lang="en-US" sz="1300" dirty="0"/>
          </a:p>
        </p:txBody>
      </p:sp>
      <p:sp>
        <p:nvSpPr>
          <p:cNvPr id="16" name="Text 12"/>
          <p:cNvSpPr/>
          <p:nvPr/>
        </p:nvSpPr>
        <p:spPr>
          <a:xfrm>
            <a:off x="7521893" y="3987760"/>
            <a:ext cx="6503313"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leer un archivo</a:t>
            </a:r>
            <a:endParaRPr lang="en-US" sz="1000" dirty="0"/>
          </a:p>
        </p:txBody>
      </p:sp>
      <p:sp>
        <p:nvSpPr>
          <p:cNvPr id="17" name="Shape 13"/>
          <p:cNvSpPr/>
          <p:nvPr/>
        </p:nvSpPr>
        <p:spPr>
          <a:xfrm>
            <a:off x="464820" y="4473416"/>
            <a:ext cx="6783943" cy="1311593"/>
          </a:xfrm>
          <a:prstGeom prst="roundRect">
            <a:avLst>
              <a:gd name="adj" fmla="val 4254"/>
            </a:avLst>
          </a:prstGeom>
          <a:solidFill>
            <a:srgbClr val="FCE2CF"/>
          </a:solidFill>
          <a:ln w="7620">
            <a:solidFill>
              <a:srgbClr val="E2C8B5"/>
            </a:solidFill>
            <a:prstDash val="solid"/>
          </a:ln>
        </p:spPr>
      </p:sp>
      <p:sp>
        <p:nvSpPr>
          <p:cNvPr id="18" name="Shape 14"/>
          <p:cNvSpPr/>
          <p:nvPr/>
        </p:nvSpPr>
        <p:spPr>
          <a:xfrm>
            <a:off x="605195" y="4613791"/>
            <a:ext cx="398383" cy="398383"/>
          </a:xfrm>
          <a:prstGeom prst="roundRect">
            <a:avLst>
              <a:gd name="adj" fmla="val 22950491"/>
            </a:avLst>
          </a:prstGeom>
          <a:solidFill>
            <a:srgbClr val="D2600F"/>
          </a:solidFill>
          <a:ln/>
        </p:spPr>
      </p:sp>
      <p:pic>
        <p:nvPicPr>
          <p:cNvPr id="19" name="Image 2" descr="preencoded.png">    </p:cNvPr>
          <p:cNvPicPr>
            <a:picLocks noChangeAspect="1"/>
          </p:cNvPicPr>
          <p:nvPr/>
        </p:nvPicPr>
        <p:blipFill>
          <a:blip r:embed="rId4"/>
          <a:stretch>
            <a:fillRect/>
          </a:stretch>
        </p:blipFill>
        <p:spPr>
          <a:xfrm>
            <a:off x="714732" y="4723328"/>
            <a:ext cx="179308" cy="179308"/>
          </a:xfrm>
          <a:prstGeom prst="rect">
            <a:avLst/>
          </a:prstGeom>
        </p:spPr>
      </p:pic>
      <p:sp>
        <p:nvSpPr>
          <p:cNvPr id="20" name="Text 15"/>
          <p:cNvSpPr/>
          <p:nvPr/>
        </p:nvSpPr>
        <p:spPr>
          <a:xfrm>
            <a:off x="605195" y="5144929"/>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Anexar</a:t>
            </a:r>
            <a:endParaRPr lang="en-US" sz="1300" dirty="0"/>
          </a:p>
        </p:txBody>
      </p:sp>
      <p:sp>
        <p:nvSpPr>
          <p:cNvPr id="21" name="Text 16"/>
          <p:cNvSpPr/>
          <p:nvPr/>
        </p:nvSpPr>
        <p:spPr>
          <a:xfrm>
            <a:off x="605195" y="5432107"/>
            <a:ext cx="6503194"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escribir nueva información al final del archivo.</a:t>
            </a:r>
            <a:endParaRPr lang="en-US" sz="1000" dirty="0"/>
          </a:p>
        </p:txBody>
      </p:sp>
      <p:sp>
        <p:nvSpPr>
          <p:cNvPr id="22" name="Shape 17"/>
          <p:cNvSpPr/>
          <p:nvPr/>
        </p:nvSpPr>
        <p:spPr>
          <a:xfrm>
            <a:off x="7381518" y="4473416"/>
            <a:ext cx="6784062" cy="1311593"/>
          </a:xfrm>
          <a:prstGeom prst="roundRect">
            <a:avLst>
              <a:gd name="adj" fmla="val 4254"/>
            </a:avLst>
          </a:prstGeom>
          <a:solidFill>
            <a:srgbClr val="FCE2CF"/>
          </a:solidFill>
          <a:ln w="7620">
            <a:solidFill>
              <a:srgbClr val="E2C8B5"/>
            </a:solidFill>
            <a:prstDash val="solid"/>
          </a:ln>
        </p:spPr>
      </p:sp>
      <p:sp>
        <p:nvSpPr>
          <p:cNvPr id="23" name="Shape 18"/>
          <p:cNvSpPr/>
          <p:nvPr/>
        </p:nvSpPr>
        <p:spPr>
          <a:xfrm>
            <a:off x="7521893" y="4613791"/>
            <a:ext cx="398383" cy="398383"/>
          </a:xfrm>
          <a:prstGeom prst="roundRect">
            <a:avLst>
              <a:gd name="adj" fmla="val 22950491"/>
            </a:avLst>
          </a:prstGeom>
          <a:solidFill>
            <a:srgbClr val="D2600F"/>
          </a:solidFill>
          <a:ln/>
        </p:spPr>
      </p:sp>
      <p:pic>
        <p:nvPicPr>
          <p:cNvPr id="24"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1430" y="4723328"/>
            <a:ext cx="179308" cy="179308"/>
          </a:xfrm>
          <a:prstGeom prst="rect">
            <a:avLst/>
          </a:prstGeom>
        </p:spPr>
      </p:pic>
      <p:sp>
        <p:nvSpPr>
          <p:cNvPr id="25" name="Text 19"/>
          <p:cNvSpPr/>
          <p:nvPr/>
        </p:nvSpPr>
        <p:spPr>
          <a:xfrm>
            <a:off x="7521893" y="5144929"/>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Borrar</a:t>
            </a:r>
            <a:endParaRPr lang="en-US" sz="1300" dirty="0"/>
          </a:p>
        </p:txBody>
      </p:sp>
      <p:sp>
        <p:nvSpPr>
          <p:cNvPr id="26" name="Text 20"/>
          <p:cNvSpPr/>
          <p:nvPr/>
        </p:nvSpPr>
        <p:spPr>
          <a:xfrm>
            <a:off x="7521893" y="5432107"/>
            <a:ext cx="6503313"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Borrar el archivo y liberar su espacio</a:t>
            </a:r>
            <a:endParaRPr lang="en-US" sz="1000" dirty="0"/>
          </a:p>
        </p:txBody>
      </p:sp>
      <p:sp>
        <p:nvSpPr>
          <p:cNvPr id="27" name="Shape 21"/>
          <p:cNvSpPr/>
          <p:nvPr/>
        </p:nvSpPr>
        <p:spPr>
          <a:xfrm>
            <a:off x="464820" y="5917763"/>
            <a:ext cx="6783943" cy="1311593"/>
          </a:xfrm>
          <a:prstGeom prst="roundRect">
            <a:avLst>
              <a:gd name="adj" fmla="val 4254"/>
            </a:avLst>
          </a:prstGeom>
          <a:solidFill>
            <a:srgbClr val="FCE2CF"/>
          </a:solidFill>
          <a:ln w="7620">
            <a:solidFill>
              <a:srgbClr val="E2C8B5"/>
            </a:solidFill>
            <a:prstDash val="solid"/>
          </a:ln>
        </p:spPr>
      </p:sp>
      <p:sp>
        <p:nvSpPr>
          <p:cNvPr id="28" name="Shape 22"/>
          <p:cNvSpPr/>
          <p:nvPr/>
        </p:nvSpPr>
        <p:spPr>
          <a:xfrm>
            <a:off x="605195" y="6058138"/>
            <a:ext cx="398383" cy="398383"/>
          </a:xfrm>
          <a:prstGeom prst="roundRect">
            <a:avLst>
              <a:gd name="adj" fmla="val 22950491"/>
            </a:avLst>
          </a:prstGeom>
          <a:solidFill>
            <a:srgbClr val="D2600F"/>
          </a:solidFill>
          <a:ln/>
        </p:spPr>
      </p:sp>
      <p:pic>
        <p:nvPicPr>
          <p:cNvPr id="29"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4732" y="6167676"/>
            <a:ext cx="179308" cy="179308"/>
          </a:xfrm>
          <a:prstGeom prst="rect">
            <a:avLst/>
          </a:prstGeom>
        </p:spPr>
      </p:pic>
      <p:sp>
        <p:nvSpPr>
          <p:cNvPr id="30" name="Text 23"/>
          <p:cNvSpPr/>
          <p:nvPr/>
        </p:nvSpPr>
        <p:spPr>
          <a:xfrm>
            <a:off x="605195" y="6589276"/>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Escribir</a:t>
            </a:r>
            <a:endParaRPr lang="en-US" sz="1300" dirty="0"/>
          </a:p>
        </p:txBody>
      </p:sp>
      <p:sp>
        <p:nvSpPr>
          <p:cNvPr id="31" name="Text 24"/>
          <p:cNvSpPr/>
          <p:nvPr/>
        </p:nvSpPr>
        <p:spPr>
          <a:xfrm>
            <a:off x="605195" y="6876455"/>
            <a:ext cx="6503194"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escribir o volver a escribir el archivo</a:t>
            </a:r>
            <a:endParaRPr lang="en-US" sz="1000" dirty="0"/>
          </a:p>
        </p:txBody>
      </p:sp>
      <p:sp>
        <p:nvSpPr>
          <p:cNvPr id="32" name="Shape 25"/>
          <p:cNvSpPr/>
          <p:nvPr/>
        </p:nvSpPr>
        <p:spPr>
          <a:xfrm>
            <a:off x="7381518" y="5917763"/>
            <a:ext cx="6784062" cy="1311593"/>
          </a:xfrm>
          <a:prstGeom prst="roundRect">
            <a:avLst>
              <a:gd name="adj" fmla="val 4254"/>
            </a:avLst>
          </a:prstGeom>
          <a:solidFill>
            <a:srgbClr val="FCE2CF"/>
          </a:solidFill>
          <a:ln w="7620">
            <a:solidFill>
              <a:srgbClr val="E2C8B5"/>
            </a:solidFill>
            <a:prstDash val="solid"/>
          </a:ln>
        </p:spPr>
      </p:sp>
      <p:sp>
        <p:nvSpPr>
          <p:cNvPr id="33" name="Shape 26"/>
          <p:cNvSpPr/>
          <p:nvPr/>
        </p:nvSpPr>
        <p:spPr>
          <a:xfrm>
            <a:off x="7521893" y="6058138"/>
            <a:ext cx="398383" cy="398383"/>
          </a:xfrm>
          <a:prstGeom prst="roundRect">
            <a:avLst>
              <a:gd name="adj" fmla="val 22950491"/>
            </a:avLst>
          </a:prstGeom>
          <a:solidFill>
            <a:srgbClr val="D2600F"/>
          </a:solidFill>
          <a:ln/>
        </p:spPr>
      </p:sp>
      <p:pic>
        <p:nvPicPr>
          <p:cNvPr id="34" name="Image 5" descr="preencoded.png">    </p:cNvPr>
          <p:cNvPicPr>
            <a:picLocks noChangeAspect="1"/>
          </p:cNvPicPr>
          <p:nvPr/>
        </p:nvPicPr>
        <p:blipFill>
          <a:blip r:embed="rId9"/>
          <a:stretch>
            <a:fillRect/>
          </a:stretch>
        </p:blipFill>
        <p:spPr>
          <a:xfrm>
            <a:off x="7631430" y="6167676"/>
            <a:ext cx="179308" cy="179308"/>
          </a:xfrm>
          <a:prstGeom prst="rect">
            <a:avLst/>
          </a:prstGeom>
        </p:spPr>
      </p:pic>
      <p:sp>
        <p:nvSpPr>
          <p:cNvPr id="35" name="Text 27"/>
          <p:cNvSpPr/>
          <p:nvPr/>
        </p:nvSpPr>
        <p:spPr>
          <a:xfrm>
            <a:off x="7521893" y="6589276"/>
            <a:ext cx="1660327" cy="207526"/>
          </a:xfrm>
          <a:prstGeom prst="rect">
            <a:avLst/>
          </a:prstGeom>
          <a:noFill/>
          <a:ln/>
        </p:spPr>
        <p:txBody>
          <a:bodyPr wrap="none" lIns="0" tIns="0" rIns="0" bIns="0" rtlCol="0" anchor="t"/>
          <a:lstStyle/>
          <a:p>
            <a:pPr algn="l" indent="0" marL="0">
              <a:lnSpc>
                <a:spcPts val="1600"/>
              </a:lnSpc>
              <a:buNone/>
            </a:pPr>
            <a:r>
              <a:rPr lang="en-US" sz="1300" b="1" dirty="0">
                <a:solidFill>
                  <a:srgbClr val="2B2E3C"/>
                </a:solidFill>
                <a:latin typeface="Bitter Medium" pitchFamily="34" charset="0"/>
                <a:ea typeface="Bitter Medium" pitchFamily="34" charset="-122"/>
                <a:cs typeface="Bitter Medium" pitchFamily="34" charset="-120"/>
              </a:rPr>
              <a:t>Listar</a:t>
            </a:r>
            <a:endParaRPr lang="en-US" sz="1300" dirty="0"/>
          </a:p>
        </p:txBody>
      </p:sp>
      <p:sp>
        <p:nvSpPr>
          <p:cNvPr id="36" name="Text 28"/>
          <p:cNvSpPr/>
          <p:nvPr/>
        </p:nvSpPr>
        <p:spPr>
          <a:xfrm>
            <a:off x="7521893" y="6876455"/>
            <a:ext cx="6503313" cy="212527"/>
          </a:xfrm>
          <a:prstGeom prst="rect">
            <a:avLst/>
          </a:prstGeom>
          <a:noFill/>
          <a:ln/>
        </p:spPr>
        <p:txBody>
          <a:bodyPr wrap="none" lIns="0" tIns="0" rIns="0" bIns="0" rtlCol="0" anchor="t"/>
          <a:lstStyle/>
          <a:p>
            <a:pPr algn="l" indent="0" marL="0">
              <a:lnSpc>
                <a:spcPts val="1650"/>
              </a:lnSpc>
              <a:buNone/>
            </a:pPr>
            <a:r>
              <a:rPr lang="en-US" sz="1000" dirty="0">
                <a:solidFill>
                  <a:srgbClr val="2B2E3C"/>
                </a:solidFill>
                <a:latin typeface="Open Sans" pitchFamily="34" charset="0"/>
                <a:ea typeface="Open Sans" pitchFamily="34" charset="-122"/>
                <a:cs typeface="Open Sans" pitchFamily="34" charset="-120"/>
              </a:rPr>
              <a:t>Listar el nombre y los atributos del archivo.</a:t>
            </a:r>
            <a:endParaRPr lang="en-US" sz="1000" dirty="0"/>
          </a:p>
        </p:txBody>
      </p:sp>
      <p:sp>
        <p:nvSpPr>
          <p:cNvPr id="37" name="Text 29"/>
          <p:cNvSpPr/>
          <p:nvPr/>
        </p:nvSpPr>
        <p:spPr>
          <a:xfrm>
            <a:off x="464820" y="7428548"/>
            <a:ext cx="2656642" cy="331946"/>
          </a:xfrm>
          <a:prstGeom prst="rect">
            <a:avLst/>
          </a:prstGeom>
          <a:noFill/>
          <a:ln/>
        </p:spPr>
        <p:txBody>
          <a:bodyPr wrap="none" lIns="0" tIns="0" rIns="0" bIns="0" rtlCol="0" anchor="t"/>
          <a:lstStyle/>
          <a:p>
            <a:pPr algn="l" indent="0" marL="0">
              <a:lnSpc>
                <a:spcPts val="2600"/>
              </a:lnSpc>
              <a:buNone/>
            </a:pPr>
            <a:endParaRPr lang="en-US" sz="2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22089" y="416838"/>
            <a:ext cx="3749040" cy="372904"/>
          </a:xfrm>
          <a:prstGeom prst="rect">
            <a:avLst/>
          </a:prstGeom>
          <a:noFill/>
          <a:ln/>
        </p:spPr>
        <p:txBody>
          <a:bodyPr wrap="none" lIns="0" tIns="0" rIns="0" bIns="0" rtlCol="0" anchor="t"/>
          <a:lstStyle/>
          <a:p>
            <a:pPr algn="l" indent="0" marL="0">
              <a:lnSpc>
                <a:spcPts val="2900"/>
              </a:lnSpc>
              <a:buNone/>
            </a:pPr>
            <a:r>
              <a:rPr lang="en-US" sz="2300" b="1" dirty="0">
                <a:solidFill>
                  <a:srgbClr val="2C3F42"/>
                </a:solidFill>
                <a:latin typeface="Bitter Medium" pitchFamily="34" charset="0"/>
                <a:ea typeface="Bitter Medium" pitchFamily="34" charset="-122"/>
                <a:cs typeface="Bitter Medium" pitchFamily="34" charset="-120"/>
              </a:rPr>
              <a:t>Mecanismos de Protección</a:t>
            </a:r>
            <a:endParaRPr lang="en-US" sz="2300" dirty="0"/>
          </a:p>
        </p:txBody>
      </p:sp>
      <p:sp>
        <p:nvSpPr>
          <p:cNvPr id="3" name="Shape 1"/>
          <p:cNvSpPr/>
          <p:nvPr/>
        </p:nvSpPr>
        <p:spPr>
          <a:xfrm>
            <a:off x="522089" y="1087993"/>
            <a:ext cx="4429363" cy="1709499"/>
          </a:xfrm>
          <a:prstGeom prst="roundRect">
            <a:avLst>
              <a:gd name="adj" fmla="val 3665"/>
            </a:avLst>
          </a:prstGeom>
          <a:solidFill>
            <a:srgbClr val="FCE2CF"/>
          </a:solidFill>
          <a:ln w="7620">
            <a:solidFill>
              <a:srgbClr val="E2C8B5"/>
            </a:solidFill>
            <a:prstDash val="solid"/>
          </a:ln>
        </p:spPr>
      </p:sp>
      <p:sp>
        <p:nvSpPr>
          <p:cNvPr id="4" name="Shape 2"/>
          <p:cNvSpPr/>
          <p:nvPr/>
        </p:nvSpPr>
        <p:spPr>
          <a:xfrm>
            <a:off x="678775" y="1244679"/>
            <a:ext cx="447437" cy="447437"/>
          </a:xfrm>
          <a:prstGeom prst="roundRect">
            <a:avLst>
              <a:gd name="adj" fmla="val 20434353"/>
            </a:avLst>
          </a:prstGeom>
          <a:solidFill>
            <a:srgbClr val="D2600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1767" y="1367671"/>
            <a:ext cx="201335" cy="201335"/>
          </a:xfrm>
          <a:prstGeom prst="rect">
            <a:avLst/>
          </a:prstGeom>
        </p:spPr>
      </p:pic>
      <p:sp>
        <p:nvSpPr>
          <p:cNvPr id="6" name="Text 3"/>
          <p:cNvSpPr/>
          <p:nvPr/>
        </p:nvSpPr>
        <p:spPr>
          <a:xfrm>
            <a:off x="678775" y="1841183"/>
            <a:ext cx="1864638"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Matriz de Acceso</a:t>
            </a:r>
            <a:endParaRPr lang="en-US" sz="1450" dirty="0"/>
          </a:p>
        </p:txBody>
      </p:sp>
      <p:sp>
        <p:nvSpPr>
          <p:cNvPr id="7" name="Text 4"/>
          <p:cNvSpPr/>
          <p:nvPr/>
        </p:nvSpPr>
        <p:spPr>
          <a:xfrm>
            <a:off x="678775" y="2163604"/>
            <a:ext cx="411599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Modelo teórico que define sujetos (usuarios) y objetos (archivos) con las operaciones permitidas.</a:t>
            </a:r>
            <a:endParaRPr lang="en-US" sz="1150" dirty="0"/>
          </a:p>
        </p:txBody>
      </p:sp>
      <p:sp>
        <p:nvSpPr>
          <p:cNvPr id="8" name="Shape 5"/>
          <p:cNvSpPr/>
          <p:nvPr/>
        </p:nvSpPr>
        <p:spPr>
          <a:xfrm>
            <a:off x="5100518" y="1087993"/>
            <a:ext cx="4429363" cy="1709499"/>
          </a:xfrm>
          <a:prstGeom prst="roundRect">
            <a:avLst>
              <a:gd name="adj" fmla="val 3665"/>
            </a:avLst>
          </a:prstGeom>
          <a:solidFill>
            <a:srgbClr val="FCE2CF"/>
          </a:solidFill>
          <a:ln w="7620">
            <a:solidFill>
              <a:srgbClr val="E2C8B5"/>
            </a:solidFill>
            <a:prstDash val="solid"/>
          </a:ln>
        </p:spPr>
      </p:sp>
      <p:sp>
        <p:nvSpPr>
          <p:cNvPr id="9" name="Shape 6"/>
          <p:cNvSpPr/>
          <p:nvPr/>
        </p:nvSpPr>
        <p:spPr>
          <a:xfrm>
            <a:off x="5257205" y="1244679"/>
            <a:ext cx="447437" cy="447437"/>
          </a:xfrm>
          <a:prstGeom prst="roundRect">
            <a:avLst>
              <a:gd name="adj" fmla="val 20434353"/>
            </a:avLst>
          </a:prstGeom>
          <a:solidFill>
            <a:srgbClr val="D2600F"/>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80196" y="1367671"/>
            <a:ext cx="201335" cy="201335"/>
          </a:xfrm>
          <a:prstGeom prst="rect">
            <a:avLst/>
          </a:prstGeom>
        </p:spPr>
      </p:pic>
      <p:sp>
        <p:nvSpPr>
          <p:cNvPr id="11" name="Text 7"/>
          <p:cNvSpPr/>
          <p:nvPr/>
        </p:nvSpPr>
        <p:spPr>
          <a:xfrm>
            <a:off x="5257205" y="1841183"/>
            <a:ext cx="2845475"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Listas de Control de Acceso (ACL)</a:t>
            </a:r>
            <a:endParaRPr lang="en-US" sz="1450" dirty="0"/>
          </a:p>
        </p:txBody>
      </p:sp>
      <p:sp>
        <p:nvSpPr>
          <p:cNvPr id="12" name="Text 8"/>
          <p:cNvSpPr/>
          <p:nvPr/>
        </p:nvSpPr>
        <p:spPr>
          <a:xfrm>
            <a:off x="5257205" y="2163604"/>
            <a:ext cx="411599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Implementación común de la matriz que adjunta los permisos al objeto.</a:t>
            </a:r>
            <a:endParaRPr lang="en-US" sz="1150" dirty="0"/>
          </a:p>
        </p:txBody>
      </p:sp>
      <p:sp>
        <p:nvSpPr>
          <p:cNvPr id="13" name="Shape 9"/>
          <p:cNvSpPr/>
          <p:nvPr/>
        </p:nvSpPr>
        <p:spPr>
          <a:xfrm>
            <a:off x="9678948" y="1087993"/>
            <a:ext cx="4429363" cy="1709499"/>
          </a:xfrm>
          <a:prstGeom prst="roundRect">
            <a:avLst>
              <a:gd name="adj" fmla="val 3665"/>
            </a:avLst>
          </a:prstGeom>
          <a:solidFill>
            <a:srgbClr val="FCE2CF"/>
          </a:solidFill>
          <a:ln w="7620">
            <a:solidFill>
              <a:srgbClr val="E2C8B5"/>
            </a:solidFill>
            <a:prstDash val="solid"/>
          </a:ln>
        </p:spPr>
      </p:sp>
      <p:sp>
        <p:nvSpPr>
          <p:cNvPr id="14" name="Shape 10"/>
          <p:cNvSpPr/>
          <p:nvPr/>
        </p:nvSpPr>
        <p:spPr>
          <a:xfrm>
            <a:off x="9835634" y="1244679"/>
            <a:ext cx="447437" cy="447437"/>
          </a:xfrm>
          <a:prstGeom prst="roundRect">
            <a:avLst>
              <a:gd name="adj" fmla="val 20434353"/>
            </a:avLst>
          </a:prstGeom>
          <a:solidFill>
            <a:srgbClr val="D2600F"/>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58626" y="1367671"/>
            <a:ext cx="201335" cy="201335"/>
          </a:xfrm>
          <a:prstGeom prst="rect">
            <a:avLst/>
          </a:prstGeom>
        </p:spPr>
      </p:pic>
      <p:sp>
        <p:nvSpPr>
          <p:cNvPr id="16" name="Text 11"/>
          <p:cNvSpPr/>
          <p:nvPr/>
        </p:nvSpPr>
        <p:spPr>
          <a:xfrm>
            <a:off x="9835634" y="1841183"/>
            <a:ext cx="1889879"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Listas de Capacidades</a:t>
            </a:r>
            <a:endParaRPr lang="en-US" sz="1450" dirty="0"/>
          </a:p>
        </p:txBody>
      </p:sp>
      <p:sp>
        <p:nvSpPr>
          <p:cNvPr id="17" name="Text 12"/>
          <p:cNvSpPr/>
          <p:nvPr/>
        </p:nvSpPr>
        <p:spPr>
          <a:xfrm>
            <a:off x="9835634" y="2163604"/>
            <a:ext cx="411599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Asignan derechos al sujeto, permitiéndole operar sobre objetos específicos.</a:t>
            </a:r>
            <a:endParaRPr lang="en-US" sz="1150" dirty="0"/>
          </a:p>
        </p:txBody>
      </p:sp>
      <p:sp>
        <p:nvSpPr>
          <p:cNvPr id="18" name="Text 13"/>
          <p:cNvSpPr/>
          <p:nvPr/>
        </p:nvSpPr>
        <p:spPr>
          <a:xfrm>
            <a:off x="522089" y="3021211"/>
            <a:ext cx="4545449" cy="372904"/>
          </a:xfrm>
          <a:prstGeom prst="rect">
            <a:avLst/>
          </a:prstGeom>
          <a:noFill/>
          <a:ln/>
        </p:spPr>
        <p:txBody>
          <a:bodyPr wrap="none" lIns="0" tIns="0" rIns="0" bIns="0" rtlCol="0" anchor="t"/>
          <a:lstStyle/>
          <a:p>
            <a:pPr algn="l" indent="0" marL="0">
              <a:lnSpc>
                <a:spcPts val="2900"/>
              </a:lnSpc>
              <a:buNone/>
            </a:pPr>
            <a:r>
              <a:rPr lang="en-US" sz="2300" dirty="0">
                <a:solidFill>
                  <a:srgbClr val="2C3F42"/>
                </a:solidFill>
                <a:latin typeface="Bitter Medium" pitchFamily="34" charset="0"/>
                <a:ea typeface="Bitter Medium" pitchFamily="34" charset="-122"/>
                <a:cs typeface="Bitter Medium" pitchFamily="34" charset="-120"/>
              </a:rPr>
              <a:t>Listas de Acceso y sus Problemas</a:t>
            </a:r>
            <a:endParaRPr lang="en-US" sz="2300" dirty="0"/>
          </a:p>
        </p:txBody>
      </p:sp>
      <p:sp>
        <p:nvSpPr>
          <p:cNvPr id="19" name="Text 14"/>
          <p:cNvSpPr/>
          <p:nvPr/>
        </p:nvSpPr>
        <p:spPr>
          <a:xfrm>
            <a:off x="522089" y="3617833"/>
            <a:ext cx="13586222" cy="238601"/>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Aunque las ACLs ofrecen un control granular, su implementación práctica en grandes sistemas presenta desafíos operacionales:</a:t>
            </a:r>
            <a:endParaRPr lang="en-US" sz="1150" dirty="0"/>
          </a:p>
        </p:txBody>
      </p:sp>
      <p:sp>
        <p:nvSpPr>
          <p:cNvPr id="20" name="Shape 15"/>
          <p:cNvSpPr/>
          <p:nvPr/>
        </p:nvSpPr>
        <p:spPr>
          <a:xfrm>
            <a:off x="522089" y="4024193"/>
            <a:ext cx="4429363" cy="1128236"/>
          </a:xfrm>
          <a:prstGeom prst="roundRect">
            <a:avLst>
              <a:gd name="adj" fmla="val 6484"/>
            </a:avLst>
          </a:prstGeom>
          <a:solidFill>
            <a:srgbClr val="FFF8F0"/>
          </a:solidFill>
          <a:ln w="15240">
            <a:solidFill>
              <a:srgbClr val="E2C8B5"/>
            </a:solidFill>
            <a:prstDash val="solid"/>
          </a:ln>
        </p:spPr>
      </p:sp>
      <p:sp>
        <p:nvSpPr>
          <p:cNvPr id="21" name="Shape 16"/>
          <p:cNvSpPr/>
          <p:nvPr/>
        </p:nvSpPr>
        <p:spPr>
          <a:xfrm>
            <a:off x="506849" y="4024193"/>
            <a:ext cx="60960" cy="1128236"/>
          </a:xfrm>
          <a:prstGeom prst="roundRect">
            <a:avLst>
              <a:gd name="adj" fmla="val 102780"/>
            </a:avLst>
          </a:prstGeom>
          <a:solidFill>
            <a:srgbClr val="D2600F"/>
          </a:solidFill>
          <a:ln/>
        </p:spPr>
      </p:sp>
      <p:sp>
        <p:nvSpPr>
          <p:cNvPr id="22" name="Text 17"/>
          <p:cNvSpPr/>
          <p:nvPr/>
        </p:nvSpPr>
        <p:spPr>
          <a:xfrm>
            <a:off x="732115" y="4188500"/>
            <a:ext cx="2063472"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Complejidad de Gestión</a:t>
            </a:r>
            <a:endParaRPr lang="en-US" sz="1450" dirty="0"/>
          </a:p>
        </p:txBody>
      </p:sp>
      <p:sp>
        <p:nvSpPr>
          <p:cNvPr id="23" name="Text 18"/>
          <p:cNvSpPr/>
          <p:nvPr/>
        </p:nvSpPr>
        <p:spPr>
          <a:xfrm>
            <a:off x="732115" y="4510921"/>
            <a:ext cx="405503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Mantener y auditar permisos individuales para un número creciente de archivos y usuarios.</a:t>
            </a:r>
            <a:endParaRPr lang="en-US" sz="1150" dirty="0"/>
          </a:p>
        </p:txBody>
      </p:sp>
      <p:sp>
        <p:nvSpPr>
          <p:cNvPr id="24" name="Shape 19"/>
          <p:cNvSpPr/>
          <p:nvPr/>
        </p:nvSpPr>
        <p:spPr>
          <a:xfrm>
            <a:off x="5100518" y="4024193"/>
            <a:ext cx="4429363" cy="1128236"/>
          </a:xfrm>
          <a:prstGeom prst="roundRect">
            <a:avLst>
              <a:gd name="adj" fmla="val 6484"/>
            </a:avLst>
          </a:prstGeom>
          <a:solidFill>
            <a:srgbClr val="FFF8F0"/>
          </a:solidFill>
          <a:ln w="15240">
            <a:solidFill>
              <a:srgbClr val="E2C8B5"/>
            </a:solidFill>
            <a:prstDash val="solid"/>
          </a:ln>
        </p:spPr>
      </p:sp>
      <p:sp>
        <p:nvSpPr>
          <p:cNvPr id="25" name="Shape 20"/>
          <p:cNvSpPr/>
          <p:nvPr/>
        </p:nvSpPr>
        <p:spPr>
          <a:xfrm>
            <a:off x="5085278" y="4024193"/>
            <a:ext cx="60960" cy="1128236"/>
          </a:xfrm>
          <a:prstGeom prst="roundRect">
            <a:avLst>
              <a:gd name="adj" fmla="val 102780"/>
            </a:avLst>
          </a:prstGeom>
          <a:solidFill>
            <a:srgbClr val="D2600F"/>
          </a:solidFill>
          <a:ln/>
        </p:spPr>
      </p:sp>
      <p:sp>
        <p:nvSpPr>
          <p:cNvPr id="26" name="Text 21"/>
          <p:cNvSpPr/>
          <p:nvPr/>
        </p:nvSpPr>
        <p:spPr>
          <a:xfrm>
            <a:off x="5310545" y="4188500"/>
            <a:ext cx="2786896"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Sobrecarga de Almacenamiento</a:t>
            </a:r>
            <a:endParaRPr lang="en-US" sz="1450" dirty="0"/>
          </a:p>
        </p:txBody>
      </p:sp>
      <p:sp>
        <p:nvSpPr>
          <p:cNvPr id="27" name="Text 22"/>
          <p:cNvSpPr/>
          <p:nvPr/>
        </p:nvSpPr>
        <p:spPr>
          <a:xfrm>
            <a:off x="5310545" y="4510921"/>
            <a:ext cx="405503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El almacenamiento de listas largas y detalladas consume metadatos del sistema de archivos.</a:t>
            </a:r>
            <a:endParaRPr lang="en-US" sz="1150" dirty="0"/>
          </a:p>
        </p:txBody>
      </p:sp>
      <p:sp>
        <p:nvSpPr>
          <p:cNvPr id="28" name="Shape 23"/>
          <p:cNvSpPr/>
          <p:nvPr/>
        </p:nvSpPr>
        <p:spPr>
          <a:xfrm>
            <a:off x="9678948" y="4024193"/>
            <a:ext cx="4429363" cy="1128236"/>
          </a:xfrm>
          <a:prstGeom prst="roundRect">
            <a:avLst>
              <a:gd name="adj" fmla="val 6484"/>
            </a:avLst>
          </a:prstGeom>
          <a:solidFill>
            <a:srgbClr val="FFF8F0"/>
          </a:solidFill>
          <a:ln w="15240">
            <a:solidFill>
              <a:srgbClr val="E2C8B5"/>
            </a:solidFill>
            <a:prstDash val="solid"/>
          </a:ln>
        </p:spPr>
      </p:sp>
      <p:sp>
        <p:nvSpPr>
          <p:cNvPr id="29" name="Shape 24"/>
          <p:cNvSpPr/>
          <p:nvPr/>
        </p:nvSpPr>
        <p:spPr>
          <a:xfrm>
            <a:off x="9663708" y="4024193"/>
            <a:ext cx="60960" cy="1128236"/>
          </a:xfrm>
          <a:prstGeom prst="roundRect">
            <a:avLst>
              <a:gd name="adj" fmla="val 102780"/>
            </a:avLst>
          </a:prstGeom>
          <a:solidFill>
            <a:srgbClr val="D2600F"/>
          </a:solidFill>
          <a:ln/>
        </p:spPr>
      </p:sp>
      <p:sp>
        <p:nvSpPr>
          <p:cNvPr id="30" name="Text 25"/>
          <p:cNvSpPr/>
          <p:nvPr/>
        </p:nvSpPr>
        <p:spPr>
          <a:xfrm>
            <a:off x="9888974" y="4188500"/>
            <a:ext cx="2240042"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Demora en la Verificación</a:t>
            </a:r>
            <a:endParaRPr lang="en-US" sz="1450" dirty="0"/>
          </a:p>
        </p:txBody>
      </p:sp>
      <p:sp>
        <p:nvSpPr>
          <p:cNvPr id="31" name="Text 26"/>
          <p:cNvSpPr/>
          <p:nvPr/>
        </p:nvSpPr>
        <p:spPr>
          <a:xfrm>
            <a:off x="9888974" y="4510921"/>
            <a:ext cx="4055031"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El proceso de recorrer la lista para verificar cada solicitud de acceso puede introducir latencia.</a:t>
            </a:r>
            <a:endParaRPr lang="en-US" sz="1150" dirty="0"/>
          </a:p>
        </p:txBody>
      </p:sp>
      <p:sp>
        <p:nvSpPr>
          <p:cNvPr id="32" name="Text 27"/>
          <p:cNvSpPr/>
          <p:nvPr/>
        </p:nvSpPr>
        <p:spPr>
          <a:xfrm>
            <a:off x="522089" y="5376148"/>
            <a:ext cx="3484245" cy="372904"/>
          </a:xfrm>
          <a:prstGeom prst="rect">
            <a:avLst/>
          </a:prstGeom>
          <a:noFill/>
          <a:ln/>
        </p:spPr>
        <p:txBody>
          <a:bodyPr wrap="none" lIns="0" tIns="0" rIns="0" bIns="0" rtlCol="0" anchor="t"/>
          <a:lstStyle/>
          <a:p>
            <a:pPr algn="l" indent="0" marL="0">
              <a:lnSpc>
                <a:spcPts val="2900"/>
              </a:lnSpc>
              <a:buNone/>
            </a:pPr>
            <a:r>
              <a:rPr lang="en-US" sz="2300" dirty="0">
                <a:solidFill>
                  <a:srgbClr val="2C3F42"/>
                </a:solidFill>
                <a:latin typeface="Bitter Medium" pitchFamily="34" charset="0"/>
                <a:ea typeface="Bitter Medium" pitchFamily="34" charset="-122"/>
                <a:cs typeface="Bitter Medium" pitchFamily="34" charset="-120"/>
              </a:rPr>
              <a:t>Clasificación de Usuarios</a:t>
            </a:r>
            <a:endParaRPr lang="en-US" sz="2300" dirty="0"/>
          </a:p>
        </p:txBody>
      </p:sp>
      <p:sp>
        <p:nvSpPr>
          <p:cNvPr id="33" name="Text 28"/>
          <p:cNvSpPr/>
          <p:nvPr/>
        </p:nvSpPr>
        <p:spPr>
          <a:xfrm>
            <a:off x="522089" y="5972770"/>
            <a:ext cx="13586222" cy="238601"/>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Para simplificar la gestión de permisos, los sistemas de archivos clasifican a los usuarios en categorías principales, utilizando típicamente el esquema POSIX:</a:t>
            </a:r>
            <a:endParaRPr lang="en-US" sz="1150" dirty="0"/>
          </a:p>
        </p:txBody>
      </p:sp>
      <p:pic>
        <p:nvPicPr>
          <p:cNvPr id="3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2089" y="6379131"/>
            <a:ext cx="447437" cy="447437"/>
          </a:xfrm>
          <a:prstGeom prst="rect">
            <a:avLst/>
          </a:prstGeom>
        </p:spPr>
      </p:pic>
      <p:sp>
        <p:nvSpPr>
          <p:cNvPr id="35" name="Text 29"/>
          <p:cNvSpPr/>
          <p:nvPr/>
        </p:nvSpPr>
        <p:spPr>
          <a:xfrm>
            <a:off x="522089" y="7013019"/>
            <a:ext cx="1864638"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Propietario (Owner)</a:t>
            </a:r>
            <a:endParaRPr lang="en-US" sz="1450" dirty="0"/>
          </a:p>
        </p:txBody>
      </p:sp>
      <p:sp>
        <p:nvSpPr>
          <p:cNvPr id="36" name="Text 30"/>
          <p:cNvSpPr/>
          <p:nvPr/>
        </p:nvSpPr>
        <p:spPr>
          <a:xfrm>
            <a:off x="522089" y="7335441"/>
            <a:ext cx="4404360"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El creador del archivo o el administrador actual. Posee los derechos más altos sobre el objeto.</a:t>
            </a:r>
            <a:endParaRPr lang="en-US" sz="1150" dirty="0"/>
          </a:p>
        </p:txBody>
      </p:sp>
      <p:pic>
        <p:nvPicPr>
          <p:cNvPr id="3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12901" y="6379131"/>
            <a:ext cx="447437" cy="447437"/>
          </a:xfrm>
          <a:prstGeom prst="rect">
            <a:avLst/>
          </a:prstGeom>
        </p:spPr>
      </p:pic>
      <p:sp>
        <p:nvSpPr>
          <p:cNvPr id="38" name="Text 31"/>
          <p:cNvSpPr/>
          <p:nvPr/>
        </p:nvSpPr>
        <p:spPr>
          <a:xfrm>
            <a:off x="5112901" y="7013019"/>
            <a:ext cx="1864638"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Grupo (Group)</a:t>
            </a:r>
            <a:endParaRPr lang="en-US" sz="1450" dirty="0"/>
          </a:p>
        </p:txBody>
      </p:sp>
      <p:sp>
        <p:nvSpPr>
          <p:cNvPr id="39" name="Text 32"/>
          <p:cNvSpPr/>
          <p:nvPr/>
        </p:nvSpPr>
        <p:spPr>
          <a:xfrm>
            <a:off x="5112901" y="7335441"/>
            <a:ext cx="4404479"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Miembros de un grupo específico que comparten un conjunto definido de permisos.</a:t>
            </a:r>
            <a:endParaRPr lang="en-US" sz="1150" dirty="0"/>
          </a:p>
        </p:txBody>
      </p:sp>
      <p:pic>
        <p:nvPicPr>
          <p:cNvPr id="4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03832" y="6379131"/>
            <a:ext cx="447437" cy="447437"/>
          </a:xfrm>
          <a:prstGeom prst="rect">
            <a:avLst/>
          </a:prstGeom>
        </p:spPr>
      </p:pic>
      <p:sp>
        <p:nvSpPr>
          <p:cNvPr id="41" name="Text 33"/>
          <p:cNvSpPr/>
          <p:nvPr/>
        </p:nvSpPr>
        <p:spPr>
          <a:xfrm>
            <a:off x="9703832" y="7013019"/>
            <a:ext cx="1864638" cy="233005"/>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Otros (World)</a:t>
            </a:r>
            <a:endParaRPr lang="en-US" sz="1450" dirty="0"/>
          </a:p>
        </p:txBody>
      </p:sp>
      <p:sp>
        <p:nvSpPr>
          <p:cNvPr id="42" name="Text 34"/>
          <p:cNvSpPr/>
          <p:nvPr/>
        </p:nvSpPr>
        <p:spPr>
          <a:xfrm>
            <a:off x="9703832" y="7335441"/>
            <a:ext cx="4404360" cy="477202"/>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Cualquier entidad o usuario que no sea el propietario ni forme parte del grupo asociado.</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945880" y="2880360"/>
            <a:ext cx="4053840" cy="2468880"/>
          </a:xfrm>
          <a:prstGeom prst="rect">
            <a:avLst/>
          </a:prstGeom>
        </p:spPr>
      </p:pic>
      <p:sp>
        <p:nvSpPr>
          <p:cNvPr id="3" name="Text 0"/>
          <p:cNvSpPr/>
          <p:nvPr/>
        </p:nvSpPr>
        <p:spPr>
          <a:xfrm>
            <a:off x="653653" y="767477"/>
            <a:ext cx="4961215" cy="583644"/>
          </a:xfrm>
          <a:prstGeom prst="rect">
            <a:avLst/>
          </a:prstGeom>
          <a:noFill/>
          <a:ln/>
        </p:spPr>
        <p:txBody>
          <a:bodyPr wrap="none" lIns="0" tIns="0" rIns="0" bIns="0" rtlCol="0" anchor="t"/>
          <a:lstStyle/>
          <a:p>
            <a:pPr algn="l" indent="0" marL="0">
              <a:lnSpc>
                <a:spcPts val="4550"/>
              </a:lnSpc>
              <a:buNone/>
            </a:pPr>
            <a:r>
              <a:rPr lang="en-US" sz="3650" b="1" dirty="0">
                <a:solidFill>
                  <a:srgbClr val="2C3F42"/>
                </a:solidFill>
                <a:latin typeface="Bitter Medium" pitchFamily="34" charset="0"/>
                <a:ea typeface="Bitter Medium" pitchFamily="34" charset="-122"/>
                <a:cs typeface="Bitter Medium" pitchFamily="34" charset="-120"/>
              </a:rPr>
              <a:t>LOS NODOS-I DE UNIX</a:t>
            </a:r>
            <a:endParaRPr lang="en-US" sz="3650" dirty="0"/>
          </a:p>
        </p:txBody>
      </p:sp>
      <p:sp>
        <p:nvSpPr>
          <p:cNvPr id="4" name="Shape 1"/>
          <p:cNvSpPr/>
          <p:nvPr/>
        </p:nvSpPr>
        <p:spPr>
          <a:xfrm>
            <a:off x="653653" y="1631275"/>
            <a:ext cx="6007894" cy="2018348"/>
          </a:xfrm>
          <a:prstGeom prst="roundRect">
            <a:avLst>
              <a:gd name="adj" fmla="val 5437"/>
            </a:avLst>
          </a:prstGeom>
          <a:solidFill>
            <a:srgbClr val="FFF8F0"/>
          </a:solidFill>
          <a:ln w="22860">
            <a:solidFill>
              <a:srgbClr val="E2C8B5"/>
            </a:solidFill>
            <a:prstDash val="solid"/>
          </a:ln>
        </p:spPr>
      </p:sp>
      <p:sp>
        <p:nvSpPr>
          <p:cNvPr id="5" name="Shape 2"/>
          <p:cNvSpPr/>
          <p:nvPr/>
        </p:nvSpPr>
        <p:spPr>
          <a:xfrm>
            <a:off x="630793" y="1631275"/>
            <a:ext cx="91440" cy="2018348"/>
          </a:xfrm>
          <a:prstGeom prst="roundRect">
            <a:avLst>
              <a:gd name="adj" fmla="val 85793"/>
            </a:avLst>
          </a:prstGeom>
          <a:solidFill>
            <a:srgbClr val="D2600F"/>
          </a:solidFill>
          <a:ln/>
        </p:spPr>
      </p:sp>
      <p:sp>
        <p:nvSpPr>
          <p:cNvPr id="6" name="Text 3"/>
          <p:cNvSpPr/>
          <p:nvPr/>
        </p:nvSpPr>
        <p:spPr>
          <a:xfrm>
            <a:off x="931783" y="1840825"/>
            <a:ext cx="3434953" cy="291822"/>
          </a:xfrm>
          <a:prstGeom prst="rect">
            <a:avLst/>
          </a:prstGeom>
          <a:noFill/>
          <a:ln/>
        </p:spPr>
        <p:txBody>
          <a:bodyPr wrap="none" lIns="0" tIns="0" rIns="0" bIns="0" rtlCol="0" anchor="t"/>
          <a:lstStyle/>
          <a:p>
            <a:pPr algn="l" indent="0" marL="0">
              <a:lnSpc>
                <a:spcPts val="2250"/>
              </a:lnSpc>
              <a:buNone/>
            </a:pPr>
            <a:r>
              <a:rPr lang="en-US" sz="1800" dirty="0">
                <a:solidFill>
                  <a:srgbClr val="2B2E3C"/>
                </a:solidFill>
                <a:latin typeface="Bitter Medium" pitchFamily="34" charset="0"/>
                <a:ea typeface="Bitter Medium" pitchFamily="34" charset="-122"/>
                <a:cs typeface="Bitter Medium" pitchFamily="34" charset="-120"/>
              </a:rPr>
              <a:t>Nodo-i como estructura central</a:t>
            </a:r>
            <a:endParaRPr lang="en-US" sz="1800" dirty="0"/>
          </a:p>
        </p:txBody>
      </p:sp>
      <p:sp>
        <p:nvSpPr>
          <p:cNvPr id="7" name="Text 4"/>
          <p:cNvSpPr/>
          <p:nvPr/>
        </p:nvSpPr>
        <p:spPr>
          <a:xfrm>
            <a:off x="931783" y="2244685"/>
            <a:ext cx="5520214" cy="1195388"/>
          </a:xfrm>
          <a:prstGeom prst="rect">
            <a:avLst/>
          </a:prstGeom>
          <a:noFill/>
          <a:ln/>
        </p:spPr>
        <p:txBody>
          <a:bodyPr wrap="squar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Cada archivo en UNIX está vinculado a un nodo-i, que contiene información como tamaño, fechas, permisos y propietario. Esta estructura permite identificar qué bloques pertenecen al archivo.</a:t>
            </a:r>
            <a:endParaRPr lang="en-US" sz="1450" dirty="0"/>
          </a:p>
        </p:txBody>
      </p:sp>
      <p:sp>
        <p:nvSpPr>
          <p:cNvPr id="8" name="Shape 5"/>
          <p:cNvSpPr/>
          <p:nvPr/>
        </p:nvSpPr>
        <p:spPr>
          <a:xfrm>
            <a:off x="653653" y="3836313"/>
            <a:ext cx="6007894" cy="1420654"/>
          </a:xfrm>
          <a:prstGeom prst="roundRect">
            <a:avLst>
              <a:gd name="adj" fmla="val 7724"/>
            </a:avLst>
          </a:prstGeom>
          <a:solidFill>
            <a:srgbClr val="FFF8F0"/>
          </a:solidFill>
          <a:ln w="22860">
            <a:solidFill>
              <a:srgbClr val="E2C8B5"/>
            </a:solidFill>
            <a:prstDash val="solid"/>
          </a:ln>
        </p:spPr>
      </p:sp>
      <p:sp>
        <p:nvSpPr>
          <p:cNvPr id="9" name="Shape 6"/>
          <p:cNvSpPr/>
          <p:nvPr/>
        </p:nvSpPr>
        <p:spPr>
          <a:xfrm>
            <a:off x="630793" y="3836313"/>
            <a:ext cx="91440" cy="1420654"/>
          </a:xfrm>
          <a:prstGeom prst="roundRect">
            <a:avLst>
              <a:gd name="adj" fmla="val 85793"/>
            </a:avLst>
          </a:prstGeom>
          <a:solidFill>
            <a:srgbClr val="D2600F"/>
          </a:solidFill>
          <a:ln/>
        </p:spPr>
      </p:sp>
      <p:sp>
        <p:nvSpPr>
          <p:cNvPr id="10" name="Text 7"/>
          <p:cNvSpPr/>
          <p:nvPr/>
        </p:nvSpPr>
        <p:spPr>
          <a:xfrm>
            <a:off x="931783" y="4045863"/>
            <a:ext cx="2782253" cy="291822"/>
          </a:xfrm>
          <a:prstGeom prst="rect">
            <a:avLst/>
          </a:prstGeom>
          <a:noFill/>
          <a:ln/>
        </p:spPr>
        <p:txBody>
          <a:bodyPr wrap="none" lIns="0" tIns="0" rIns="0" bIns="0" rtlCol="0" anchor="t"/>
          <a:lstStyle/>
          <a:p>
            <a:pPr algn="l" indent="0" marL="0">
              <a:lnSpc>
                <a:spcPts val="2250"/>
              </a:lnSpc>
              <a:buNone/>
            </a:pPr>
            <a:r>
              <a:rPr lang="en-US" sz="1800" dirty="0">
                <a:solidFill>
                  <a:srgbClr val="2B2E3C"/>
                </a:solidFill>
                <a:latin typeface="Bitter Medium" pitchFamily="34" charset="0"/>
                <a:ea typeface="Bitter Medium" pitchFamily="34" charset="-122"/>
                <a:cs typeface="Bitter Medium" pitchFamily="34" charset="-120"/>
              </a:rPr>
              <a:t>Optimización de recursos</a:t>
            </a:r>
            <a:endParaRPr lang="en-US" sz="1800" dirty="0"/>
          </a:p>
        </p:txBody>
      </p:sp>
      <p:sp>
        <p:nvSpPr>
          <p:cNvPr id="11" name="Text 8"/>
          <p:cNvSpPr/>
          <p:nvPr/>
        </p:nvSpPr>
        <p:spPr>
          <a:xfrm>
            <a:off x="931783" y="4449723"/>
            <a:ext cx="5520214" cy="597694"/>
          </a:xfrm>
          <a:prstGeom prst="rect">
            <a:avLst/>
          </a:prstGeom>
          <a:noFill/>
          <a:ln/>
        </p:spPr>
        <p:txBody>
          <a:bodyPr wrap="squar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El nodo-i solo se carga en memoria cuando el archivo está abierto, lo que mejora la eficiencia del sistema.</a:t>
            </a:r>
            <a:endParaRPr lang="en-US" sz="1450" dirty="0"/>
          </a:p>
        </p:txBody>
      </p:sp>
      <p:sp>
        <p:nvSpPr>
          <p:cNvPr id="12" name="Shape 9"/>
          <p:cNvSpPr/>
          <p:nvPr/>
        </p:nvSpPr>
        <p:spPr>
          <a:xfrm>
            <a:off x="653653" y="5443657"/>
            <a:ext cx="6007894" cy="2018348"/>
          </a:xfrm>
          <a:prstGeom prst="roundRect">
            <a:avLst>
              <a:gd name="adj" fmla="val 5437"/>
            </a:avLst>
          </a:prstGeom>
          <a:solidFill>
            <a:srgbClr val="FFF8F0"/>
          </a:solidFill>
          <a:ln w="22860">
            <a:solidFill>
              <a:srgbClr val="E2C8B5"/>
            </a:solidFill>
            <a:prstDash val="solid"/>
          </a:ln>
        </p:spPr>
      </p:sp>
      <p:sp>
        <p:nvSpPr>
          <p:cNvPr id="13" name="Shape 10"/>
          <p:cNvSpPr/>
          <p:nvPr/>
        </p:nvSpPr>
        <p:spPr>
          <a:xfrm>
            <a:off x="630793" y="5443657"/>
            <a:ext cx="91440" cy="2018348"/>
          </a:xfrm>
          <a:prstGeom prst="roundRect">
            <a:avLst>
              <a:gd name="adj" fmla="val 85793"/>
            </a:avLst>
          </a:prstGeom>
          <a:solidFill>
            <a:srgbClr val="D2600F"/>
          </a:solidFill>
          <a:ln/>
        </p:spPr>
      </p:sp>
      <p:sp>
        <p:nvSpPr>
          <p:cNvPr id="14" name="Text 11"/>
          <p:cNvSpPr/>
          <p:nvPr/>
        </p:nvSpPr>
        <p:spPr>
          <a:xfrm>
            <a:off x="931783" y="5653207"/>
            <a:ext cx="3906322" cy="291822"/>
          </a:xfrm>
          <a:prstGeom prst="rect">
            <a:avLst/>
          </a:prstGeom>
          <a:noFill/>
          <a:ln/>
        </p:spPr>
        <p:txBody>
          <a:bodyPr wrap="none" lIns="0" tIns="0" rIns="0" bIns="0" rtlCol="0" anchor="t"/>
          <a:lstStyle/>
          <a:p>
            <a:pPr algn="l" indent="0" marL="0">
              <a:lnSpc>
                <a:spcPts val="2250"/>
              </a:lnSpc>
              <a:buNone/>
            </a:pPr>
            <a:r>
              <a:rPr lang="en-US" sz="1800" dirty="0">
                <a:solidFill>
                  <a:srgbClr val="2B2E3C"/>
                </a:solidFill>
                <a:latin typeface="Bitter Medium" pitchFamily="34" charset="0"/>
                <a:ea typeface="Bitter Medium" pitchFamily="34" charset="-122"/>
                <a:cs typeface="Bitter Medium" pitchFamily="34" charset="-120"/>
              </a:rPr>
              <a:t>Organización jerárquica del sistema</a:t>
            </a:r>
            <a:endParaRPr lang="en-US" sz="1800" dirty="0"/>
          </a:p>
        </p:txBody>
      </p:sp>
      <p:sp>
        <p:nvSpPr>
          <p:cNvPr id="15" name="Text 12"/>
          <p:cNvSpPr/>
          <p:nvPr/>
        </p:nvSpPr>
        <p:spPr>
          <a:xfrm>
            <a:off x="931783" y="6057067"/>
            <a:ext cx="5520214" cy="1195388"/>
          </a:xfrm>
          <a:prstGeom prst="rect">
            <a:avLst/>
          </a:prstGeom>
          <a:noFill/>
          <a:ln/>
        </p:spPr>
        <p:txBody>
          <a:bodyPr wrap="square" lIns="0" tIns="0" rIns="0" bIns="0" rtlCol="0" anchor="t"/>
          <a:lstStyle/>
          <a:p>
            <a:pPr algn="l" indent="0" marL="0">
              <a:lnSpc>
                <a:spcPts val="2350"/>
              </a:lnSpc>
              <a:buNone/>
            </a:pPr>
            <a:r>
              <a:rPr lang="en-US" sz="1450" dirty="0">
                <a:solidFill>
                  <a:srgbClr val="2B2E3C"/>
                </a:solidFill>
                <a:latin typeface="Open Sans" pitchFamily="34" charset="0"/>
                <a:ea typeface="Open Sans" pitchFamily="34" charset="-122"/>
                <a:cs typeface="Open Sans" pitchFamily="34" charset="-120"/>
              </a:rPr>
              <a:t>El sistema de archivos se organiza como un árbol con enlaces que forman una gráfica acíclica dirigida. Cada entrada de directorio incluye el nombre del archivo y su nodo-i, permitiendo gestionar hasta 64 000 archivos.</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74715" y="452676"/>
            <a:ext cx="5650111" cy="513159"/>
          </a:xfrm>
          <a:prstGeom prst="rect">
            <a:avLst/>
          </a:prstGeom>
          <a:noFill/>
          <a:ln/>
        </p:spPr>
        <p:txBody>
          <a:bodyPr wrap="none" lIns="0" tIns="0" rIns="0" bIns="0" rtlCol="0" anchor="t"/>
          <a:lstStyle/>
          <a:p>
            <a:pPr algn="l" indent="0" marL="0">
              <a:lnSpc>
                <a:spcPts val="4000"/>
              </a:lnSpc>
              <a:buNone/>
            </a:pPr>
            <a:r>
              <a:rPr lang="en-US" sz="3200" dirty="0">
                <a:solidFill>
                  <a:srgbClr val="000000"/>
                </a:solidFill>
                <a:latin typeface="Bitter Medium" pitchFamily="34" charset="0"/>
                <a:ea typeface="Bitter Medium" pitchFamily="34" charset="-122"/>
                <a:cs typeface="Bitter Medium" pitchFamily="34" charset="-120"/>
              </a:rPr>
              <a:t>JERARQUÍA DE DIRECTORIOS</a:t>
            </a:r>
            <a:endParaRPr lang="en-US" sz="3200" dirty="0"/>
          </a:p>
        </p:txBody>
      </p:sp>
      <p:sp>
        <p:nvSpPr>
          <p:cNvPr id="3" name="Text 1"/>
          <p:cNvSpPr/>
          <p:nvPr/>
        </p:nvSpPr>
        <p:spPr>
          <a:xfrm>
            <a:off x="574715" y="1294209"/>
            <a:ext cx="13480971" cy="262652"/>
          </a:xfrm>
          <a:prstGeom prst="rect">
            <a:avLst/>
          </a:prstGeom>
          <a:noFill/>
          <a:ln/>
        </p:spPr>
        <p:txBody>
          <a:bodyPr wrap="none" lIns="0" tIns="0" rIns="0" bIns="0" rtlCol="0" anchor="t"/>
          <a:lstStyle/>
          <a:p>
            <a:pPr algn="l" indent="0" marL="0">
              <a:lnSpc>
                <a:spcPts val="2050"/>
              </a:lnSpc>
              <a:buNone/>
            </a:pPr>
            <a:r>
              <a:rPr lang="en-US" sz="1250" dirty="0">
                <a:solidFill>
                  <a:srgbClr val="2B2E3C"/>
                </a:solidFill>
                <a:latin typeface="Open Sans" pitchFamily="34" charset="0"/>
                <a:ea typeface="Open Sans" pitchFamily="34" charset="-122"/>
                <a:cs typeface="Open Sans" pitchFamily="34" charset="-120"/>
              </a:rPr>
              <a:t>El número y organización de directorios varían según el sistema. A continuación, se describen las principales jerarquías:</a:t>
            </a:r>
            <a:endParaRPr lang="en-US" sz="1250" dirty="0"/>
          </a:p>
        </p:txBody>
      </p:sp>
      <p:sp>
        <p:nvSpPr>
          <p:cNvPr id="4" name="Text 2"/>
          <p:cNvSpPr/>
          <p:nvPr/>
        </p:nvSpPr>
        <p:spPr>
          <a:xfrm>
            <a:off x="574715" y="1889284"/>
            <a:ext cx="6678930" cy="262652"/>
          </a:xfrm>
          <a:prstGeom prst="rect">
            <a:avLst/>
          </a:prstGeom>
          <a:noFill/>
          <a:ln/>
        </p:spPr>
        <p:txBody>
          <a:bodyPr wrap="none" lIns="0" tIns="0" rIns="0" bIns="0" rtlCol="0" anchor="t"/>
          <a:lstStyle/>
          <a:p>
            <a:pPr algn="l" indent="0" marL="0">
              <a:lnSpc>
                <a:spcPts val="2050"/>
              </a:lnSpc>
              <a:buNone/>
            </a:pPr>
            <a:endParaRPr lang="en-US" sz="1250" dirty="0"/>
          </a:p>
        </p:txBody>
      </p:sp>
      <p:pic>
        <p:nvPicPr>
          <p:cNvPr id="5" name="Image 0" descr="preencoded.png">    </p:cNvPr>
          <p:cNvPicPr>
            <a:picLocks noChangeAspect="1"/>
          </p:cNvPicPr>
          <p:nvPr/>
        </p:nvPicPr>
        <p:blipFill>
          <a:blip r:embed="rId1"/>
          <a:stretch>
            <a:fillRect/>
          </a:stretch>
        </p:blipFill>
        <p:spPr>
          <a:xfrm>
            <a:off x="574715" y="2336602"/>
            <a:ext cx="4813578" cy="1087874"/>
          </a:xfrm>
          <a:prstGeom prst="rect">
            <a:avLst/>
          </a:prstGeom>
        </p:spPr>
      </p:pic>
      <p:pic>
        <p:nvPicPr>
          <p:cNvPr id="6" name="Image 1" descr="preencoded.png">    </p:cNvPr>
          <p:cNvPicPr>
            <a:picLocks noChangeAspect="1"/>
          </p:cNvPicPr>
          <p:nvPr/>
        </p:nvPicPr>
        <p:blipFill>
          <a:blip r:embed="rId2"/>
          <a:stretch>
            <a:fillRect/>
          </a:stretch>
        </p:blipFill>
        <p:spPr>
          <a:xfrm>
            <a:off x="7661791" y="1926193"/>
            <a:ext cx="4813578" cy="1570196"/>
          </a:xfrm>
          <a:prstGeom prst="rect">
            <a:avLst/>
          </a:prstGeom>
        </p:spPr>
      </p:pic>
      <p:sp>
        <p:nvSpPr>
          <p:cNvPr id="7" name="Text 3"/>
          <p:cNvSpPr/>
          <p:nvPr/>
        </p:nvSpPr>
        <p:spPr>
          <a:xfrm>
            <a:off x="7661791" y="3681055"/>
            <a:ext cx="6401395" cy="262652"/>
          </a:xfrm>
          <a:prstGeom prst="rect">
            <a:avLst/>
          </a:prstGeom>
          <a:noFill/>
          <a:ln/>
        </p:spPr>
        <p:txBody>
          <a:bodyPr wrap="none" lIns="0" tIns="0" rIns="0" bIns="0" rtlCol="0" anchor="t"/>
          <a:lstStyle/>
          <a:p>
            <a:pPr algn="l" indent="0" marL="0">
              <a:lnSpc>
                <a:spcPts val="2050"/>
              </a:lnSpc>
              <a:buNone/>
            </a:pPr>
            <a:endParaRPr lang="en-US" sz="1250" dirty="0"/>
          </a:p>
        </p:txBody>
      </p:sp>
      <p:sp>
        <p:nvSpPr>
          <p:cNvPr id="8" name="Shape 4"/>
          <p:cNvSpPr/>
          <p:nvPr/>
        </p:nvSpPr>
        <p:spPr>
          <a:xfrm>
            <a:off x="456486" y="4276130"/>
            <a:ext cx="6776680" cy="3500795"/>
          </a:xfrm>
          <a:prstGeom prst="roundRect">
            <a:avLst>
              <a:gd name="adj" fmla="val 3377"/>
            </a:avLst>
          </a:prstGeom>
          <a:solidFill>
            <a:srgbClr val="D2600F"/>
          </a:solidFill>
          <a:ln/>
        </p:spPr>
      </p:sp>
      <p:sp>
        <p:nvSpPr>
          <p:cNvPr id="9" name="Text 5"/>
          <p:cNvSpPr/>
          <p:nvPr/>
        </p:nvSpPr>
        <p:spPr>
          <a:xfrm>
            <a:off x="620673" y="4440317"/>
            <a:ext cx="2985254" cy="307896"/>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Bitter Medium" pitchFamily="34" charset="0"/>
                <a:ea typeface="Bitter Medium" pitchFamily="34" charset="-122"/>
                <a:cs typeface="Bitter Medium" pitchFamily="34" charset="-120"/>
              </a:rPr>
              <a:t>Directorio de un solo nivel</a:t>
            </a:r>
            <a:endParaRPr lang="en-US" sz="1900" dirty="0"/>
          </a:p>
        </p:txBody>
      </p:sp>
      <p:sp>
        <p:nvSpPr>
          <p:cNvPr id="10" name="Text 6"/>
          <p:cNvSpPr/>
          <p:nvPr/>
        </p:nvSpPr>
        <p:spPr>
          <a:xfrm>
            <a:off x="620673" y="4912400"/>
            <a:ext cx="6448306" cy="787956"/>
          </a:xfrm>
          <a:prstGeom prst="rect">
            <a:avLst/>
          </a:prstGeom>
          <a:noFill/>
          <a:ln/>
        </p:spPr>
        <p:txBody>
          <a:bodyPr wrap="square" lIns="0" tIns="0" rIns="0" bIns="0" rtlCol="0" anchor="t"/>
          <a:lstStyle/>
          <a:p>
            <a:pPr algn="l" indent="0" marL="0">
              <a:lnSpc>
                <a:spcPts val="2050"/>
              </a:lnSpc>
              <a:buNone/>
            </a:pPr>
            <a:r>
              <a:rPr lang="en-US" sz="1250" dirty="0">
                <a:solidFill>
                  <a:srgbClr val="000000"/>
                </a:solidFill>
                <a:latin typeface="Open Sans" pitchFamily="34" charset="0"/>
                <a:ea typeface="Open Sans" pitchFamily="34" charset="-122"/>
                <a:cs typeface="Open Sans" pitchFamily="34" charset="-120"/>
              </a:rPr>
              <a:t>Todos los archivos residen en un mismo directorio. Aunque es fácil de entender y soportar, presenta limitaciones significativas a medida que aumenta el número de archivos o usuarios.</a:t>
            </a:r>
            <a:endParaRPr lang="en-US" sz="1250" dirty="0"/>
          </a:p>
        </p:txBody>
      </p:sp>
      <p:sp>
        <p:nvSpPr>
          <p:cNvPr id="11" name="Text 7"/>
          <p:cNvSpPr/>
          <p:nvPr/>
        </p:nvSpPr>
        <p:spPr>
          <a:xfrm>
            <a:off x="620673" y="5848112"/>
            <a:ext cx="6448306" cy="52530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000000"/>
                </a:solidFill>
                <a:latin typeface="Open Sans" pitchFamily="34" charset="0"/>
                <a:ea typeface="Open Sans" pitchFamily="34" charset="-122"/>
                <a:cs typeface="Open Sans" pitchFamily="34" charset="-120"/>
              </a:rPr>
              <a:t>Todos los archivos deben tener nombres únicos, lo que puede causar confusión y colisiones.</a:t>
            </a:r>
            <a:endParaRPr lang="en-US" sz="1250" dirty="0"/>
          </a:p>
        </p:txBody>
      </p:sp>
      <p:sp>
        <p:nvSpPr>
          <p:cNvPr id="12" name="Text 8"/>
          <p:cNvSpPr/>
          <p:nvPr/>
        </p:nvSpPr>
        <p:spPr>
          <a:xfrm>
            <a:off x="620673" y="6430804"/>
            <a:ext cx="6448306" cy="52530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000000"/>
                </a:solidFill>
                <a:latin typeface="Open Sans" pitchFamily="34" charset="0"/>
                <a:ea typeface="Open Sans" pitchFamily="34" charset="-122"/>
                <a:cs typeface="Open Sans" pitchFamily="34" charset="-120"/>
              </a:rPr>
              <a:t>No hay una separación clara o estructura para organizar archivos de diferentes usuarios.</a:t>
            </a:r>
            <a:endParaRPr lang="en-US" sz="1250" dirty="0"/>
          </a:p>
        </p:txBody>
      </p:sp>
      <p:sp>
        <p:nvSpPr>
          <p:cNvPr id="13" name="Text 9"/>
          <p:cNvSpPr/>
          <p:nvPr/>
        </p:nvSpPr>
        <p:spPr>
          <a:xfrm>
            <a:off x="620673" y="7103864"/>
            <a:ext cx="6448306" cy="525304"/>
          </a:xfrm>
          <a:prstGeom prst="rect">
            <a:avLst/>
          </a:prstGeom>
          <a:noFill/>
          <a:ln/>
        </p:spPr>
        <p:txBody>
          <a:bodyPr wrap="square" lIns="0" tIns="0" rIns="0" bIns="0" rtlCol="0" anchor="t"/>
          <a:lstStyle/>
          <a:p>
            <a:pPr algn="l" indent="0" marL="0">
              <a:lnSpc>
                <a:spcPts val="2050"/>
              </a:lnSpc>
              <a:buNone/>
            </a:pPr>
            <a:r>
              <a:rPr lang="en-US" sz="1250" dirty="0">
                <a:solidFill>
                  <a:srgbClr val="000000"/>
                </a:solidFill>
                <a:latin typeface="Open Sans" pitchFamily="34" charset="0"/>
                <a:ea typeface="Open Sans" pitchFamily="34" charset="-122"/>
                <a:cs typeface="Open Sans" pitchFamily="34" charset="-120"/>
              </a:rPr>
              <a:t>La solución básica para sus desventajas es crear un directorio individual para cada usuario, llevando al siguiente nivel de jerarquía.</a:t>
            </a:r>
            <a:endParaRPr lang="en-US" sz="1250" dirty="0"/>
          </a:p>
        </p:txBody>
      </p:sp>
      <p:sp>
        <p:nvSpPr>
          <p:cNvPr id="14" name="Shape 10"/>
          <p:cNvSpPr/>
          <p:nvPr/>
        </p:nvSpPr>
        <p:spPr>
          <a:xfrm>
            <a:off x="7404854" y="4276130"/>
            <a:ext cx="6776680" cy="3500795"/>
          </a:xfrm>
          <a:prstGeom prst="roundRect">
            <a:avLst>
              <a:gd name="adj" fmla="val 3377"/>
            </a:avLst>
          </a:prstGeom>
          <a:solidFill>
            <a:srgbClr val="D2600F"/>
          </a:solidFill>
          <a:ln/>
        </p:spPr>
      </p:sp>
      <p:sp>
        <p:nvSpPr>
          <p:cNvPr id="15" name="Text 11"/>
          <p:cNvSpPr/>
          <p:nvPr/>
        </p:nvSpPr>
        <p:spPr>
          <a:xfrm>
            <a:off x="7569041" y="4440317"/>
            <a:ext cx="2812375" cy="307896"/>
          </a:xfrm>
          <a:prstGeom prst="rect">
            <a:avLst/>
          </a:prstGeom>
          <a:noFill/>
          <a:ln/>
        </p:spPr>
        <p:txBody>
          <a:bodyPr wrap="none" lIns="0" tIns="0" rIns="0" bIns="0" rtlCol="0" anchor="t"/>
          <a:lstStyle/>
          <a:p>
            <a:pPr algn="l" indent="0" marL="0">
              <a:lnSpc>
                <a:spcPts val="2400"/>
              </a:lnSpc>
              <a:buNone/>
            </a:pPr>
            <a:r>
              <a:rPr lang="en-US" sz="1900" dirty="0">
                <a:solidFill>
                  <a:srgbClr val="000000"/>
                </a:solidFill>
                <a:latin typeface="Bitter Medium" pitchFamily="34" charset="0"/>
                <a:ea typeface="Bitter Medium" pitchFamily="34" charset="-122"/>
                <a:cs typeface="Bitter Medium" pitchFamily="34" charset="-120"/>
              </a:rPr>
              <a:t>Directorio de dos niveles</a:t>
            </a:r>
            <a:endParaRPr lang="en-US" sz="1900" dirty="0"/>
          </a:p>
        </p:txBody>
      </p:sp>
      <p:sp>
        <p:nvSpPr>
          <p:cNvPr id="16" name="Text 12"/>
          <p:cNvSpPr/>
          <p:nvPr/>
        </p:nvSpPr>
        <p:spPr>
          <a:xfrm>
            <a:off x="7569041" y="4912400"/>
            <a:ext cx="6448306" cy="525304"/>
          </a:xfrm>
          <a:prstGeom prst="rect">
            <a:avLst/>
          </a:prstGeom>
          <a:noFill/>
          <a:ln/>
        </p:spPr>
        <p:txBody>
          <a:bodyPr wrap="square" lIns="0" tIns="0" rIns="0" bIns="0" rtlCol="0" anchor="t"/>
          <a:lstStyle/>
          <a:p>
            <a:pPr algn="l" indent="0" marL="0">
              <a:lnSpc>
                <a:spcPts val="2050"/>
              </a:lnSpc>
              <a:buNone/>
            </a:pPr>
            <a:r>
              <a:rPr lang="en-US" sz="1250" dirty="0">
                <a:solidFill>
                  <a:srgbClr val="000000"/>
                </a:solidFill>
                <a:latin typeface="Open Sans" pitchFamily="34" charset="0"/>
                <a:ea typeface="Open Sans" pitchFamily="34" charset="-122"/>
                <a:cs typeface="Open Sans" pitchFamily="34" charset="-120"/>
              </a:rPr>
              <a:t>Para superar las limitaciones del modelo de un solo nivel, cada usuario tiene su propio Directorio de Archivos de Usuario (UFD).</a:t>
            </a:r>
            <a:endParaRPr lang="en-US" sz="1250" dirty="0"/>
          </a:p>
        </p:txBody>
      </p:sp>
      <p:sp>
        <p:nvSpPr>
          <p:cNvPr id="17" name="Text 13"/>
          <p:cNvSpPr/>
          <p:nvPr/>
        </p:nvSpPr>
        <p:spPr>
          <a:xfrm>
            <a:off x="7569041" y="5585460"/>
            <a:ext cx="6448306" cy="52530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000000"/>
                </a:solidFill>
                <a:latin typeface="Open Sans" pitchFamily="34" charset="0"/>
                <a:ea typeface="Open Sans" pitchFamily="34" charset="-122"/>
                <a:cs typeface="Open Sans" pitchFamily="34" charset="-120"/>
              </a:rPr>
              <a:t>Cada UFD es una estructura que lista exclusivamente los archivos de un usuario específico.</a:t>
            </a:r>
            <a:endParaRPr lang="en-US" sz="1250" dirty="0"/>
          </a:p>
        </p:txBody>
      </p:sp>
      <p:sp>
        <p:nvSpPr>
          <p:cNvPr id="18" name="Text 14"/>
          <p:cNvSpPr/>
          <p:nvPr/>
        </p:nvSpPr>
        <p:spPr>
          <a:xfrm>
            <a:off x="7569041" y="6168152"/>
            <a:ext cx="6448306" cy="52530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000000"/>
                </a:solidFill>
                <a:latin typeface="Open Sans" pitchFamily="34" charset="0"/>
                <a:ea typeface="Open Sans" pitchFamily="34" charset="-122"/>
                <a:cs typeface="Open Sans" pitchFamily="34" charset="-120"/>
              </a:rPr>
              <a:t>Un Directorio de Archivos Maestro (MFD) actúa como índice, apuntando a cada UFD basándose en el nombre de usuario o número de cuenta.</a:t>
            </a:r>
            <a:endParaRPr lang="en-US" sz="1250" dirty="0"/>
          </a:p>
        </p:txBody>
      </p:sp>
      <p:sp>
        <p:nvSpPr>
          <p:cNvPr id="19" name="Text 15"/>
          <p:cNvSpPr/>
          <p:nvPr/>
        </p:nvSpPr>
        <p:spPr>
          <a:xfrm>
            <a:off x="7569041" y="6750844"/>
            <a:ext cx="6448306" cy="525304"/>
          </a:xfrm>
          <a:prstGeom prst="rect">
            <a:avLst/>
          </a:prstGeom>
          <a:noFill/>
          <a:ln/>
        </p:spPr>
        <p:txBody>
          <a:bodyPr wrap="square" lIns="0" tIns="0" rIns="0" bIns="0" rtlCol="0" anchor="t"/>
          <a:lstStyle/>
          <a:p>
            <a:pPr algn="l" marL="342900" indent="-342900">
              <a:lnSpc>
                <a:spcPts val="2050"/>
              </a:lnSpc>
              <a:buSzPct val="100000"/>
              <a:buChar char="•"/>
            </a:pPr>
            <a:r>
              <a:rPr lang="en-US" sz="1250" dirty="0">
                <a:solidFill>
                  <a:srgbClr val="000000"/>
                </a:solidFill>
                <a:latin typeface="Open Sans" pitchFamily="34" charset="0"/>
                <a:ea typeface="Open Sans" pitchFamily="34" charset="-122"/>
                <a:cs typeface="Open Sans" pitchFamily="34" charset="-120"/>
              </a:rPr>
              <a:t>Este esquema resuelve eficazmente la confusión de nombres al proporcionar un espacio de nombres único y aislado para cada usuario.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1271" y="503873"/>
            <a:ext cx="7816453" cy="572453"/>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Bitter Medium" pitchFamily="34" charset="0"/>
                <a:ea typeface="Bitter Medium" pitchFamily="34" charset="-122"/>
                <a:cs typeface="Bitter Medium" pitchFamily="34" charset="-120"/>
              </a:rPr>
              <a:t>Jerarquías Avanzadas de Directorios</a:t>
            </a:r>
            <a:endParaRPr lang="en-US" sz="3600" dirty="0"/>
          </a:p>
        </p:txBody>
      </p:sp>
      <p:pic>
        <p:nvPicPr>
          <p:cNvPr id="3" name="Image 0" descr="preencoded.png">    </p:cNvPr>
          <p:cNvPicPr>
            <a:picLocks noChangeAspect="1"/>
          </p:cNvPicPr>
          <p:nvPr/>
        </p:nvPicPr>
        <p:blipFill>
          <a:blip r:embed="rId1"/>
          <a:stretch>
            <a:fillRect/>
          </a:stretch>
        </p:blipFill>
        <p:spPr>
          <a:xfrm>
            <a:off x="641271" y="1442680"/>
            <a:ext cx="6559391" cy="4053959"/>
          </a:xfrm>
          <a:prstGeom prst="rect">
            <a:avLst/>
          </a:prstGeom>
        </p:spPr>
      </p:pic>
      <p:sp>
        <p:nvSpPr>
          <p:cNvPr id="4" name="Text 1"/>
          <p:cNvSpPr/>
          <p:nvPr/>
        </p:nvSpPr>
        <p:spPr>
          <a:xfrm>
            <a:off x="641271" y="5679758"/>
            <a:ext cx="4376976" cy="343495"/>
          </a:xfrm>
          <a:prstGeom prst="rect">
            <a:avLst/>
          </a:prstGeom>
          <a:noFill/>
          <a:ln/>
        </p:spPr>
        <p:txBody>
          <a:bodyPr wrap="none" lIns="0" tIns="0" rIns="0" bIns="0" rtlCol="0" anchor="t"/>
          <a:lstStyle/>
          <a:p>
            <a:pPr algn="l" indent="0" marL="0">
              <a:lnSpc>
                <a:spcPts val="2700"/>
              </a:lnSpc>
              <a:buNone/>
            </a:pPr>
            <a:r>
              <a:rPr lang="en-US" sz="2150" dirty="0">
                <a:solidFill>
                  <a:srgbClr val="000000"/>
                </a:solidFill>
                <a:latin typeface="Bitter Medium" pitchFamily="34" charset="0"/>
                <a:ea typeface="Bitter Medium" pitchFamily="34" charset="-122"/>
                <a:cs typeface="Bitter Medium" pitchFamily="34" charset="-120"/>
              </a:rPr>
              <a:t>Directorio con Estructura de Árbol</a:t>
            </a:r>
            <a:endParaRPr lang="en-US" sz="2150" dirty="0"/>
          </a:p>
        </p:txBody>
      </p:sp>
      <p:sp>
        <p:nvSpPr>
          <p:cNvPr id="5" name="Text 2"/>
          <p:cNvSpPr/>
          <p:nvPr/>
        </p:nvSpPr>
        <p:spPr>
          <a:xfrm>
            <a:off x="641271" y="6133148"/>
            <a:ext cx="6559391" cy="1758791"/>
          </a:xfrm>
          <a:prstGeom prst="rect">
            <a:avLst/>
          </a:prstGeom>
          <a:noFill/>
          <a:ln/>
        </p:spPr>
        <p:txBody>
          <a:bodyPr wrap="square" lIns="0" tIns="0" rIns="0" bIns="0" rtlCol="0" anchor="t"/>
          <a:lstStyle/>
          <a:p>
            <a:pPr algn="l" indent="0" marL="0">
              <a:lnSpc>
                <a:spcPts val="2300"/>
              </a:lnSpc>
              <a:buNone/>
            </a:pPr>
            <a:r>
              <a:rPr lang="en-US" sz="1400" dirty="0">
                <a:solidFill>
                  <a:srgbClr val="2B2E3C"/>
                </a:solidFill>
                <a:latin typeface="Open Sans" pitchFamily="34" charset="0"/>
                <a:ea typeface="Open Sans" pitchFamily="34" charset="-122"/>
                <a:cs typeface="Open Sans" pitchFamily="34" charset="-120"/>
              </a:rPr>
              <a:t>Esta estructura es una generalización de los directorios de dos niveles, permitiendo a los usuarios crear sus propios subdirectorios para una organización flexible. Cada archivo tiene un nombre de ruta único que define su ubicación desde el directorio raíz. Un directorio es, en esencia, un archivo especial que contiene referencias a otros archivos o subdirectorios, como se ve en sistemas como MS-DOS.</a:t>
            </a:r>
            <a:endParaRPr lang="en-US" sz="1400" dirty="0"/>
          </a:p>
        </p:txBody>
      </p:sp>
      <p:pic>
        <p:nvPicPr>
          <p:cNvPr id="6" name="Image 1" descr="preencoded.png">    </p:cNvPr>
          <p:cNvPicPr>
            <a:picLocks noChangeAspect="1"/>
          </p:cNvPicPr>
          <p:nvPr/>
        </p:nvPicPr>
        <p:blipFill>
          <a:blip r:embed="rId2"/>
          <a:stretch>
            <a:fillRect/>
          </a:stretch>
        </p:blipFill>
        <p:spPr>
          <a:xfrm>
            <a:off x="7429619" y="1442680"/>
            <a:ext cx="6559510" cy="4054078"/>
          </a:xfrm>
          <a:prstGeom prst="rect">
            <a:avLst/>
          </a:prstGeom>
        </p:spPr>
      </p:pic>
      <p:sp>
        <p:nvSpPr>
          <p:cNvPr id="7" name="Text 3"/>
          <p:cNvSpPr/>
          <p:nvPr/>
        </p:nvSpPr>
        <p:spPr>
          <a:xfrm>
            <a:off x="7429619" y="5679877"/>
            <a:ext cx="3847981" cy="343495"/>
          </a:xfrm>
          <a:prstGeom prst="rect">
            <a:avLst/>
          </a:prstGeom>
          <a:noFill/>
          <a:ln/>
        </p:spPr>
        <p:txBody>
          <a:bodyPr wrap="none" lIns="0" tIns="0" rIns="0" bIns="0" rtlCol="0" anchor="t"/>
          <a:lstStyle/>
          <a:p>
            <a:pPr algn="l" indent="0" marL="0">
              <a:lnSpc>
                <a:spcPts val="2700"/>
              </a:lnSpc>
              <a:buNone/>
            </a:pPr>
            <a:r>
              <a:rPr lang="en-US" sz="2150" dirty="0">
                <a:solidFill>
                  <a:srgbClr val="000000"/>
                </a:solidFill>
                <a:latin typeface="Bitter Medium" pitchFamily="34" charset="0"/>
                <a:ea typeface="Bitter Medium" pitchFamily="34" charset="-122"/>
                <a:cs typeface="Bitter Medium" pitchFamily="34" charset="-120"/>
              </a:rPr>
              <a:t>Directorios de Gráfica Acíclica</a:t>
            </a:r>
            <a:endParaRPr lang="en-US" sz="2150" dirty="0"/>
          </a:p>
        </p:txBody>
      </p:sp>
      <p:sp>
        <p:nvSpPr>
          <p:cNvPr id="8" name="Text 4"/>
          <p:cNvSpPr/>
          <p:nvPr/>
        </p:nvSpPr>
        <p:spPr>
          <a:xfrm>
            <a:off x="7429619" y="6133267"/>
            <a:ext cx="6559510" cy="1758791"/>
          </a:xfrm>
          <a:prstGeom prst="rect">
            <a:avLst/>
          </a:prstGeom>
          <a:noFill/>
          <a:ln/>
        </p:spPr>
        <p:txBody>
          <a:bodyPr wrap="square" lIns="0" tIns="0" rIns="0" bIns="0" rtlCol="0" anchor="t"/>
          <a:lstStyle/>
          <a:p>
            <a:pPr algn="l" indent="0" marL="0">
              <a:lnSpc>
                <a:spcPts val="2300"/>
              </a:lnSpc>
              <a:buNone/>
            </a:pPr>
            <a:r>
              <a:rPr lang="en-US" sz="1400" dirty="0">
                <a:solidFill>
                  <a:srgbClr val="2B2E3C"/>
                </a:solidFill>
                <a:latin typeface="Open Sans" pitchFamily="34" charset="0"/>
                <a:ea typeface="Open Sans" pitchFamily="34" charset="-122"/>
                <a:cs typeface="Open Sans" pitchFamily="34" charset="-120"/>
              </a:rPr>
              <a:t>Una mejora sobre la estructura de árbol que habilita el compartimiento de archivos y subdirectorios. Permite que un mismo archivo o subdirectorio resida lógicamente en varios directorios, sin crear redundancia física. Esta característica es crucial para entornos colaborativos, donde equipos de trabajo pueden acceder a recursos compartidos de manera eficiente sin duplicar datos.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5306" y="428506"/>
            <a:ext cx="10099358" cy="486966"/>
          </a:xfrm>
          <a:prstGeom prst="rect">
            <a:avLst/>
          </a:prstGeom>
          <a:noFill/>
          <a:ln/>
        </p:spPr>
        <p:txBody>
          <a:bodyPr wrap="none" lIns="0" tIns="0" rIns="0" bIns="0" rtlCol="0" anchor="t"/>
          <a:lstStyle/>
          <a:p>
            <a:pPr algn="l" indent="0" marL="0">
              <a:lnSpc>
                <a:spcPts val="3800"/>
              </a:lnSpc>
              <a:buNone/>
            </a:pPr>
            <a:r>
              <a:rPr lang="en-US" sz="3050" dirty="0">
                <a:solidFill>
                  <a:srgbClr val="000000"/>
                </a:solidFill>
                <a:latin typeface="Bitter Medium" pitchFamily="34" charset="0"/>
                <a:ea typeface="Bitter Medium" pitchFamily="34" charset="-122"/>
                <a:cs typeface="Bitter Medium" pitchFamily="34" charset="-120"/>
              </a:rPr>
              <a:t>Administración de Dispositivos de Entrada y Salida (E/S)</a:t>
            </a:r>
            <a:endParaRPr lang="en-US" sz="3050" dirty="0"/>
          </a:p>
        </p:txBody>
      </p:sp>
      <p:sp>
        <p:nvSpPr>
          <p:cNvPr id="3" name="Text 1"/>
          <p:cNvSpPr/>
          <p:nvPr/>
        </p:nvSpPr>
        <p:spPr>
          <a:xfrm>
            <a:off x="545306" y="1227058"/>
            <a:ext cx="13539788" cy="249317"/>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Open Sans" pitchFamily="34" charset="0"/>
                <a:ea typeface="Open Sans" pitchFamily="34" charset="-122"/>
                <a:cs typeface="Open Sans" pitchFamily="34" charset="-120"/>
              </a:rPr>
              <a:t>La gestión de E/S es compleja debido a la amplia heterogeneidad de los dispositivos que maneja, cada uno con características, velocidades y requisitos de control únicos.</a:t>
            </a:r>
            <a:endParaRPr lang="en-US" sz="1200" dirty="0"/>
          </a:p>
        </p:txBody>
      </p:sp>
      <p:pic>
        <p:nvPicPr>
          <p:cNvPr id="4" name="Image 0" descr="preencoded.png">    </p:cNvPr>
          <p:cNvPicPr>
            <a:picLocks noChangeAspect="1"/>
          </p:cNvPicPr>
          <p:nvPr/>
        </p:nvPicPr>
        <p:blipFill>
          <a:blip r:embed="rId1"/>
          <a:stretch>
            <a:fillRect/>
          </a:stretch>
        </p:blipFill>
        <p:spPr>
          <a:xfrm>
            <a:off x="545306" y="1651635"/>
            <a:ext cx="4513183" cy="623292"/>
          </a:xfrm>
          <a:prstGeom prst="rect">
            <a:avLst/>
          </a:prstGeom>
        </p:spPr>
      </p:pic>
      <p:sp>
        <p:nvSpPr>
          <p:cNvPr id="5" name="Text 2"/>
          <p:cNvSpPr/>
          <p:nvPr/>
        </p:nvSpPr>
        <p:spPr>
          <a:xfrm>
            <a:off x="701040" y="2430661"/>
            <a:ext cx="3721537" cy="292060"/>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Dispositivos legibles por humanos</a:t>
            </a:r>
            <a:endParaRPr lang="en-US" sz="1800" dirty="0"/>
          </a:p>
        </p:txBody>
      </p:sp>
      <p:sp>
        <p:nvSpPr>
          <p:cNvPr id="6" name="Text 3"/>
          <p:cNvSpPr/>
          <p:nvPr/>
        </p:nvSpPr>
        <p:spPr>
          <a:xfrm>
            <a:off x="701040" y="2816185"/>
            <a:ext cx="4201716" cy="498634"/>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latin typeface="Open Sans" pitchFamily="34" charset="0"/>
                <a:ea typeface="Open Sans" pitchFamily="34" charset="-122"/>
                <a:cs typeface="Open Sans" pitchFamily="34" charset="-120"/>
              </a:rPr>
              <a:t>Para interacción directa (ej: terminales, teclados, impresoras).</a:t>
            </a:r>
            <a:endParaRPr lang="en-US" sz="1200" dirty="0"/>
          </a:p>
        </p:txBody>
      </p:sp>
      <p:pic>
        <p:nvPicPr>
          <p:cNvPr id="7" name="Image 1" descr="preencoded.png">    </p:cNvPr>
          <p:cNvPicPr>
            <a:picLocks noChangeAspect="1"/>
          </p:cNvPicPr>
          <p:nvPr/>
        </p:nvPicPr>
        <p:blipFill>
          <a:blip r:embed="rId2"/>
          <a:stretch>
            <a:fillRect/>
          </a:stretch>
        </p:blipFill>
        <p:spPr>
          <a:xfrm>
            <a:off x="5058489" y="1651635"/>
            <a:ext cx="4513302" cy="623292"/>
          </a:xfrm>
          <a:prstGeom prst="rect">
            <a:avLst/>
          </a:prstGeom>
        </p:spPr>
      </p:pic>
      <p:sp>
        <p:nvSpPr>
          <p:cNvPr id="8" name="Text 4"/>
          <p:cNvSpPr/>
          <p:nvPr/>
        </p:nvSpPr>
        <p:spPr>
          <a:xfrm>
            <a:off x="5214223" y="2430661"/>
            <a:ext cx="3664982" cy="292060"/>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Dispositivos legibles por máquina</a:t>
            </a:r>
            <a:endParaRPr lang="en-US" sz="1800" dirty="0"/>
          </a:p>
        </p:txBody>
      </p:sp>
      <p:sp>
        <p:nvSpPr>
          <p:cNvPr id="9" name="Text 5"/>
          <p:cNvSpPr/>
          <p:nvPr/>
        </p:nvSpPr>
        <p:spPr>
          <a:xfrm>
            <a:off x="5214223" y="2816185"/>
            <a:ext cx="4201835" cy="498634"/>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latin typeface="Open Sans" pitchFamily="34" charset="0"/>
                <a:ea typeface="Open Sans" pitchFamily="34" charset="-122"/>
                <a:cs typeface="Open Sans" pitchFamily="34" charset="-120"/>
              </a:rPr>
              <a:t>Para almacenamiento y operación del sistema (ej: discos, sensores, controladores).</a:t>
            </a:r>
            <a:endParaRPr lang="en-US" sz="1200" dirty="0"/>
          </a:p>
        </p:txBody>
      </p:sp>
      <p:pic>
        <p:nvPicPr>
          <p:cNvPr id="10" name="Image 2" descr="preencoded.png">    </p:cNvPr>
          <p:cNvPicPr>
            <a:picLocks noChangeAspect="1"/>
          </p:cNvPicPr>
          <p:nvPr/>
        </p:nvPicPr>
        <p:blipFill>
          <a:blip r:embed="rId3"/>
          <a:stretch>
            <a:fillRect/>
          </a:stretch>
        </p:blipFill>
        <p:spPr>
          <a:xfrm>
            <a:off x="9571792" y="1651635"/>
            <a:ext cx="4513302" cy="623292"/>
          </a:xfrm>
          <a:prstGeom prst="rect">
            <a:avLst/>
          </a:prstGeom>
        </p:spPr>
      </p:pic>
      <p:sp>
        <p:nvSpPr>
          <p:cNvPr id="11" name="Text 6"/>
          <p:cNvSpPr/>
          <p:nvPr/>
        </p:nvSpPr>
        <p:spPr>
          <a:xfrm>
            <a:off x="9727525" y="2430661"/>
            <a:ext cx="3478173" cy="292060"/>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Dispositivos de comunicaciones</a:t>
            </a:r>
            <a:endParaRPr lang="en-US" sz="1800" dirty="0"/>
          </a:p>
        </p:txBody>
      </p:sp>
      <p:sp>
        <p:nvSpPr>
          <p:cNvPr id="12" name="Text 7"/>
          <p:cNvSpPr/>
          <p:nvPr/>
        </p:nvSpPr>
        <p:spPr>
          <a:xfrm>
            <a:off x="9727525" y="2816185"/>
            <a:ext cx="4201835" cy="498634"/>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latin typeface="Open Sans" pitchFamily="34" charset="0"/>
                <a:ea typeface="Open Sans" pitchFamily="34" charset="-122"/>
                <a:cs typeface="Open Sans" pitchFamily="34" charset="-120"/>
              </a:rPr>
              <a:t>Facilitan la transferencia de datos entre sistemas (ej: adaptadores, módems).</a:t>
            </a:r>
            <a:endParaRPr lang="en-US" sz="1200" dirty="0"/>
          </a:p>
        </p:txBody>
      </p:sp>
      <p:sp>
        <p:nvSpPr>
          <p:cNvPr id="13" name="Text 8"/>
          <p:cNvSpPr/>
          <p:nvPr/>
        </p:nvSpPr>
        <p:spPr>
          <a:xfrm>
            <a:off x="545306" y="3704273"/>
            <a:ext cx="5018127" cy="389573"/>
          </a:xfrm>
          <a:prstGeom prst="rect">
            <a:avLst/>
          </a:prstGeom>
          <a:noFill/>
          <a:ln/>
        </p:spPr>
        <p:txBody>
          <a:bodyPr wrap="none" lIns="0" tIns="0" rIns="0" bIns="0" rtlCol="0" anchor="t"/>
          <a:lstStyle/>
          <a:p>
            <a:pPr algn="l" indent="0" marL="0">
              <a:lnSpc>
                <a:spcPts val="3050"/>
              </a:lnSpc>
              <a:buNone/>
            </a:pPr>
            <a:r>
              <a:rPr lang="en-US" sz="2450" b="1" dirty="0">
                <a:solidFill>
                  <a:srgbClr val="000000"/>
                </a:solidFill>
                <a:latin typeface="Bitter Medium" pitchFamily="34" charset="0"/>
                <a:ea typeface="Bitter Medium" pitchFamily="34" charset="-122"/>
                <a:cs typeface="Bitter Medium" pitchFamily="34" charset="-120"/>
              </a:rPr>
              <a:t>Factores Clave en la Gestión de E/S</a:t>
            </a:r>
            <a:endParaRPr lang="en-US" sz="2450" dirty="0"/>
          </a:p>
        </p:txBody>
      </p:sp>
      <p:sp>
        <p:nvSpPr>
          <p:cNvPr id="14" name="Text 9"/>
          <p:cNvSpPr/>
          <p:nvPr/>
        </p:nvSpPr>
        <p:spPr>
          <a:xfrm>
            <a:off x="545306" y="4327565"/>
            <a:ext cx="13539788" cy="249317"/>
          </a:xfrm>
          <a:prstGeom prst="rect">
            <a:avLst/>
          </a:prstGeom>
          <a:noFill/>
          <a:ln/>
        </p:spPr>
        <p:txBody>
          <a:bodyPr wrap="none" lIns="0" tIns="0" rIns="0" bIns="0" rtlCol="0" anchor="t"/>
          <a:lstStyle/>
          <a:p>
            <a:pPr algn="l" indent="0" marL="0">
              <a:lnSpc>
                <a:spcPts val="1950"/>
              </a:lnSpc>
              <a:buNone/>
            </a:pPr>
            <a:r>
              <a:rPr lang="en-US" sz="1200" dirty="0">
                <a:solidFill>
                  <a:srgbClr val="2B2E3C"/>
                </a:solidFill>
                <a:latin typeface="Open Sans" pitchFamily="34" charset="0"/>
                <a:ea typeface="Open Sans" pitchFamily="34" charset="-122"/>
                <a:cs typeface="Open Sans" pitchFamily="34" charset="-120"/>
              </a:rPr>
              <a:t>El sistema operativo debe considerar diversas métricas esenciales para controlar y optimizar el manejo de E/S:</a:t>
            </a:r>
            <a:endParaRPr lang="en-US" sz="1200" dirty="0"/>
          </a:p>
        </p:txBody>
      </p:sp>
      <p:sp>
        <p:nvSpPr>
          <p:cNvPr id="15" name="Shape 10"/>
          <p:cNvSpPr/>
          <p:nvPr/>
        </p:nvSpPr>
        <p:spPr>
          <a:xfrm>
            <a:off x="545306" y="4752142"/>
            <a:ext cx="6692027" cy="912971"/>
          </a:xfrm>
          <a:prstGeom prst="roundRect">
            <a:avLst>
              <a:gd name="adj" fmla="val 7169"/>
            </a:avLst>
          </a:prstGeom>
          <a:solidFill>
            <a:srgbClr val="D2600F"/>
          </a:solidFill>
          <a:ln w="7620">
            <a:solidFill>
              <a:srgbClr val="EB7928"/>
            </a:solidFill>
            <a:prstDash val="solid"/>
          </a:ln>
        </p:spPr>
      </p:sp>
      <p:sp>
        <p:nvSpPr>
          <p:cNvPr id="16" name="Text 11"/>
          <p:cNvSpPr/>
          <p:nvPr/>
        </p:nvSpPr>
        <p:spPr>
          <a:xfrm>
            <a:off x="708660" y="4915495"/>
            <a:ext cx="1947743"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Velocidades de Datos</a:t>
            </a:r>
            <a:endParaRPr lang="en-US" sz="1500" dirty="0"/>
          </a:p>
        </p:txBody>
      </p:sp>
      <p:sp>
        <p:nvSpPr>
          <p:cNvPr id="17" name="Text 12"/>
          <p:cNvSpPr/>
          <p:nvPr/>
        </p:nvSpPr>
        <p:spPr>
          <a:xfrm>
            <a:off x="708660" y="5252442"/>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Varían drásticamente (lento vs. rápido).</a:t>
            </a:r>
            <a:endParaRPr lang="en-US" sz="1200" dirty="0"/>
          </a:p>
        </p:txBody>
      </p:sp>
      <p:sp>
        <p:nvSpPr>
          <p:cNvPr id="18" name="Shape 13"/>
          <p:cNvSpPr/>
          <p:nvPr/>
        </p:nvSpPr>
        <p:spPr>
          <a:xfrm>
            <a:off x="7393067" y="4752142"/>
            <a:ext cx="6692027" cy="912971"/>
          </a:xfrm>
          <a:prstGeom prst="roundRect">
            <a:avLst>
              <a:gd name="adj" fmla="val 7169"/>
            </a:avLst>
          </a:prstGeom>
          <a:solidFill>
            <a:srgbClr val="D2600F"/>
          </a:solidFill>
          <a:ln w="7620">
            <a:solidFill>
              <a:srgbClr val="EB7928"/>
            </a:solidFill>
            <a:prstDash val="solid"/>
          </a:ln>
        </p:spPr>
      </p:sp>
      <p:sp>
        <p:nvSpPr>
          <p:cNvPr id="19" name="Text 14"/>
          <p:cNvSpPr/>
          <p:nvPr/>
        </p:nvSpPr>
        <p:spPr>
          <a:xfrm>
            <a:off x="7556421" y="4915495"/>
            <a:ext cx="1947743"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Aplicaciones</a:t>
            </a:r>
            <a:endParaRPr lang="en-US" sz="1500" dirty="0"/>
          </a:p>
        </p:txBody>
      </p:sp>
      <p:sp>
        <p:nvSpPr>
          <p:cNvPr id="20" name="Text 15"/>
          <p:cNvSpPr/>
          <p:nvPr/>
        </p:nvSpPr>
        <p:spPr>
          <a:xfrm>
            <a:off x="7556421" y="5252442"/>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Propósito principal (almacenamiento, interacción, red).</a:t>
            </a:r>
            <a:endParaRPr lang="en-US" sz="1200" dirty="0"/>
          </a:p>
        </p:txBody>
      </p:sp>
      <p:sp>
        <p:nvSpPr>
          <p:cNvPr id="21" name="Shape 16"/>
          <p:cNvSpPr/>
          <p:nvPr/>
        </p:nvSpPr>
        <p:spPr>
          <a:xfrm>
            <a:off x="545306" y="5820847"/>
            <a:ext cx="6692027" cy="912971"/>
          </a:xfrm>
          <a:prstGeom prst="roundRect">
            <a:avLst>
              <a:gd name="adj" fmla="val 7169"/>
            </a:avLst>
          </a:prstGeom>
          <a:solidFill>
            <a:srgbClr val="D2600F"/>
          </a:solidFill>
          <a:ln w="7620">
            <a:solidFill>
              <a:srgbClr val="EB7928"/>
            </a:solidFill>
            <a:prstDash val="solid"/>
          </a:ln>
        </p:spPr>
      </p:sp>
      <p:sp>
        <p:nvSpPr>
          <p:cNvPr id="22" name="Text 17"/>
          <p:cNvSpPr/>
          <p:nvPr/>
        </p:nvSpPr>
        <p:spPr>
          <a:xfrm>
            <a:off x="708660" y="5984200"/>
            <a:ext cx="2126218"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Complejidad de Control</a:t>
            </a:r>
            <a:endParaRPr lang="en-US" sz="1500" dirty="0"/>
          </a:p>
        </p:txBody>
      </p:sp>
      <p:sp>
        <p:nvSpPr>
          <p:cNvPr id="23" name="Text 18"/>
          <p:cNvSpPr/>
          <p:nvPr/>
        </p:nvSpPr>
        <p:spPr>
          <a:xfrm>
            <a:off x="708660" y="6321147"/>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Lógica simple o sofisticada requerida.</a:t>
            </a:r>
            <a:endParaRPr lang="en-US" sz="1200" dirty="0"/>
          </a:p>
        </p:txBody>
      </p:sp>
      <p:sp>
        <p:nvSpPr>
          <p:cNvPr id="24" name="Shape 19"/>
          <p:cNvSpPr/>
          <p:nvPr/>
        </p:nvSpPr>
        <p:spPr>
          <a:xfrm>
            <a:off x="7393067" y="5820847"/>
            <a:ext cx="6692027" cy="912971"/>
          </a:xfrm>
          <a:prstGeom prst="roundRect">
            <a:avLst>
              <a:gd name="adj" fmla="val 7169"/>
            </a:avLst>
          </a:prstGeom>
          <a:solidFill>
            <a:srgbClr val="D2600F"/>
          </a:solidFill>
          <a:ln w="7620">
            <a:solidFill>
              <a:srgbClr val="EB7928"/>
            </a:solidFill>
            <a:prstDash val="solid"/>
          </a:ln>
        </p:spPr>
      </p:sp>
      <p:sp>
        <p:nvSpPr>
          <p:cNvPr id="25" name="Text 20"/>
          <p:cNvSpPr/>
          <p:nvPr/>
        </p:nvSpPr>
        <p:spPr>
          <a:xfrm>
            <a:off x="7556421" y="5984200"/>
            <a:ext cx="2232660"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Unidad de Transferencia</a:t>
            </a:r>
            <a:endParaRPr lang="en-US" sz="1500" dirty="0"/>
          </a:p>
        </p:txBody>
      </p:sp>
      <p:sp>
        <p:nvSpPr>
          <p:cNvPr id="26" name="Text 21"/>
          <p:cNvSpPr/>
          <p:nvPr/>
        </p:nvSpPr>
        <p:spPr>
          <a:xfrm>
            <a:off x="7556421" y="6321147"/>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Carácter, bloque, o flujo continuo.</a:t>
            </a:r>
            <a:endParaRPr lang="en-US" sz="1200" dirty="0"/>
          </a:p>
        </p:txBody>
      </p:sp>
      <p:sp>
        <p:nvSpPr>
          <p:cNvPr id="27" name="Shape 22"/>
          <p:cNvSpPr/>
          <p:nvPr/>
        </p:nvSpPr>
        <p:spPr>
          <a:xfrm>
            <a:off x="545306" y="6889552"/>
            <a:ext cx="6692027" cy="912971"/>
          </a:xfrm>
          <a:prstGeom prst="roundRect">
            <a:avLst>
              <a:gd name="adj" fmla="val 7169"/>
            </a:avLst>
          </a:prstGeom>
          <a:solidFill>
            <a:srgbClr val="D2600F"/>
          </a:solidFill>
          <a:ln w="7620">
            <a:solidFill>
              <a:srgbClr val="EB7928"/>
            </a:solidFill>
            <a:prstDash val="solid"/>
          </a:ln>
        </p:spPr>
      </p:sp>
      <p:sp>
        <p:nvSpPr>
          <p:cNvPr id="28" name="Text 23"/>
          <p:cNvSpPr/>
          <p:nvPr/>
        </p:nvSpPr>
        <p:spPr>
          <a:xfrm>
            <a:off x="708660" y="7052905"/>
            <a:ext cx="2248495"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Representación de Datos</a:t>
            </a:r>
            <a:endParaRPr lang="en-US" sz="1500" dirty="0"/>
          </a:p>
        </p:txBody>
      </p:sp>
      <p:sp>
        <p:nvSpPr>
          <p:cNvPr id="29" name="Text 24"/>
          <p:cNvSpPr/>
          <p:nvPr/>
        </p:nvSpPr>
        <p:spPr>
          <a:xfrm>
            <a:off x="708660" y="7389852"/>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Formato y codificación de la información.</a:t>
            </a:r>
            <a:endParaRPr lang="en-US" sz="1200" dirty="0"/>
          </a:p>
        </p:txBody>
      </p:sp>
      <p:sp>
        <p:nvSpPr>
          <p:cNvPr id="30" name="Shape 25"/>
          <p:cNvSpPr/>
          <p:nvPr/>
        </p:nvSpPr>
        <p:spPr>
          <a:xfrm>
            <a:off x="7393067" y="6889552"/>
            <a:ext cx="6692027" cy="912971"/>
          </a:xfrm>
          <a:prstGeom prst="roundRect">
            <a:avLst>
              <a:gd name="adj" fmla="val 7169"/>
            </a:avLst>
          </a:prstGeom>
          <a:solidFill>
            <a:srgbClr val="D2600F"/>
          </a:solidFill>
          <a:ln w="7620">
            <a:solidFill>
              <a:srgbClr val="EB7928"/>
            </a:solidFill>
            <a:prstDash val="solid"/>
          </a:ln>
        </p:spPr>
      </p:sp>
      <p:sp>
        <p:nvSpPr>
          <p:cNvPr id="31" name="Text 26"/>
          <p:cNvSpPr/>
          <p:nvPr/>
        </p:nvSpPr>
        <p:spPr>
          <a:xfrm>
            <a:off x="7556421" y="7052905"/>
            <a:ext cx="1947743" cy="243483"/>
          </a:xfrm>
          <a:prstGeom prst="rect">
            <a:avLst/>
          </a:prstGeom>
          <a:noFill/>
          <a:ln/>
        </p:spPr>
        <p:txBody>
          <a:bodyPr wrap="none" lIns="0" tIns="0" rIns="0" bIns="0" rtlCol="0" anchor="t"/>
          <a:lstStyle/>
          <a:p>
            <a:pPr algn="l" indent="0" marL="0">
              <a:lnSpc>
                <a:spcPts val="1900"/>
              </a:lnSpc>
              <a:buNone/>
            </a:pPr>
            <a:r>
              <a:rPr lang="en-US" sz="1500" dirty="0">
                <a:solidFill>
                  <a:srgbClr val="FFFFFF"/>
                </a:solidFill>
                <a:latin typeface="Bitter Medium" pitchFamily="34" charset="0"/>
                <a:ea typeface="Bitter Medium" pitchFamily="34" charset="-122"/>
                <a:cs typeface="Bitter Medium" pitchFamily="34" charset="-120"/>
              </a:rPr>
              <a:t>Condiciones de Error</a:t>
            </a:r>
            <a:endParaRPr lang="en-US" sz="1500" dirty="0"/>
          </a:p>
        </p:txBody>
      </p:sp>
      <p:sp>
        <p:nvSpPr>
          <p:cNvPr id="32" name="Text 27"/>
          <p:cNvSpPr/>
          <p:nvPr/>
        </p:nvSpPr>
        <p:spPr>
          <a:xfrm>
            <a:off x="7556421" y="7389852"/>
            <a:ext cx="6365319" cy="249317"/>
          </a:xfrm>
          <a:prstGeom prst="rect">
            <a:avLst/>
          </a:prstGeom>
          <a:noFill/>
          <a:ln/>
        </p:spPr>
        <p:txBody>
          <a:bodyPr wrap="none" lIns="0" tIns="0" rIns="0" bIns="0" rtlCol="0" anchor="t"/>
          <a:lstStyle/>
          <a:p>
            <a:pPr algn="l" indent="0" marL="0">
              <a:lnSpc>
                <a:spcPts val="1950"/>
              </a:lnSpc>
              <a:buNone/>
            </a:pPr>
            <a:r>
              <a:rPr lang="en-US" sz="1200" dirty="0">
                <a:solidFill>
                  <a:srgbClr val="FFFFFF"/>
                </a:solidFill>
                <a:latin typeface="Open Sans" pitchFamily="34" charset="0"/>
                <a:ea typeface="Open Sans" pitchFamily="34" charset="-122"/>
                <a:cs typeface="Open Sans" pitchFamily="34" charset="-120"/>
              </a:rPr>
              <a:t>Tipo y manejo de fallos.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54023" y="763072"/>
            <a:ext cx="7987903" cy="673298"/>
          </a:xfrm>
          <a:prstGeom prst="rect">
            <a:avLst/>
          </a:prstGeom>
          <a:noFill/>
          <a:ln/>
        </p:spPr>
        <p:txBody>
          <a:bodyPr wrap="none" lIns="0" tIns="0" rIns="0" bIns="0" rtlCol="0" anchor="t"/>
          <a:lstStyle/>
          <a:p>
            <a:pPr algn="l" indent="0" marL="0">
              <a:lnSpc>
                <a:spcPts val="5300"/>
              </a:lnSpc>
              <a:buNone/>
            </a:pPr>
            <a:r>
              <a:rPr lang="en-US" sz="4200" dirty="0">
                <a:solidFill>
                  <a:srgbClr val="000000"/>
                </a:solidFill>
                <a:latin typeface="Bitter Medium" pitchFamily="34" charset="0"/>
                <a:ea typeface="Bitter Medium" pitchFamily="34" charset="-122"/>
                <a:cs typeface="Bitter Medium" pitchFamily="34" charset="-120"/>
              </a:rPr>
              <a:t>Copias de seguridad de archivos</a:t>
            </a:r>
            <a:endParaRPr lang="en-US" sz="4200" dirty="0"/>
          </a:p>
        </p:txBody>
      </p:sp>
      <p:sp>
        <p:nvSpPr>
          <p:cNvPr id="3" name="Text 1"/>
          <p:cNvSpPr/>
          <p:nvPr/>
        </p:nvSpPr>
        <p:spPr>
          <a:xfrm>
            <a:off x="754023" y="1867257"/>
            <a:ext cx="13122354" cy="344805"/>
          </a:xfrm>
          <a:prstGeom prst="rect">
            <a:avLst/>
          </a:prstGeom>
          <a:noFill/>
          <a:ln/>
        </p:spPr>
        <p:txBody>
          <a:bodyPr wrap="non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Evitan pérdida de datos por fallas del sistema y se guardan en otros dispositivos (disco, cinta, USB, etc.).</a:t>
            </a:r>
            <a:endParaRPr lang="en-US" sz="1650" dirty="0"/>
          </a:p>
        </p:txBody>
      </p:sp>
      <p:sp>
        <p:nvSpPr>
          <p:cNvPr id="4" name="Shape 2"/>
          <p:cNvSpPr/>
          <p:nvPr/>
        </p:nvSpPr>
        <p:spPr>
          <a:xfrm>
            <a:off x="754023" y="2454354"/>
            <a:ext cx="4230529" cy="1991916"/>
          </a:xfrm>
          <a:prstGeom prst="roundRect">
            <a:avLst>
              <a:gd name="adj" fmla="val 4543"/>
            </a:avLst>
          </a:prstGeom>
          <a:solidFill>
            <a:srgbClr val="FFF8F0"/>
          </a:solidFill>
          <a:ln w="30480">
            <a:solidFill>
              <a:srgbClr val="FF9900"/>
            </a:solidFill>
            <a:prstDash val="solid"/>
          </a:ln>
        </p:spPr>
      </p:sp>
      <p:sp>
        <p:nvSpPr>
          <p:cNvPr id="5" name="Text 3"/>
          <p:cNvSpPr/>
          <p:nvPr/>
        </p:nvSpPr>
        <p:spPr>
          <a:xfrm>
            <a:off x="999887" y="2700218"/>
            <a:ext cx="2693194" cy="336590"/>
          </a:xfrm>
          <a:prstGeom prst="rect">
            <a:avLst/>
          </a:prstGeom>
          <a:noFill/>
          <a:ln/>
        </p:spPr>
        <p:txBody>
          <a:bodyPr wrap="none" lIns="0" tIns="0" rIns="0" bIns="0" rtlCol="0" anchor="t"/>
          <a:lstStyle/>
          <a:p>
            <a:pPr algn="l" indent="0" marL="0">
              <a:lnSpc>
                <a:spcPts val="2650"/>
              </a:lnSpc>
              <a:buNone/>
            </a:pPr>
            <a:r>
              <a:rPr lang="en-US" sz="2100" dirty="0">
                <a:solidFill>
                  <a:srgbClr val="000000"/>
                </a:solidFill>
                <a:latin typeface="Bitter Medium" pitchFamily="34" charset="0"/>
                <a:ea typeface="Bitter Medium" pitchFamily="34" charset="-122"/>
                <a:cs typeface="Bitter Medium" pitchFamily="34" charset="-120"/>
              </a:rPr>
              <a:t>Normal</a:t>
            </a:r>
            <a:endParaRPr lang="en-US" sz="2100" dirty="0"/>
          </a:p>
        </p:txBody>
      </p:sp>
      <p:sp>
        <p:nvSpPr>
          <p:cNvPr id="6" name="Text 4"/>
          <p:cNvSpPr/>
          <p:nvPr/>
        </p:nvSpPr>
        <p:spPr>
          <a:xfrm>
            <a:off x="999887" y="3165991"/>
            <a:ext cx="3738801" cy="103441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Copia todos los archivos seleccionados, independientemente de si han cambiado.</a:t>
            </a:r>
            <a:endParaRPr lang="en-US" sz="1650" dirty="0"/>
          </a:p>
        </p:txBody>
      </p:sp>
      <p:sp>
        <p:nvSpPr>
          <p:cNvPr id="7" name="Shape 5"/>
          <p:cNvSpPr/>
          <p:nvPr/>
        </p:nvSpPr>
        <p:spPr>
          <a:xfrm>
            <a:off x="5199936" y="2454354"/>
            <a:ext cx="4230529" cy="1991916"/>
          </a:xfrm>
          <a:prstGeom prst="roundRect">
            <a:avLst>
              <a:gd name="adj" fmla="val 4543"/>
            </a:avLst>
          </a:prstGeom>
          <a:solidFill>
            <a:srgbClr val="FFF8F0"/>
          </a:solidFill>
          <a:ln w="30480">
            <a:solidFill>
              <a:srgbClr val="FF9900"/>
            </a:solidFill>
            <a:prstDash val="solid"/>
          </a:ln>
        </p:spPr>
      </p:sp>
      <p:sp>
        <p:nvSpPr>
          <p:cNvPr id="8" name="Text 6"/>
          <p:cNvSpPr/>
          <p:nvPr/>
        </p:nvSpPr>
        <p:spPr>
          <a:xfrm>
            <a:off x="5445800" y="2700218"/>
            <a:ext cx="2693194" cy="336590"/>
          </a:xfrm>
          <a:prstGeom prst="rect">
            <a:avLst/>
          </a:prstGeom>
          <a:noFill/>
          <a:ln/>
        </p:spPr>
        <p:txBody>
          <a:bodyPr wrap="none" lIns="0" tIns="0" rIns="0" bIns="0" rtlCol="0" anchor="t"/>
          <a:lstStyle/>
          <a:p>
            <a:pPr algn="l" indent="0" marL="0">
              <a:lnSpc>
                <a:spcPts val="2650"/>
              </a:lnSpc>
              <a:buNone/>
            </a:pPr>
            <a:r>
              <a:rPr lang="en-US" sz="2100" dirty="0">
                <a:solidFill>
                  <a:srgbClr val="000000"/>
                </a:solidFill>
                <a:latin typeface="Bitter Medium" pitchFamily="34" charset="0"/>
                <a:ea typeface="Bitter Medium" pitchFamily="34" charset="-122"/>
                <a:cs typeface="Bitter Medium" pitchFamily="34" charset="-120"/>
              </a:rPr>
              <a:t>Copia</a:t>
            </a:r>
            <a:endParaRPr lang="en-US" sz="2100" dirty="0"/>
          </a:p>
        </p:txBody>
      </p:sp>
      <p:sp>
        <p:nvSpPr>
          <p:cNvPr id="9" name="Text 7"/>
          <p:cNvSpPr/>
          <p:nvPr/>
        </p:nvSpPr>
        <p:spPr>
          <a:xfrm>
            <a:off x="5445800" y="3165991"/>
            <a:ext cx="3738801" cy="103441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Copia todos los archivos, pero no borra el marcador de archivo (no cambia el atributo de archivo).</a:t>
            </a:r>
            <a:endParaRPr lang="en-US" sz="1650" dirty="0"/>
          </a:p>
        </p:txBody>
      </p:sp>
      <p:sp>
        <p:nvSpPr>
          <p:cNvPr id="10" name="Shape 8"/>
          <p:cNvSpPr/>
          <p:nvPr/>
        </p:nvSpPr>
        <p:spPr>
          <a:xfrm>
            <a:off x="9645848" y="2454354"/>
            <a:ext cx="4230529" cy="1991916"/>
          </a:xfrm>
          <a:prstGeom prst="roundRect">
            <a:avLst>
              <a:gd name="adj" fmla="val 4543"/>
            </a:avLst>
          </a:prstGeom>
          <a:solidFill>
            <a:srgbClr val="FFF8F0"/>
          </a:solidFill>
          <a:ln w="30480">
            <a:solidFill>
              <a:srgbClr val="FF9900"/>
            </a:solidFill>
            <a:prstDash val="solid"/>
          </a:ln>
        </p:spPr>
      </p:sp>
      <p:sp>
        <p:nvSpPr>
          <p:cNvPr id="11" name="Text 9"/>
          <p:cNvSpPr/>
          <p:nvPr/>
        </p:nvSpPr>
        <p:spPr>
          <a:xfrm>
            <a:off x="9891712" y="2700218"/>
            <a:ext cx="2693194" cy="336590"/>
          </a:xfrm>
          <a:prstGeom prst="rect">
            <a:avLst/>
          </a:prstGeom>
          <a:noFill/>
          <a:ln/>
        </p:spPr>
        <p:txBody>
          <a:bodyPr wrap="none" lIns="0" tIns="0" rIns="0" bIns="0" rtlCol="0" anchor="t"/>
          <a:lstStyle/>
          <a:p>
            <a:pPr algn="l" indent="0" marL="0">
              <a:lnSpc>
                <a:spcPts val="2650"/>
              </a:lnSpc>
              <a:buNone/>
            </a:pPr>
            <a:r>
              <a:rPr lang="en-US" sz="2100" dirty="0">
                <a:solidFill>
                  <a:srgbClr val="000000"/>
                </a:solidFill>
                <a:latin typeface="Bitter Medium" pitchFamily="34" charset="0"/>
                <a:ea typeface="Bitter Medium" pitchFamily="34" charset="-122"/>
                <a:cs typeface="Bitter Medium" pitchFamily="34" charset="-120"/>
              </a:rPr>
              <a:t>Diferencial</a:t>
            </a:r>
            <a:endParaRPr lang="en-US" sz="2100" dirty="0"/>
          </a:p>
        </p:txBody>
      </p:sp>
      <p:sp>
        <p:nvSpPr>
          <p:cNvPr id="12" name="Text 10"/>
          <p:cNvSpPr/>
          <p:nvPr/>
        </p:nvSpPr>
        <p:spPr>
          <a:xfrm>
            <a:off x="9891712" y="3165991"/>
            <a:ext cx="3738801" cy="1034415"/>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Copia solo los cambios realizados desde la última copia de seguridad completa.</a:t>
            </a:r>
            <a:endParaRPr lang="en-US" sz="1650" dirty="0"/>
          </a:p>
        </p:txBody>
      </p:sp>
      <p:sp>
        <p:nvSpPr>
          <p:cNvPr id="13" name="Shape 11"/>
          <p:cNvSpPr/>
          <p:nvPr/>
        </p:nvSpPr>
        <p:spPr>
          <a:xfrm>
            <a:off x="754023" y="4661654"/>
            <a:ext cx="6453426" cy="1647111"/>
          </a:xfrm>
          <a:prstGeom prst="roundRect">
            <a:avLst>
              <a:gd name="adj" fmla="val 5494"/>
            </a:avLst>
          </a:prstGeom>
          <a:solidFill>
            <a:srgbClr val="FFF8F0"/>
          </a:solidFill>
          <a:ln w="30480">
            <a:solidFill>
              <a:srgbClr val="FF9900"/>
            </a:solidFill>
            <a:prstDash val="solid"/>
          </a:ln>
        </p:spPr>
      </p:sp>
      <p:sp>
        <p:nvSpPr>
          <p:cNvPr id="14" name="Text 12"/>
          <p:cNvSpPr/>
          <p:nvPr/>
        </p:nvSpPr>
        <p:spPr>
          <a:xfrm>
            <a:off x="999887" y="4907518"/>
            <a:ext cx="2693194" cy="336590"/>
          </a:xfrm>
          <a:prstGeom prst="rect">
            <a:avLst/>
          </a:prstGeom>
          <a:noFill/>
          <a:ln/>
        </p:spPr>
        <p:txBody>
          <a:bodyPr wrap="none" lIns="0" tIns="0" rIns="0" bIns="0" rtlCol="0" anchor="t"/>
          <a:lstStyle/>
          <a:p>
            <a:pPr algn="l" indent="0" marL="0">
              <a:lnSpc>
                <a:spcPts val="2650"/>
              </a:lnSpc>
              <a:buNone/>
            </a:pPr>
            <a:r>
              <a:rPr lang="en-US" sz="2100" dirty="0">
                <a:solidFill>
                  <a:srgbClr val="000000"/>
                </a:solidFill>
                <a:latin typeface="Bitter Medium" pitchFamily="34" charset="0"/>
                <a:ea typeface="Bitter Medium" pitchFamily="34" charset="-122"/>
                <a:cs typeface="Bitter Medium" pitchFamily="34" charset="-120"/>
              </a:rPr>
              <a:t>Incremental</a:t>
            </a:r>
            <a:endParaRPr lang="en-US" sz="2100" dirty="0"/>
          </a:p>
        </p:txBody>
      </p:sp>
      <p:sp>
        <p:nvSpPr>
          <p:cNvPr id="15" name="Text 13"/>
          <p:cNvSpPr/>
          <p:nvPr/>
        </p:nvSpPr>
        <p:spPr>
          <a:xfrm>
            <a:off x="999887" y="5373291"/>
            <a:ext cx="5961698" cy="68961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Copia solo los cambios realizados desde el último respaldo (de cualquier tipo).</a:t>
            </a:r>
            <a:endParaRPr lang="en-US" sz="1650" dirty="0"/>
          </a:p>
        </p:txBody>
      </p:sp>
      <p:sp>
        <p:nvSpPr>
          <p:cNvPr id="16" name="Shape 14"/>
          <p:cNvSpPr/>
          <p:nvPr/>
        </p:nvSpPr>
        <p:spPr>
          <a:xfrm>
            <a:off x="7422833" y="4661654"/>
            <a:ext cx="6453545" cy="1647111"/>
          </a:xfrm>
          <a:prstGeom prst="roundRect">
            <a:avLst>
              <a:gd name="adj" fmla="val 5494"/>
            </a:avLst>
          </a:prstGeom>
          <a:solidFill>
            <a:srgbClr val="FFF8F0"/>
          </a:solidFill>
          <a:ln w="30480">
            <a:solidFill>
              <a:srgbClr val="FF9900"/>
            </a:solidFill>
            <a:prstDash val="solid"/>
          </a:ln>
        </p:spPr>
      </p:sp>
      <p:sp>
        <p:nvSpPr>
          <p:cNvPr id="17" name="Text 15"/>
          <p:cNvSpPr/>
          <p:nvPr/>
        </p:nvSpPr>
        <p:spPr>
          <a:xfrm>
            <a:off x="7668697" y="4907518"/>
            <a:ext cx="2693194" cy="336590"/>
          </a:xfrm>
          <a:prstGeom prst="rect">
            <a:avLst/>
          </a:prstGeom>
          <a:noFill/>
          <a:ln/>
        </p:spPr>
        <p:txBody>
          <a:bodyPr wrap="none" lIns="0" tIns="0" rIns="0" bIns="0" rtlCol="0" anchor="t"/>
          <a:lstStyle/>
          <a:p>
            <a:pPr algn="l" indent="0" marL="0">
              <a:lnSpc>
                <a:spcPts val="2650"/>
              </a:lnSpc>
              <a:buNone/>
            </a:pPr>
            <a:r>
              <a:rPr lang="en-US" sz="2100" dirty="0">
                <a:solidFill>
                  <a:srgbClr val="000000"/>
                </a:solidFill>
                <a:latin typeface="Bitter Medium" pitchFamily="34" charset="0"/>
                <a:ea typeface="Bitter Medium" pitchFamily="34" charset="-122"/>
                <a:cs typeface="Bitter Medium" pitchFamily="34" charset="-120"/>
              </a:rPr>
              <a:t>Diaria</a:t>
            </a:r>
            <a:endParaRPr lang="en-US" sz="2100" dirty="0"/>
          </a:p>
        </p:txBody>
      </p:sp>
      <p:sp>
        <p:nvSpPr>
          <p:cNvPr id="18" name="Text 16"/>
          <p:cNvSpPr/>
          <p:nvPr/>
        </p:nvSpPr>
        <p:spPr>
          <a:xfrm>
            <a:off x="7668697" y="5373291"/>
            <a:ext cx="5961817" cy="689610"/>
          </a:xfrm>
          <a:prstGeom prst="rect">
            <a:avLst/>
          </a:prstGeom>
          <a:noFill/>
          <a:ln/>
        </p:spPr>
        <p:txBody>
          <a:bodyPr wrap="square" lIns="0" tIns="0" rIns="0" bIns="0" rtlCol="0" anchor="t"/>
          <a:lstStyle/>
          <a:p>
            <a:pPr algn="l" indent="0" marL="0">
              <a:lnSpc>
                <a:spcPts val="2700"/>
              </a:lnSpc>
              <a:buNone/>
            </a:pPr>
            <a:r>
              <a:rPr lang="en-US" sz="1650" dirty="0">
                <a:solidFill>
                  <a:srgbClr val="000000"/>
                </a:solidFill>
                <a:latin typeface="Open Sans" pitchFamily="34" charset="0"/>
                <a:ea typeface="Open Sans" pitchFamily="34" charset="-122"/>
                <a:cs typeface="Open Sans" pitchFamily="34" charset="-120"/>
              </a:rPr>
              <a:t>Copia únicamente los archivos modificados durante el día en que se realiza la copia.</a:t>
            </a:r>
            <a:endParaRPr lang="en-US" sz="1650" dirty="0"/>
          </a:p>
        </p:txBody>
      </p:sp>
      <p:sp>
        <p:nvSpPr>
          <p:cNvPr id="19" name="Shape 17"/>
          <p:cNvSpPr/>
          <p:nvPr/>
        </p:nvSpPr>
        <p:spPr>
          <a:xfrm>
            <a:off x="754023" y="6551057"/>
            <a:ext cx="13122354" cy="915472"/>
          </a:xfrm>
          <a:prstGeom prst="roundRect">
            <a:avLst>
              <a:gd name="adj" fmla="val 9885"/>
            </a:avLst>
          </a:prstGeom>
          <a:solidFill>
            <a:srgbClr val="D2600F"/>
          </a:solidFill>
          <a:ln/>
        </p:spPr>
      </p:sp>
      <p:pic>
        <p:nvPicPr>
          <p:cNvPr id="20" name="Image 0" descr="preencoded.png">    </p:cNvPr>
          <p:cNvPicPr>
            <a:picLocks noChangeAspect="1"/>
          </p:cNvPicPr>
          <p:nvPr/>
        </p:nvPicPr>
        <p:blipFill>
          <a:blip r:embed="rId1"/>
          <a:stretch>
            <a:fillRect/>
          </a:stretch>
        </p:blipFill>
        <p:spPr>
          <a:xfrm>
            <a:off x="969407" y="6883241"/>
            <a:ext cx="269319" cy="215384"/>
          </a:xfrm>
          <a:prstGeom prst="rect">
            <a:avLst/>
          </a:prstGeom>
        </p:spPr>
      </p:pic>
      <p:sp>
        <p:nvSpPr>
          <p:cNvPr id="21" name="Text 18"/>
          <p:cNvSpPr/>
          <p:nvPr/>
        </p:nvSpPr>
        <p:spPr>
          <a:xfrm>
            <a:off x="1454110" y="6820257"/>
            <a:ext cx="12206883" cy="344805"/>
          </a:xfrm>
          <a:prstGeom prst="rect">
            <a:avLst/>
          </a:prstGeom>
          <a:noFill/>
          <a:ln/>
        </p:spPr>
        <p:txBody>
          <a:bodyPr wrap="none" lIns="0" tIns="0" rIns="0" bIns="0" rtlCol="0" anchor="t"/>
          <a:lstStyle/>
          <a:p>
            <a:pPr algn="ctr" indent="0" marL="0">
              <a:lnSpc>
                <a:spcPts val="2700"/>
              </a:lnSpc>
              <a:buNone/>
            </a:pPr>
            <a:r>
              <a:rPr lang="en-US" sz="1650" b="1" dirty="0">
                <a:solidFill>
                  <a:srgbClr val="000000"/>
                </a:solidFill>
                <a:latin typeface="Open Sans" pitchFamily="34" charset="0"/>
                <a:ea typeface="Open Sans" pitchFamily="34" charset="-122"/>
                <a:cs typeface="Open Sans" pitchFamily="34" charset="-120"/>
              </a:rPr>
              <a:t>Importancia:</a:t>
            </a:r>
            <a:pPr algn="ctr" indent="0" marL="0">
              <a:lnSpc>
                <a:spcPts val="2700"/>
              </a:lnSpc>
              <a:buNone/>
            </a:pPr>
            <a:r>
              <a:rPr lang="en-US" sz="1650" dirty="0">
                <a:solidFill>
                  <a:srgbClr val="FFFFFF"/>
                </a:solidFill>
                <a:latin typeface="Open Sans" pitchFamily="34" charset="0"/>
                <a:ea typeface="Open Sans" pitchFamily="34" charset="-122"/>
                <a:cs typeface="Open Sans" pitchFamily="34" charset="-120"/>
              </a:rPr>
              <a:t> Permite restaurar datos rápida y eficientemente.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54844" y="518160"/>
            <a:ext cx="4678085" cy="584716"/>
          </a:xfrm>
          <a:prstGeom prst="rect">
            <a:avLst/>
          </a:prstGeom>
          <a:noFill/>
          <a:ln/>
        </p:spPr>
        <p:txBody>
          <a:bodyPr wrap="none" lIns="0" tIns="0" rIns="0" bIns="0" rtlCol="0" anchor="t"/>
          <a:lstStyle/>
          <a:p>
            <a:pPr algn="l" indent="0" marL="0">
              <a:lnSpc>
                <a:spcPts val="4600"/>
              </a:lnSpc>
              <a:buNone/>
            </a:pPr>
            <a:r>
              <a:rPr lang="en-US" sz="3650" dirty="0">
                <a:solidFill>
                  <a:srgbClr val="000000"/>
                </a:solidFill>
                <a:latin typeface="Bitter Medium" pitchFamily="34" charset="0"/>
                <a:ea typeface="Bitter Medium" pitchFamily="34" charset="-122"/>
                <a:cs typeface="Bitter Medium" pitchFamily="34" charset="-120"/>
              </a:rPr>
              <a:t>Compresión de datos</a:t>
            </a:r>
            <a:endParaRPr lang="en-US" sz="3650" dirty="0"/>
          </a:p>
        </p:txBody>
      </p:sp>
      <p:sp>
        <p:nvSpPr>
          <p:cNvPr id="3" name="Text 1"/>
          <p:cNvSpPr/>
          <p:nvPr/>
        </p:nvSpPr>
        <p:spPr>
          <a:xfrm>
            <a:off x="654844" y="1477089"/>
            <a:ext cx="13320712" cy="299442"/>
          </a:xfrm>
          <a:prstGeom prst="rect">
            <a:avLst/>
          </a:prstGeom>
          <a:noFill/>
          <a:ln/>
        </p:spPr>
        <p:txBody>
          <a:bodyPr wrap="non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Reduce el tamaño de los archivos usando patrones repetidos para ahorrar espacio. Ejemplo: "AAAAAA" → "6A"</a:t>
            </a:r>
            <a:endParaRPr lang="en-US" sz="14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4844" y="1987034"/>
            <a:ext cx="467797" cy="467797"/>
          </a:xfrm>
          <a:prstGeom prst="rect">
            <a:avLst/>
          </a:prstGeom>
        </p:spPr>
      </p:pic>
      <p:sp>
        <p:nvSpPr>
          <p:cNvPr id="5" name="Text 2"/>
          <p:cNvSpPr/>
          <p:nvPr/>
        </p:nvSpPr>
        <p:spPr>
          <a:xfrm>
            <a:off x="654844" y="2688669"/>
            <a:ext cx="2338983" cy="292418"/>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Sin pérdidas</a:t>
            </a:r>
            <a:endParaRPr lang="en-US" sz="1800" dirty="0"/>
          </a:p>
        </p:txBody>
      </p:sp>
      <p:sp>
        <p:nvSpPr>
          <p:cNvPr id="6" name="Text 3"/>
          <p:cNvSpPr/>
          <p:nvPr/>
        </p:nvSpPr>
        <p:spPr>
          <a:xfrm>
            <a:off x="654844" y="3093363"/>
            <a:ext cx="4284345" cy="59888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Conserva toda la información original, garantizando una restauración perfecta.</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3028" y="1987034"/>
            <a:ext cx="467797" cy="467797"/>
          </a:xfrm>
          <a:prstGeom prst="rect">
            <a:avLst/>
          </a:prstGeom>
        </p:spPr>
      </p:pic>
      <p:sp>
        <p:nvSpPr>
          <p:cNvPr id="8" name="Text 4"/>
          <p:cNvSpPr/>
          <p:nvPr/>
        </p:nvSpPr>
        <p:spPr>
          <a:xfrm>
            <a:off x="5173028" y="2688669"/>
            <a:ext cx="2394585" cy="292418"/>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Subjetiva sin pérdidas</a:t>
            </a:r>
            <a:endParaRPr lang="en-US" sz="1800" dirty="0"/>
          </a:p>
        </p:txBody>
      </p:sp>
      <p:sp>
        <p:nvSpPr>
          <p:cNvPr id="9" name="Text 5"/>
          <p:cNvSpPr/>
          <p:nvPr/>
        </p:nvSpPr>
        <p:spPr>
          <a:xfrm>
            <a:off x="5173028" y="3093363"/>
            <a:ext cx="4284345" cy="59888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Elimina datos repetitivos o irrelevantes que no afectan la percepción del contenido.</a:t>
            </a:r>
            <a:endParaRPr lang="en-US" sz="14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91211" y="1987034"/>
            <a:ext cx="467797" cy="467797"/>
          </a:xfrm>
          <a:prstGeom prst="rect">
            <a:avLst/>
          </a:prstGeom>
        </p:spPr>
      </p:pic>
      <p:sp>
        <p:nvSpPr>
          <p:cNvPr id="11" name="Text 6"/>
          <p:cNvSpPr/>
          <p:nvPr/>
        </p:nvSpPr>
        <p:spPr>
          <a:xfrm>
            <a:off x="9691211" y="2688669"/>
            <a:ext cx="2338983" cy="292418"/>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Con pérdidas</a:t>
            </a:r>
            <a:endParaRPr lang="en-US" sz="1800" dirty="0"/>
          </a:p>
        </p:txBody>
      </p:sp>
      <p:sp>
        <p:nvSpPr>
          <p:cNvPr id="12" name="Text 7"/>
          <p:cNvSpPr/>
          <p:nvPr/>
        </p:nvSpPr>
        <p:spPr>
          <a:xfrm>
            <a:off x="9691211" y="3093363"/>
            <a:ext cx="4284345" cy="898327"/>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Elimina parte de la información original para lograr una mayor reducción (común en imágenes o videos).</a:t>
            </a:r>
            <a:endParaRPr lang="en-US" sz="1450" dirty="0"/>
          </a:p>
        </p:txBody>
      </p:sp>
      <p:sp>
        <p:nvSpPr>
          <p:cNvPr id="13" name="Text 8"/>
          <p:cNvSpPr/>
          <p:nvPr/>
        </p:nvSpPr>
        <p:spPr>
          <a:xfrm>
            <a:off x="654844" y="4272320"/>
            <a:ext cx="3742492" cy="467678"/>
          </a:xfrm>
          <a:prstGeom prst="rect">
            <a:avLst/>
          </a:prstGeom>
          <a:noFill/>
          <a:ln/>
        </p:spPr>
        <p:txBody>
          <a:bodyPr wrap="none" lIns="0" tIns="0" rIns="0" bIns="0" rtlCol="0" anchor="t"/>
          <a:lstStyle/>
          <a:p>
            <a:pPr algn="l" indent="0" marL="0">
              <a:lnSpc>
                <a:spcPts val="3650"/>
              </a:lnSpc>
              <a:buNone/>
            </a:pPr>
            <a:r>
              <a:rPr lang="en-US" sz="2900" dirty="0">
                <a:solidFill>
                  <a:srgbClr val="000000"/>
                </a:solidFill>
                <a:latin typeface="Bitter Medium" pitchFamily="34" charset="0"/>
                <a:ea typeface="Bitter Medium" pitchFamily="34" charset="-122"/>
                <a:cs typeface="Bitter Medium" pitchFamily="34" charset="-120"/>
              </a:rPr>
              <a:t>Algoritmos Comunes</a:t>
            </a:r>
            <a:endParaRPr lang="en-US" sz="2900" dirty="0"/>
          </a:p>
        </p:txBody>
      </p:sp>
      <p:sp>
        <p:nvSpPr>
          <p:cNvPr id="14" name="Shape 9"/>
          <p:cNvSpPr/>
          <p:nvPr/>
        </p:nvSpPr>
        <p:spPr>
          <a:xfrm>
            <a:off x="654844" y="5020628"/>
            <a:ext cx="4315539" cy="1685330"/>
          </a:xfrm>
          <a:prstGeom prst="roundRect">
            <a:avLst>
              <a:gd name="adj" fmla="val 4663"/>
            </a:avLst>
          </a:prstGeom>
          <a:solidFill>
            <a:srgbClr val="FBE2D1"/>
          </a:solidFill>
          <a:ln w="7620">
            <a:solidFill>
              <a:srgbClr val="E1C8B7"/>
            </a:solidFill>
            <a:prstDash val="solid"/>
          </a:ln>
        </p:spPr>
      </p:sp>
      <p:sp>
        <p:nvSpPr>
          <p:cNvPr id="15" name="Text 10"/>
          <p:cNvSpPr/>
          <p:nvPr/>
        </p:nvSpPr>
        <p:spPr>
          <a:xfrm>
            <a:off x="849511" y="5215295"/>
            <a:ext cx="2338983" cy="292418"/>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Hoffman</a:t>
            </a:r>
            <a:endParaRPr lang="en-US" sz="1800" dirty="0"/>
          </a:p>
        </p:txBody>
      </p:sp>
      <p:sp>
        <p:nvSpPr>
          <p:cNvPr id="16" name="Text 11"/>
          <p:cNvSpPr/>
          <p:nvPr/>
        </p:nvSpPr>
        <p:spPr>
          <a:xfrm>
            <a:off x="849511" y="5619988"/>
            <a:ext cx="3926205" cy="59888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Codificación de longitud variable basada en la frecuencia de aparición.</a:t>
            </a:r>
            <a:endParaRPr lang="en-US" sz="1450" dirty="0"/>
          </a:p>
        </p:txBody>
      </p:sp>
      <p:sp>
        <p:nvSpPr>
          <p:cNvPr id="17" name="Shape 12"/>
          <p:cNvSpPr/>
          <p:nvPr/>
        </p:nvSpPr>
        <p:spPr>
          <a:xfrm>
            <a:off x="5157430" y="5020628"/>
            <a:ext cx="4315539" cy="1685330"/>
          </a:xfrm>
          <a:prstGeom prst="roundRect">
            <a:avLst>
              <a:gd name="adj" fmla="val 4663"/>
            </a:avLst>
          </a:prstGeom>
          <a:solidFill>
            <a:srgbClr val="FBE2D1"/>
          </a:solidFill>
          <a:ln w="7620">
            <a:solidFill>
              <a:srgbClr val="E1C8B7"/>
            </a:solidFill>
            <a:prstDash val="solid"/>
          </a:ln>
        </p:spPr>
      </p:sp>
      <p:sp>
        <p:nvSpPr>
          <p:cNvPr id="18" name="Text 13"/>
          <p:cNvSpPr/>
          <p:nvPr/>
        </p:nvSpPr>
        <p:spPr>
          <a:xfrm>
            <a:off x="5352098" y="5215295"/>
            <a:ext cx="3926205" cy="584835"/>
          </a:xfrm>
          <a:prstGeom prst="rect">
            <a:avLst/>
          </a:prstGeom>
          <a:noFill/>
          <a:ln/>
        </p:spPr>
        <p:txBody>
          <a:bodyPr wrap="squar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Compresión basada en diccionarios (LZ)</a:t>
            </a:r>
            <a:endParaRPr lang="en-US" sz="1800" dirty="0"/>
          </a:p>
        </p:txBody>
      </p:sp>
      <p:sp>
        <p:nvSpPr>
          <p:cNvPr id="19" name="Text 14"/>
          <p:cNvSpPr/>
          <p:nvPr/>
        </p:nvSpPr>
        <p:spPr>
          <a:xfrm>
            <a:off x="5352098" y="5912406"/>
            <a:ext cx="3926205" cy="59888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Reemplaza secuencias de datos repetidas con referencias a un diccionario.</a:t>
            </a:r>
            <a:endParaRPr lang="en-US" sz="1450" dirty="0"/>
          </a:p>
        </p:txBody>
      </p:sp>
      <p:sp>
        <p:nvSpPr>
          <p:cNvPr id="20" name="Shape 15"/>
          <p:cNvSpPr/>
          <p:nvPr/>
        </p:nvSpPr>
        <p:spPr>
          <a:xfrm>
            <a:off x="9660017" y="5020628"/>
            <a:ext cx="4315539" cy="1685330"/>
          </a:xfrm>
          <a:prstGeom prst="roundRect">
            <a:avLst>
              <a:gd name="adj" fmla="val 4663"/>
            </a:avLst>
          </a:prstGeom>
          <a:solidFill>
            <a:srgbClr val="FBE2D1"/>
          </a:solidFill>
          <a:ln w="7620">
            <a:solidFill>
              <a:srgbClr val="E1C8B7"/>
            </a:solidFill>
            <a:prstDash val="solid"/>
          </a:ln>
        </p:spPr>
      </p:sp>
      <p:sp>
        <p:nvSpPr>
          <p:cNvPr id="21" name="Text 16"/>
          <p:cNvSpPr/>
          <p:nvPr/>
        </p:nvSpPr>
        <p:spPr>
          <a:xfrm>
            <a:off x="9854684" y="5215295"/>
            <a:ext cx="3107769" cy="292418"/>
          </a:xfrm>
          <a:prstGeom prst="rect">
            <a:avLst/>
          </a:prstGeom>
          <a:noFill/>
          <a:ln/>
        </p:spPr>
        <p:txBody>
          <a:bodyPr wrap="none" lIns="0" tIns="0" rIns="0" bIns="0" rtlCol="0" anchor="t"/>
          <a:lstStyle/>
          <a:p>
            <a:pPr algn="l" indent="0" marL="0">
              <a:lnSpc>
                <a:spcPts val="2300"/>
              </a:lnSpc>
              <a:buNone/>
            </a:pPr>
            <a:r>
              <a:rPr lang="en-US" sz="1800" dirty="0">
                <a:solidFill>
                  <a:srgbClr val="000000"/>
                </a:solidFill>
                <a:latin typeface="Bitter Medium" pitchFamily="34" charset="0"/>
                <a:ea typeface="Bitter Medium" pitchFamily="34" charset="-122"/>
                <a:cs typeface="Bitter Medium" pitchFamily="34" charset="-120"/>
              </a:rPr>
              <a:t>Codificación por series (RLE)</a:t>
            </a:r>
            <a:endParaRPr lang="en-US" sz="1800" dirty="0"/>
          </a:p>
        </p:txBody>
      </p:sp>
      <p:sp>
        <p:nvSpPr>
          <p:cNvPr id="22" name="Text 17"/>
          <p:cNvSpPr/>
          <p:nvPr/>
        </p:nvSpPr>
        <p:spPr>
          <a:xfrm>
            <a:off x="9854684" y="5619988"/>
            <a:ext cx="3926205" cy="598884"/>
          </a:xfrm>
          <a:prstGeom prst="rect">
            <a:avLst/>
          </a:prstGeom>
          <a:noFill/>
          <a:ln/>
        </p:spPr>
        <p:txBody>
          <a:bodyPr wrap="square" lIns="0" tIns="0" rIns="0" bIns="0" rtlCol="0" anchor="t"/>
          <a:lstStyle/>
          <a:p>
            <a:pPr algn="l" indent="0" marL="0">
              <a:lnSpc>
                <a:spcPts val="2350"/>
              </a:lnSpc>
              <a:buNone/>
            </a:pPr>
            <a:r>
              <a:rPr lang="en-US" sz="1450" dirty="0">
                <a:solidFill>
                  <a:srgbClr val="000000"/>
                </a:solidFill>
                <a:latin typeface="Open Sans" pitchFamily="34" charset="0"/>
                <a:ea typeface="Open Sans" pitchFamily="34" charset="-122"/>
                <a:cs typeface="Open Sans" pitchFamily="34" charset="-120"/>
              </a:rPr>
              <a:t>Representa secuencias repetidas del mismo valor de datos con un conteo y el valor.</a:t>
            </a:r>
            <a:endParaRPr lang="en-US" sz="1450" dirty="0"/>
          </a:p>
        </p:txBody>
      </p:sp>
      <p:sp>
        <p:nvSpPr>
          <p:cNvPr id="23" name="Shape 18"/>
          <p:cNvSpPr/>
          <p:nvPr/>
        </p:nvSpPr>
        <p:spPr>
          <a:xfrm>
            <a:off x="654844" y="6916460"/>
            <a:ext cx="13320712" cy="794980"/>
          </a:xfrm>
          <a:prstGeom prst="roundRect">
            <a:avLst>
              <a:gd name="adj" fmla="val 9886"/>
            </a:avLst>
          </a:prstGeom>
          <a:solidFill>
            <a:srgbClr val="D2600F"/>
          </a:solidFill>
          <a:ln/>
        </p:spPr>
      </p:sp>
      <p:pic>
        <p:nvPicPr>
          <p:cNvPr id="24" name="Image 3" descr="preencoded.png">    </p:cNvPr>
          <p:cNvPicPr>
            <a:picLocks noChangeAspect="1"/>
          </p:cNvPicPr>
          <p:nvPr/>
        </p:nvPicPr>
        <p:blipFill>
          <a:blip r:embed="rId7"/>
          <a:stretch>
            <a:fillRect/>
          </a:stretch>
        </p:blipFill>
        <p:spPr>
          <a:xfrm>
            <a:off x="841891" y="7207448"/>
            <a:ext cx="233839" cy="187047"/>
          </a:xfrm>
          <a:prstGeom prst="rect">
            <a:avLst/>
          </a:prstGeom>
        </p:spPr>
      </p:pic>
      <p:sp>
        <p:nvSpPr>
          <p:cNvPr id="25" name="Text 19"/>
          <p:cNvSpPr/>
          <p:nvPr/>
        </p:nvSpPr>
        <p:spPr>
          <a:xfrm>
            <a:off x="1262777" y="7150179"/>
            <a:ext cx="12525732" cy="299442"/>
          </a:xfrm>
          <a:prstGeom prst="rect">
            <a:avLst/>
          </a:prstGeom>
          <a:noFill/>
          <a:ln/>
        </p:spPr>
        <p:txBody>
          <a:bodyPr wrap="none" lIns="0" tIns="0" rIns="0" bIns="0" rtlCol="0" anchor="t"/>
          <a:lstStyle/>
          <a:p>
            <a:pPr algn="ctr" indent="0" marL="0">
              <a:lnSpc>
                <a:spcPts val="2350"/>
              </a:lnSpc>
              <a:buNone/>
            </a:pPr>
            <a:r>
              <a:rPr lang="en-US" sz="1450" b="1" dirty="0">
                <a:solidFill>
                  <a:srgbClr val="FFFFFF"/>
                </a:solidFill>
                <a:latin typeface="Open Sans" pitchFamily="34" charset="0"/>
                <a:ea typeface="Open Sans" pitchFamily="34" charset="-122"/>
                <a:cs typeface="Open Sans" pitchFamily="34" charset="-120"/>
              </a:rPr>
              <a:t>Ventaja:</a:t>
            </a:r>
            <a:pPr algn="ctr" indent="0" marL="0">
              <a:lnSpc>
                <a:spcPts val="2350"/>
              </a:lnSpc>
              <a:buNone/>
            </a:pPr>
            <a:r>
              <a:rPr lang="en-US" sz="1450" dirty="0">
                <a:solidFill>
                  <a:srgbClr val="FFFFFF"/>
                </a:solidFill>
                <a:latin typeface="Open Sans" pitchFamily="34" charset="0"/>
                <a:ea typeface="Open Sans" pitchFamily="34" charset="-122"/>
                <a:cs typeface="Open Sans" pitchFamily="34" charset="-120"/>
              </a:rPr>
              <a:t> Ahorra espacio de almacenamiento y facilita el envío o la transferencia de archivos.</a:t>
            </a:r>
            <a:endParaRPr lang="en-US" sz="14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3196590" y="697111"/>
            <a:ext cx="8237101" cy="615196"/>
          </a:xfrm>
          <a:prstGeom prst="rect">
            <a:avLst/>
          </a:prstGeom>
          <a:noFill/>
          <a:ln/>
        </p:spPr>
        <p:txBody>
          <a:bodyPr wrap="none" lIns="0" tIns="0" rIns="0" bIns="0" rtlCol="0" anchor="t"/>
          <a:lstStyle/>
          <a:p>
            <a:pPr algn="ctr" indent="0" marL="0">
              <a:lnSpc>
                <a:spcPts val="4800"/>
              </a:lnSpc>
              <a:buNone/>
            </a:pPr>
            <a:r>
              <a:rPr lang="en-US" sz="3850" dirty="0">
                <a:solidFill>
                  <a:srgbClr val="000000"/>
                </a:solidFill>
                <a:latin typeface="Bitter Medium" pitchFamily="34" charset="0"/>
                <a:ea typeface="Bitter Medium" pitchFamily="34" charset="-122"/>
                <a:cs typeface="Bitter Medium" pitchFamily="34" charset="-120"/>
              </a:rPr>
              <a:t>Administración del espacio en disco</a:t>
            </a:r>
            <a:endParaRPr lang="en-US" sz="3850" dirty="0"/>
          </a:p>
        </p:txBody>
      </p:sp>
      <p:sp>
        <p:nvSpPr>
          <p:cNvPr id="3" name="Text 1"/>
          <p:cNvSpPr/>
          <p:nvPr/>
        </p:nvSpPr>
        <p:spPr>
          <a:xfrm>
            <a:off x="689015" y="1705928"/>
            <a:ext cx="13252371" cy="314801"/>
          </a:xfrm>
          <a:prstGeom prst="rect">
            <a:avLst/>
          </a:prstGeom>
          <a:noFill/>
          <a:ln/>
        </p:spPr>
        <p:txBody>
          <a:bodyPr wrap="none" lIns="0" tIns="0" rIns="0" bIns="0" rtlCol="0" anchor="t"/>
          <a:lstStyle/>
          <a:p>
            <a:pPr algn="ctr" indent="0" marL="0">
              <a:lnSpc>
                <a:spcPts val="2450"/>
              </a:lnSpc>
              <a:buNone/>
            </a:pPr>
            <a:r>
              <a:rPr lang="en-US" sz="1550" dirty="0">
                <a:solidFill>
                  <a:srgbClr val="000000"/>
                </a:solidFill>
                <a:latin typeface="Open Sans" pitchFamily="34" charset="0"/>
                <a:ea typeface="Open Sans" pitchFamily="34" charset="-122"/>
                <a:cs typeface="Open Sans" pitchFamily="34" charset="-120"/>
              </a:rPr>
              <a:t>El sistema gestiona los bloques libres para nuevos archivos, garantizando el almacenamiento y la recuperación eficiente de la información.</a:t>
            </a:r>
            <a:endParaRPr lang="en-US" sz="1550" dirty="0"/>
          </a:p>
        </p:txBody>
      </p:sp>
      <p:sp>
        <p:nvSpPr>
          <p:cNvPr id="4" name="Shape 2"/>
          <p:cNvSpPr/>
          <p:nvPr/>
        </p:nvSpPr>
        <p:spPr>
          <a:xfrm>
            <a:off x="689015" y="2242185"/>
            <a:ext cx="6527721" cy="716399"/>
          </a:xfrm>
          <a:prstGeom prst="roundRect">
            <a:avLst>
              <a:gd name="adj" fmla="val 11542"/>
            </a:avLst>
          </a:prstGeom>
          <a:solidFill>
            <a:srgbClr val="D2600F"/>
          </a:solidFill>
          <a:ln w="7620">
            <a:solidFill>
              <a:srgbClr val="EB7928"/>
            </a:solidFill>
            <a:prstDash val="solid"/>
          </a:ln>
        </p:spPr>
      </p:sp>
      <p:sp>
        <p:nvSpPr>
          <p:cNvPr id="5" name="Text 3"/>
          <p:cNvSpPr/>
          <p:nvPr/>
        </p:nvSpPr>
        <p:spPr>
          <a:xfrm>
            <a:off x="2722483" y="2446615"/>
            <a:ext cx="2460784" cy="307538"/>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Bitter Medium" pitchFamily="34" charset="0"/>
                <a:ea typeface="Bitter Medium" pitchFamily="34" charset="-122"/>
                <a:cs typeface="Bitter Medium" pitchFamily="34" charset="-120"/>
              </a:rPr>
              <a:t>Vector de bits</a:t>
            </a:r>
            <a:endParaRPr lang="en-US" sz="1900" dirty="0"/>
          </a:p>
        </p:txBody>
      </p:sp>
      <p:sp>
        <p:nvSpPr>
          <p:cNvPr id="6" name="Shape 4"/>
          <p:cNvSpPr/>
          <p:nvPr/>
        </p:nvSpPr>
        <p:spPr>
          <a:xfrm>
            <a:off x="7413546" y="2242185"/>
            <a:ext cx="6527840" cy="716399"/>
          </a:xfrm>
          <a:prstGeom prst="roundRect">
            <a:avLst>
              <a:gd name="adj" fmla="val 11542"/>
            </a:avLst>
          </a:prstGeom>
          <a:solidFill>
            <a:srgbClr val="D2600F"/>
          </a:solidFill>
          <a:ln w="7620">
            <a:solidFill>
              <a:srgbClr val="EB7928"/>
            </a:solidFill>
            <a:prstDash val="solid"/>
          </a:ln>
        </p:spPr>
      </p:sp>
      <p:sp>
        <p:nvSpPr>
          <p:cNvPr id="7" name="Text 5"/>
          <p:cNvSpPr/>
          <p:nvPr/>
        </p:nvSpPr>
        <p:spPr>
          <a:xfrm>
            <a:off x="9447014" y="2446615"/>
            <a:ext cx="2460784" cy="307538"/>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Bitter Medium" pitchFamily="34" charset="0"/>
                <a:ea typeface="Bitter Medium" pitchFamily="34" charset="-122"/>
                <a:cs typeface="Bitter Medium" pitchFamily="34" charset="-120"/>
              </a:rPr>
              <a:t>Lista enlazada</a:t>
            </a:r>
            <a:endParaRPr lang="en-US" sz="1900" dirty="0"/>
          </a:p>
        </p:txBody>
      </p:sp>
      <p:sp>
        <p:nvSpPr>
          <p:cNvPr id="8" name="Shape 6"/>
          <p:cNvSpPr/>
          <p:nvPr/>
        </p:nvSpPr>
        <p:spPr>
          <a:xfrm>
            <a:off x="689015" y="3155394"/>
            <a:ext cx="6527721" cy="716399"/>
          </a:xfrm>
          <a:prstGeom prst="roundRect">
            <a:avLst>
              <a:gd name="adj" fmla="val 11542"/>
            </a:avLst>
          </a:prstGeom>
          <a:solidFill>
            <a:srgbClr val="D2600F"/>
          </a:solidFill>
          <a:ln w="7620">
            <a:solidFill>
              <a:srgbClr val="EB7928"/>
            </a:solidFill>
            <a:prstDash val="solid"/>
          </a:ln>
        </p:spPr>
      </p:sp>
      <p:sp>
        <p:nvSpPr>
          <p:cNvPr id="9" name="Text 7"/>
          <p:cNvSpPr/>
          <p:nvPr/>
        </p:nvSpPr>
        <p:spPr>
          <a:xfrm>
            <a:off x="2722483" y="3359825"/>
            <a:ext cx="2460784" cy="307538"/>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Bitter Medium" pitchFamily="34" charset="0"/>
                <a:ea typeface="Bitter Medium" pitchFamily="34" charset="-122"/>
                <a:cs typeface="Bitter Medium" pitchFamily="34" charset="-120"/>
              </a:rPr>
              <a:t>Agrupación</a:t>
            </a:r>
            <a:endParaRPr lang="en-US" sz="1900" dirty="0"/>
          </a:p>
        </p:txBody>
      </p:sp>
      <p:sp>
        <p:nvSpPr>
          <p:cNvPr id="10" name="Shape 8"/>
          <p:cNvSpPr/>
          <p:nvPr/>
        </p:nvSpPr>
        <p:spPr>
          <a:xfrm>
            <a:off x="7413546" y="3155394"/>
            <a:ext cx="6527840" cy="716399"/>
          </a:xfrm>
          <a:prstGeom prst="roundRect">
            <a:avLst>
              <a:gd name="adj" fmla="val 11542"/>
            </a:avLst>
          </a:prstGeom>
          <a:solidFill>
            <a:srgbClr val="D2600F"/>
          </a:solidFill>
          <a:ln w="7620">
            <a:solidFill>
              <a:srgbClr val="EB7928"/>
            </a:solidFill>
            <a:prstDash val="solid"/>
          </a:ln>
        </p:spPr>
      </p:sp>
      <p:sp>
        <p:nvSpPr>
          <p:cNvPr id="11" name="Text 9"/>
          <p:cNvSpPr/>
          <p:nvPr/>
        </p:nvSpPr>
        <p:spPr>
          <a:xfrm>
            <a:off x="9447014" y="3359825"/>
            <a:ext cx="2460784" cy="307538"/>
          </a:xfrm>
          <a:prstGeom prst="rect">
            <a:avLst/>
          </a:prstGeom>
          <a:noFill/>
          <a:ln/>
        </p:spPr>
        <p:txBody>
          <a:bodyPr wrap="none" lIns="0" tIns="0" rIns="0" bIns="0" rtlCol="0" anchor="t"/>
          <a:lstStyle/>
          <a:p>
            <a:pPr algn="ctr" indent="0" marL="0">
              <a:lnSpc>
                <a:spcPts val="2400"/>
              </a:lnSpc>
              <a:buNone/>
            </a:pPr>
            <a:r>
              <a:rPr lang="en-US" sz="1900" b="1" dirty="0">
                <a:solidFill>
                  <a:srgbClr val="FFFFFF"/>
                </a:solidFill>
                <a:latin typeface="Bitter Medium" pitchFamily="34" charset="0"/>
                <a:ea typeface="Bitter Medium" pitchFamily="34" charset="-122"/>
                <a:cs typeface="Bitter Medium" pitchFamily="34" charset="-120"/>
              </a:rPr>
              <a:t>Conteo</a:t>
            </a:r>
            <a:endParaRPr lang="en-US" sz="1900" dirty="0"/>
          </a:p>
        </p:txBody>
      </p:sp>
      <p:sp>
        <p:nvSpPr>
          <p:cNvPr id="12" name="Shape 10"/>
          <p:cNvSpPr/>
          <p:nvPr/>
        </p:nvSpPr>
        <p:spPr>
          <a:xfrm>
            <a:off x="689015" y="4191639"/>
            <a:ext cx="13252371" cy="32147"/>
          </a:xfrm>
          <a:prstGeom prst="rect">
            <a:avLst/>
          </a:prstGeom>
          <a:solidFill>
            <a:srgbClr val="2B2E3C">
              <a:alpha val="50000"/>
            </a:srgbClr>
          </a:solidFill>
          <a:ln/>
        </p:spPr>
      </p:sp>
      <p:sp>
        <p:nvSpPr>
          <p:cNvPr id="13" name="Text 11"/>
          <p:cNvSpPr/>
          <p:nvPr/>
        </p:nvSpPr>
        <p:spPr>
          <a:xfrm>
            <a:off x="5138380" y="4519017"/>
            <a:ext cx="4353520" cy="492085"/>
          </a:xfrm>
          <a:prstGeom prst="rect">
            <a:avLst/>
          </a:prstGeom>
          <a:noFill/>
          <a:ln/>
        </p:spPr>
        <p:txBody>
          <a:bodyPr wrap="none" lIns="0" tIns="0" rIns="0" bIns="0" rtlCol="0" anchor="t"/>
          <a:lstStyle/>
          <a:p>
            <a:pPr algn="ctr" indent="0" marL="0">
              <a:lnSpc>
                <a:spcPts val="3850"/>
              </a:lnSpc>
              <a:buNone/>
            </a:pPr>
            <a:r>
              <a:rPr lang="en-US" sz="3100" dirty="0">
                <a:solidFill>
                  <a:srgbClr val="000000"/>
                </a:solidFill>
                <a:latin typeface="Bitter Medium" pitchFamily="34" charset="0"/>
                <a:ea typeface="Bitter Medium" pitchFamily="34" charset="-122"/>
                <a:cs typeface="Bitter Medium" pitchFamily="34" charset="-120"/>
              </a:rPr>
              <a:t>Problemas y Soluciones</a:t>
            </a:r>
            <a:endParaRPr lang="en-US" sz="3100" dirty="0"/>
          </a:p>
        </p:txBody>
      </p:sp>
      <p:sp>
        <p:nvSpPr>
          <p:cNvPr id="14" name="Text 12"/>
          <p:cNvSpPr/>
          <p:nvPr/>
        </p:nvSpPr>
        <p:spPr>
          <a:xfrm>
            <a:off x="689015" y="5306378"/>
            <a:ext cx="13252371" cy="629603"/>
          </a:xfrm>
          <a:prstGeom prst="rect">
            <a:avLst/>
          </a:prstGeom>
          <a:noFill/>
          <a:ln/>
        </p:spPr>
        <p:txBody>
          <a:bodyPr wrap="square" lIns="0" tIns="0" rIns="0" bIns="0" rtlCol="0" anchor="t"/>
          <a:lstStyle/>
          <a:p>
            <a:pPr algn="ctr" indent="0" marL="0">
              <a:lnSpc>
                <a:spcPts val="2450"/>
              </a:lnSpc>
              <a:buNone/>
            </a:pPr>
            <a:r>
              <a:rPr lang="en-US" sz="1550" dirty="0">
                <a:solidFill>
                  <a:srgbClr val="2B2E3C"/>
                </a:solidFill>
                <a:latin typeface="Open Sans" pitchFamily="34" charset="0"/>
                <a:ea typeface="Open Sans" pitchFamily="34" charset="-122"/>
                <a:cs typeface="Open Sans" pitchFamily="34" charset="-120"/>
              </a:rPr>
              <a:t>El principal desafío es la </a:t>
            </a:r>
            <a:pPr algn="ctr" indent="0" marL="0">
              <a:lnSpc>
                <a:spcPts val="2450"/>
              </a:lnSpc>
              <a:buNone/>
            </a:pPr>
            <a:r>
              <a:rPr lang="en-US" sz="1550" b="1" dirty="0">
                <a:solidFill>
                  <a:srgbClr val="000000"/>
                </a:solidFill>
                <a:latin typeface="Open Sans" pitchFamily="34" charset="0"/>
                <a:ea typeface="Open Sans" pitchFamily="34" charset="-122"/>
                <a:cs typeface="Open Sans" pitchFamily="34" charset="-120"/>
              </a:rPr>
              <a:t>fragmentación del disco</a:t>
            </a:r>
            <a:pPr algn="ctr" indent="0" marL="0">
              <a:lnSpc>
                <a:spcPts val="2450"/>
              </a:lnSpc>
              <a:buNone/>
            </a:pPr>
            <a:r>
              <a:rPr lang="en-US" sz="1550" dirty="0">
                <a:solidFill>
                  <a:srgbClr val="2B2E3C"/>
                </a:solidFill>
                <a:latin typeface="Open Sans" pitchFamily="34" charset="0"/>
                <a:ea typeface="Open Sans" pitchFamily="34" charset="-122"/>
                <a:cs typeface="Open Sans" pitchFamily="34" charset="-120"/>
              </a:rPr>
              <a:t>, que ocurre cuando los archivos se dispersan en bloques no contiguos, resultando en un menor rendimiento del sistema.</a:t>
            </a:r>
            <a:endParaRPr lang="en-US" sz="1550" dirty="0"/>
          </a:p>
        </p:txBody>
      </p:sp>
      <p:sp>
        <p:nvSpPr>
          <p:cNvPr id="15" name="Text 13"/>
          <p:cNvSpPr/>
          <p:nvPr/>
        </p:nvSpPr>
        <p:spPr>
          <a:xfrm>
            <a:off x="6084808" y="6231255"/>
            <a:ext cx="2460784" cy="307538"/>
          </a:xfrm>
          <a:prstGeom prst="rect">
            <a:avLst/>
          </a:prstGeom>
          <a:noFill/>
          <a:ln/>
        </p:spPr>
        <p:txBody>
          <a:bodyPr wrap="none" lIns="0" tIns="0" rIns="0" bIns="0" rtlCol="0" anchor="t"/>
          <a:lstStyle/>
          <a:p>
            <a:pPr algn="ctr" indent="0" marL="0">
              <a:lnSpc>
                <a:spcPts val="2400"/>
              </a:lnSpc>
              <a:buNone/>
            </a:pPr>
            <a:r>
              <a:rPr lang="en-US" sz="1900" dirty="0">
                <a:solidFill>
                  <a:srgbClr val="000000"/>
                </a:solidFill>
                <a:latin typeface="Bitter Medium" pitchFamily="34" charset="0"/>
                <a:ea typeface="Bitter Medium" pitchFamily="34" charset="-122"/>
                <a:cs typeface="Bitter Medium" pitchFamily="34" charset="-120"/>
              </a:rPr>
              <a:t>Soluciones</a:t>
            </a:r>
            <a:endParaRPr lang="en-US" sz="1900" dirty="0"/>
          </a:p>
        </p:txBody>
      </p:sp>
      <p:sp>
        <p:nvSpPr>
          <p:cNvPr id="16" name="Text 14"/>
          <p:cNvSpPr/>
          <p:nvPr/>
        </p:nvSpPr>
        <p:spPr>
          <a:xfrm>
            <a:off x="689015" y="6834068"/>
            <a:ext cx="13252371" cy="314801"/>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000000"/>
                </a:solidFill>
                <a:latin typeface="Open Sans" pitchFamily="34" charset="0"/>
                <a:ea typeface="Open Sans" pitchFamily="34" charset="-122"/>
                <a:cs typeface="Open Sans" pitchFamily="34" charset="-120"/>
              </a:rPr>
              <a:t>Condensación</a:t>
            </a:r>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 (Desfragmentación): Reorganiza los bloques de archivos para hacerlos contiguos.</a:t>
            </a:r>
            <a:endParaRPr lang="en-US" sz="1550" dirty="0"/>
          </a:p>
        </p:txBody>
      </p:sp>
      <p:sp>
        <p:nvSpPr>
          <p:cNvPr id="17" name="Text 15"/>
          <p:cNvSpPr/>
          <p:nvPr/>
        </p:nvSpPr>
        <p:spPr>
          <a:xfrm>
            <a:off x="689015" y="7217688"/>
            <a:ext cx="13252371" cy="314801"/>
          </a:xfrm>
          <a:prstGeom prst="rect">
            <a:avLst/>
          </a:prstGeom>
          <a:noFill/>
          <a:ln/>
        </p:spPr>
        <p:txBody>
          <a:bodyPr wrap="none" lIns="0" tIns="0" rIns="0" bIns="0" rtlCol="0" anchor="t"/>
          <a:lstStyle/>
          <a:p>
            <a:pPr algn="l" marL="342900" indent="-342900">
              <a:lnSpc>
                <a:spcPts val="2450"/>
              </a:lnSpc>
              <a:buSzPct val="100000"/>
              <a:buChar char="•"/>
            </a:pPr>
            <a:r>
              <a:rPr lang="en-US" sz="1550" b="1" dirty="0">
                <a:solidFill>
                  <a:srgbClr val="000000"/>
                </a:solidFill>
                <a:latin typeface="Open Sans" pitchFamily="34" charset="0"/>
                <a:ea typeface="Open Sans" pitchFamily="34" charset="-122"/>
                <a:cs typeface="Open Sans" pitchFamily="34" charset="-120"/>
              </a:rPr>
              <a:t>Recolección de basura:</a:t>
            </a:r>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 Proceso manual o automático que consolida el espacio libre.</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14124" y="614958"/>
            <a:ext cx="10978396" cy="548402"/>
          </a:xfrm>
          <a:prstGeom prst="rect">
            <a:avLst/>
          </a:prstGeom>
          <a:noFill/>
          <a:ln/>
        </p:spPr>
        <p:txBody>
          <a:bodyPr wrap="none" lIns="0" tIns="0" rIns="0" bIns="0" rtlCol="0" anchor="t"/>
          <a:lstStyle/>
          <a:p>
            <a:pPr algn="l" indent="0" marL="0">
              <a:lnSpc>
                <a:spcPts val="4300"/>
              </a:lnSpc>
              <a:buNone/>
            </a:pPr>
            <a:r>
              <a:rPr lang="en-US" sz="3450" dirty="0">
                <a:solidFill>
                  <a:srgbClr val="2C3F42"/>
                </a:solidFill>
                <a:latin typeface="Bitter Medium" pitchFamily="34" charset="0"/>
                <a:ea typeface="Bitter Medium" pitchFamily="34" charset="-122"/>
                <a:cs typeface="Bitter Medium" pitchFamily="34" charset="-120"/>
              </a:rPr>
              <a:t>Métodos de Administración del Espacio Libre en Disco</a:t>
            </a:r>
            <a:endParaRPr lang="en-US" sz="3450" dirty="0"/>
          </a:p>
        </p:txBody>
      </p:sp>
      <p:sp>
        <p:nvSpPr>
          <p:cNvPr id="3" name="Text 1"/>
          <p:cNvSpPr/>
          <p:nvPr/>
        </p:nvSpPr>
        <p:spPr>
          <a:xfrm>
            <a:off x="614124" y="1426488"/>
            <a:ext cx="13402151" cy="561499"/>
          </a:xfrm>
          <a:prstGeom prst="rect">
            <a:avLst/>
          </a:prstGeom>
          <a:noFill/>
          <a:ln/>
        </p:spPr>
        <p:txBody>
          <a:bodyPr wrap="square" lIns="0" tIns="0" rIns="0" bIns="0" rtlCol="0" anchor="t"/>
          <a:lstStyle/>
          <a:p>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La eficiencia de un sistema de archivos depende en gran medida de cómo gestiona el espacio de almacenamiento disponible. A continuación, se detallan los cuatro enfoques principales para rastrear los bloques libres.</a:t>
            </a:r>
            <a:endParaRPr lang="en-US" sz="1350" dirty="0"/>
          </a:p>
        </p:txBody>
      </p:sp>
      <p:sp>
        <p:nvSpPr>
          <p:cNvPr id="4" name="Shape 2"/>
          <p:cNvSpPr/>
          <p:nvPr/>
        </p:nvSpPr>
        <p:spPr>
          <a:xfrm>
            <a:off x="614124" y="2185392"/>
            <a:ext cx="6613327" cy="2626876"/>
          </a:xfrm>
          <a:prstGeom prst="roundRect">
            <a:avLst>
              <a:gd name="adj" fmla="val 2806"/>
            </a:avLst>
          </a:prstGeom>
          <a:solidFill>
            <a:srgbClr val="FFF8F0"/>
          </a:solidFill>
          <a:ln w="22860">
            <a:solidFill>
              <a:srgbClr val="FF9900"/>
            </a:solidFill>
            <a:prstDash val="solid"/>
          </a:ln>
        </p:spPr>
      </p:sp>
      <p:sp>
        <p:nvSpPr>
          <p:cNvPr id="5" name="Text 3"/>
          <p:cNvSpPr/>
          <p:nvPr/>
        </p:nvSpPr>
        <p:spPr>
          <a:xfrm>
            <a:off x="812363" y="2383631"/>
            <a:ext cx="2193608" cy="274082"/>
          </a:xfrm>
          <a:prstGeom prst="rect">
            <a:avLst/>
          </a:prstGeom>
          <a:noFill/>
          <a:ln/>
        </p:spPr>
        <p:txBody>
          <a:bodyPr wrap="none" lIns="0" tIns="0" rIns="0" bIns="0" rtlCol="0" anchor="t"/>
          <a:lstStyle/>
          <a:p>
            <a:pPr algn="l" indent="0" marL="0">
              <a:lnSpc>
                <a:spcPts val="2150"/>
              </a:lnSpc>
              <a:buNone/>
            </a:pPr>
            <a:r>
              <a:rPr lang="en-US" sz="1700" dirty="0">
                <a:solidFill>
                  <a:srgbClr val="2B2E3C"/>
                </a:solidFill>
                <a:latin typeface="Bitter Medium" pitchFamily="34" charset="0"/>
                <a:ea typeface="Bitter Medium" pitchFamily="34" charset="-122"/>
                <a:cs typeface="Bitter Medium" pitchFamily="34" charset="-120"/>
              </a:rPr>
              <a:t>Vector de bits</a:t>
            </a:r>
            <a:endParaRPr lang="en-US" sz="1700" dirty="0"/>
          </a:p>
        </p:txBody>
      </p:sp>
      <p:sp>
        <p:nvSpPr>
          <p:cNvPr id="6" name="Text 4"/>
          <p:cNvSpPr/>
          <p:nvPr/>
        </p:nvSpPr>
        <p:spPr>
          <a:xfrm>
            <a:off x="812363" y="2762964"/>
            <a:ext cx="6216848" cy="561499"/>
          </a:xfrm>
          <a:prstGeom prst="rect">
            <a:avLst/>
          </a:prstGeom>
          <a:noFill/>
          <a:ln/>
        </p:spPr>
        <p:txBody>
          <a:bodyPr wrap="square" lIns="0" tIns="0" rIns="0" bIns="0" rtlCol="0" anchor="t"/>
          <a:lstStyle/>
          <a:p>
            <a:pPr algn="l" indent="0" marL="0">
              <a:lnSpc>
                <a:spcPts val="2200"/>
              </a:lnSpc>
              <a:buNone/>
            </a:pPr>
            <a:r>
              <a:rPr lang="en-US" sz="1350" b="1" dirty="0">
                <a:solidFill>
                  <a:srgbClr val="2B2E3C"/>
                </a:solidFill>
                <a:latin typeface="Open Sans" pitchFamily="34" charset="0"/>
                <a:ea typeface="Open Sans" pitchFamily="34" charset="-122"/>
                <a:cs typeface="Open Sans" pitchFamily="34" charset="-120"/>
              </a:rPr>
              <a:t>Características: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Utiliza un mapa de bits donde cada bit representa el estado (libre o ocupado) de un bloque de disco.</a:t>
            </a:r>
            <a:endParaRPr lang="en-US" sz="1350" dirty="0"/>
          </a:p>
        </p:txBody>
      </p:sp>
      <p:sp>
        <p:nvSpPr>
          <p:cNvPr id="7" name="Text 5"/>
          <p:cNvSpPr/>
          <p:nvPr/>
        </p:nvSpPr>
        <p:spPr>
          <a:xfrm>
            <a:off x="812363" y="3429714"/>
            <a:ext cx="621684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Simple de implementar; eficaz para encontrar grandes bloques contiguos.</a:t>
            </a:r>
            <a:endParaRPr lang="en-US" sz="1350" dirty="0"/>
          </a:p>
        </p:txBody>
      </p:sp>
      <p:sp>
        <p:nvSpPr>
          <p:cNvPr id="8" name="Text 6"/>
          <p:cNvSpPr/>
          <p:nvPr/>
        </p:nvSpPr>
        <p:spPr>
          <a:xfrm>
            <a:off x="812363" y="4052530"/>
            <a:ext cx="621684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Desventajas: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Consume mucha memoria principal para discos muy grandes.</a:t>
            </a:r>
            <a:endParaRPr lang="en-US" sz="1350" dirty="0"/>
          </a:p>
        </p:txBody>
      </p:sp>
      <p:sp>
        <p:nvSpPr>
          <p:cNvPr id="9" name="Shape 7"/>
          <p:cNvSpPr/>
          <p:nvPr/>
        </p:nvSpPr>
        <p:spPr>
          <a:xfrm>
            <a:off x="7402830" y="2185392"/>
            <a:ext cx="6613446" cy="2626876"/>
          </a:xfrm>
          <a:prstGeom prst="roundRect">
            <a:avLst>
              <a:gd name="adj" fmla="val 2806"/>
            </a:avLst>
          </a:prstGeom>
          <a:solidFill>
            <a:srgbClr val="FFF8F0"/>
          </a:solidFill>
          <a:ln w="22860">
            <a:solidFill>
              <a:srgbClr val="FF9900"/>
            </a:solidFill>
            <a:prstDash val="solid"/>
          </a:ln>
        </p:spPr>
      </p:sp>
      <p:sp>
        <p:nvSpPr>
          <p:cNvPr id="10" name="Text 8"/>
          <p:cNvSpPr/>
          <p:nvPr/>
        </p:nvSpPr>
        <p:spPr>
          <a:xfrm>
            <a:off x="7601069" y="2383631"/>
            <a:ext cx="2193608" cy="274082"/>
          </a:xfrm>
          <a:prstGeom prst="rect">
            <a:avLst/>
          </a:prstGeom>
          <a:noFill/>
          <a:ln/>
        </p:spPr>
        <p:txBody>
          <a:bodyPr wrap="none" lIns="0" tIns="0" rIns="0" bIns="0" rtlCol="0" anchor="t"/>
          <a:lstStyle/>
          <a:p>
            <a:pPr algn="l" indent="0" marL="0">
              <a:lnSpc>
                <a:spcPts val="2150"/>
              </a:lnSpc>
              <a:buNone/>
            </a:pPr>
            <a:r>
              <a:rPr lang="en-US" sz="1700" dirty="0">
                <a:solidFill>
                  <a:srgbClr val="2B2E3C"/>
                </a:solidFill>
                <a:latin typeface="Bitter Medium" pitchFamily="34" charset="0"/>
                <a:ea typeface="Bitter Medium" pitchFamily="34" charset="-122"/>
                <a:cs typeface="Bitter Medium" pitchFamily="34" charset="-120"/>
              </a:rPr>
              <a:t>Lista Enlazada</a:t>
            </a:r>
            <a:endParaRPr lang="en-US" sz="1700" dirty="0"/>
          </a:p>
        </p:txBody>
      </p:sp>
      <p:sp>
        <p:nvSpPr>
          <p:cNvPr id="11" name="Text 9"/>
          <p:cNvSpPr/>
          <p:nvPr/>
        </p:nvSpPr>
        <p:spPr>
          <a:xfrm>
            <a:off x="7601069" y="2762964"/>
            <a:ext cx="6216968" cy="561499"/>
          </a:xfrm>
          <a:prstGeom prst="rect">
            <a:avLst/>
          </a:prstGeom>
          <a:noFill/>
          <a:ln/>
        </p:spPr>
        <p:txBody>
          <a:bodyPr wrap="square" lIns="0" tIns="0" rIns="0" bIns="0" rtlCol="0" anchor="t"/>
          <a:lstStyle/>
          <a:p>
            <a:pPr algn="l" indent="0" marL="0">
              <a:lnSpc>
                <a:spcPts val="2200"/>
              </a:lnSpc>
              <a:buNone/>
            </a:pPr>
            <a:r>
              <a:rPr lang="en-US" sz="1350" b="1" dirty="0">
                <a:solidFill>
                  <a:srgbClr val="2B2E3C"/>
                </a:solidFill>
                <a:latin typeface="Open Sans" pitchFamily="34" charset="0"/>
                <a:ea typeface="Open Sans" pitchFamily="34" charset="-122"/>
                <a:cs typeface="Open Sans" pitchFamily="34" charset="-120"/>
              </a:rPr>
              <a:t>Características: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Conecta todos los bloques libres en una lista mediante punteros dentro de los propios bloques.</a:t>
            </a:r>
            <a:endParaRPr lang="en-US" sz="1350" dirty="0"/>
          </a:p>
        </p:txBody>
      </p:sp>
      <p:sp>
        <p:nvSpPr>
          <p:cNvPr id="12" name="Text 10"/>
          <p:cNvSpPr/>
          <p:nvPr/>
        </p:nvSpPr>
        <p:spPr>
          <a:xfrm>
            <a:off x="7601069" y="3429714"/>
            <a:ext cx="621696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Baja sobrecarga de memoria; no requiere una estructura separada.</a:t>
            </a:r>
            <a:endParaRPr lang="en-US" sz="1350" dirty="0"/>
          </a:p>
        </p:txBody>
      </p:sp>
      <p:sp>
        <p:nvSpPr>
          <p:cNvPr id="13" name="Text 11"/>
          <p:cNvSpPr/>
          <p:nvPr/>
        </p:nvSpPr>
        <p:spPr>
          <a:xfrm>
            <a:off x="7601069" y="4052530"/>
            <a:ext cx="621696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Desventajas: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Lenta para recorrer y encontrar espacio contiguo; sensible a la corrupción de punteros.</a:t>
            </a:r>
            <a:endParaRPr lang="en-US" sz="1350" dirty="0"/>
          </a:p>
        </p:txBody>
      </p:sp>
      <p:sp>
        <p:nvSpPr>
          <p:cNvPr id="14" name="Shape 12"/>
          <p:cNvSpPr/>
          <p:nvPr/>
        </p:nvSpPr>
        <p:spPr>
          <a:xfrm>
            <a:off x="614124" y="4987647"/>
            <a:ext cx="6613327" cy="2626876"/>
          </a:xfrm>
          <a:prstGeom prst="roundRect">
            <a:avLst>
              <a:gd name="adj" fmla="val 2806"/>
            </a:avLst>
          </a:prstGeom>
          <a:solidFill>
            <a:srgbClr val="FFF8F0"/>
          </a:solidFill>
          <a:ln w="22860">
            <a:solidFill>
              <a:srgbClr val="FF9900"/>
            </a:solidFill>
            <a:prstDash val="solid"/>
          </a:ln>
        </p:spPr>
      </p:sp>
      <p:sp>
        <p:nvSpPr>
          <p:cNvPr id="15" name="Text 13"/>
          <p:cNvSpPr/>
          <p:nvPr/>
        </p:nvSpPr>
        <p:spPr>
          <a:xfrm>
            <a:off x="812363" y="5185886"/>
            <a:ext cx="2193608" cy="274082"/>
          </a:xfrm>
          <a:prstGeom prst="rect">
            <a:avLst/>
          </a:prstGeom>
          <a:noFill/>
          <a:ln/>
        </p:spPr>
        <p:txBody>
          <a:bodyPr wrap="none" lIns="0" tIns="0" rIns="0" bIns="0" rtlCol="0" anchor="t"/>
          <a:lstStyle/>
          <a:p>
            <a:pPr algn="l" indent="0" marL="0">
              <a:lnSpc>
                <a:spcPts val="2150"/>
              </a:lnSpc>
              <a:buNone/>
            </a:pPr>
            <a:r>
              <a:rPr lang="en-US" sz="1700" dirty="0">
                <a:solidFill>
                  <a:srgbClr val="2B2E3C"/>
                </a:solidFill>
                <a:latin typeface="Bitter Medium" pitchFamily="34" charset="0"/>
                <a:ea typeface="Bitter Medium" pitchFamily="34" charset="-122"/>
                <a:cs typeface="Bitter Medium" pitchFamily="34" charset="-120"/>
              </a:rPr>
              <a:t>Agrupación</a:t>
            </a:r>
            <a:endParaRPr lang="en-US" sz="1700" dirty="0"/>
          </a:p>
        </p:txBody>
      </p:sp>
      <p:sp>
        <p:nvSpPr>
          <p:cNvPr id="16" name="Text 14"/>
          <p:cNvSpPr/>
          <p:nvPr/>
        </p:nvSpPr>
        <p:spPr>
          <a:xfrm>
            <a:off x="812363" y="5565219"/>
            <a:ext cx="6216848" cy="561499"/>
          </a:xfrm>
          <a:prstGeom prst="rect">
            <a:avLst/>
          </a:prstGeom>
          <a:noFill/>
          <a:ln/>
        </p:spPr>
        <p:txBody>
          <a:bodyPr wrap="square" lIns="0" tIns="0" rIns="0" bIns="0" rtlCol="0" anchor="t"/>
          <a:lstStyle/>
          <a:p>
            <a:pPr algn="l" indent="0" marL="0">
              <a:lnSpc>
                <a:spcPts val="2200"/>
              </a:lnSpc>
              <a:buNone/>
            </a:pPr>
            <a:r>
              <a:rPr lang="en-US" sz="1350" b="1" dirty="0">
                <a:solidFill>
                  <a:srgbClr val="2B2E3C"/>
                </a:solidFill>
                <a:latin typeface="Open Sans" pitchFamily="34" charset="0"/>
                <a:ea typeface="Open Sans" pitchFamily="34" charset="-122"/>
                <a:cs typeface="Open Sans" pitchFamily="34" charset="-120"/>
              </a:rPr>
              <a:t>Características: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El primer bloque libre almacena las direcciones de un grupo de N bloques libres siguientes, y el último apunta al siguiente grupo.</a:t>
            </a:r>
            <a:endParaRPr lang="en-US" sz="1350" dirty="0"/>
          </a:p>
        </p:txBody>
      </p:sp>
      <p:sp>
        <p:nvSpPr>
          <p:cNvPr id="17" name="Text 15"/>
          <p:cNvSpPr/>
          <p:nvPr/>
        </p:nvSpPr>
        <p:spPr>
          <a:xfrm>
            <a:off x="812363" y="6231969"/>
            <a:ext cx="621684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Mejora la velocidad de acceso en comparación con la lista enlazada simple al recuperar múltiples direcciones simultáneamente.</a:t>
            </a:r>
            <a:endParaRPr lang="en-US" sz="1350" dirty="0"/>
          </a:p>
        </p:txBody>
      </p:sp>
      <p:sp>
        <p:nvSpPr>
          <p:cNvPr id="18" name="Text 16"/>
          <p:cNvSpPr/>
          <p:nvPr/>
        </p:nvSpPr>
        <p:spPr>
          <a:xfrm>
            <a:off x="812363" y="6854785"/>
            <a:ext cx="621684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Desventajas: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Mayor complejidad de gestión y manipulación de estructuras.</a:t>
            </a:r>
            <a:endParaRPr lang="en-US" sz="1350" dirty="0"/>
          </a:p>
        </p:txBody>
      </p:sp>
      <p:sp>
        <p:nvSpPr>
          <p:cNvPr id="19" name="Shape 17"/>
          <p:cNvSpPr/>
          <p:nvPr/>
        </p:nvSpPr>
        <p:spPr>
          <a:xfrm>
            <a:off x="7402830" y="4987647"/>
            <a:ext cx="6613446" cy="2626876"/>
          </a:xfrm>
          <a:prstGeom prst="roundRect">
            <a:avLst>
              <a:gd name="adj" fmla="val 2806"/>
            </a:avLst>
          </a:prstGeom>
          <a:solidFill>
            <a:srgbClr val="FFF8F0"/>
          </a:solidFill>
          <a:ln w="22860">
            <a:solidFill>
              <a:srgbClr val="FF9900"/>
            </a:solidFill>
            <a:prstDash val="solid"/>
          </a:ln>
        </p:spPr>
      </p:sp>
      <p:sp>
        <p:nvSpPr>
          <p:cNvPr id="20" name="Text 18"/>
          <p:cNvSpPr/>
          <p:nvPr/>
        </p:nvSpPr>
        <p:spPr>
          <a:xfrm>
            <a:off x="7601069" y="5185886"/>
            <a:ext cx="2193608" cy="274082"/>
          </a:xfrm>
          <a:prstGeom prst="rect">
            <a:avLst/>
          </a:prstGeom>
          <a:noFill/>
          <a:ln/>
        </p:spPr>
        <p:txBody>
          <a:bodyPr wrap="none" lIns="0" tIns="0" rIns="0" bIns="0" rtlCol="0" anchor="t"/>
          <a:lstStyle/>
          <a:p>
            <a:pPr algn="l" indent="0" marL="0">
              <a:lnSpc>
                <a:spcPts val="2150"/>
              </a:lnSpc>
              <a:buNone/>
            </a:pPr>
            <a:r>
              <a:rPr lang="en-US" sz="1700" dirty="0">
                <a:solidFill>
                  <a:srgbClr val="2B2E3C"/>
                </a:solidFill>
                <a:latin typeface="Bitter Medium" pitchFamily="34" charset="0"/>
                <a:ea typeface="Bitter Medium" pitchFamily="34" charset="-122"/>
                <a:cs typeface="Bitter Medium" pitchFamily="34" charset="-120"/>
              </a:rPr>
              <a:t>Conteo</a:t>
            </a:r>
            <a:endParaRPr lang="en-US" sz="1700" dirty="0"/>
          </a:p>
        </p:txBody>
      </p:sp>
      <p:sp>
        <p:nvSpPr>
          <p:cNvPr id="21" name="Text 19"/>
          <p:cNvSpPr/>
          <p:nvPr/>
        </p:nvSpPr>
        <p:spPr>
          <a:xfrm>
            <a:off x="7601069" y="5565219"/>
            <a:ext cx="6216968" cy="561499"/>
          </a:xfrm>
          <a:prstGeom prst="rect">
            <a:avLst/>
          </a:prstGeom>
          <a:noFill/>
          <a:ln/>
        </p:spPr>
        <p:txBody>
          <a:bodyPr wrap="square" lIns="0" tIns="0" rIns="0" bIns="0" rtlCol="0" anchor="t"/>
          <a:lstStyle/>
          <a:p>
            <a:pPr algn="l" indent="0" marL="0">
              <a:lnSpc>
                <a:spcPts val="2200"/>
              </a:lnSpc>
              <a:buNone/>
            </a:pPr>
            <a:r>
              <a:rPr lang="en-US" sz="1350" b="1" dirty="0">
                <a:solidFill>
                  <a:srgbClr val="2B2E3C"/>
                </a:solidFill>
                <a:latin typeface="Open Sans" pitchFamily="34" charset="0"/>
                <a:ea typeface="Open Sans" pitchFamily="34" charset="-122"/>
                <a:cs typeface="Open Sans" pitchFamily="34" charset="-120"/>
              </a:rPr>
              <a:t>Características: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Almacena la dirección del primer bloque libre junto con la cantidad de bloques contiguos disponibles a partir de ese punto.</a:t>
            </a:r>
            <a:endParaRPr lang="en-US" sz="1350" dirty="0"/>
          </a:p>
        </p:txBody>
      </p:sp>
      <p:sp>
        <p:nvSpPr>
          <p:cNvPr id="22" name="Text 20"/>
          <p:cNvSpPr/>
          <p:nvPr/>
        </p:nvSpPr>
        <p:spPr>
          <a:xfrm>
            <a:off x="7601069" y="6231969"/>
            <a:ext cx="621696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Extremadamente eficiente cuando se liberan o asignan grandes cantidades de espacio contiguo.</a:t>
            </a:r>
            <a:endParaRPr lang="en-US" sz="1350" dirty="0"/>
          </a:p>
        </p:txBody>
      </p:sp>
      <p:sp>
        <p:nvSpPr>
          <p:cNvPr id="23" name="Text 21"/>
          <p:cNvSpPr/>
          <p:nvPr/>
        </p:nvSpPr>
        <p:spPr>
          <a:xfrm>
            <a:off x="7601069" y="6854785"/>
            <a:ext cx="6216968" cy="561499"/>
          </a:xfrm>
          <a:prstGeom prst="rect">
            <a:avLst/>
          </a:prstGeom>
          <a:noFill/>
          <a:ln/>
        </p:spPr>
        <p:txBody>
          <a:bodyPr wrap="square" lIns="0" tIns="0" rIns="0" bIns="0" rtlCol="0" anchor="t"/>
          <a:lstStyle/>
          <a:p>
            <a:pPr algn="l" marL="342900" indent="-342900">
              <a:lnSpc>
                <a:spcPts val="2200"/>
              </a:lnSpc>
              <a:buSzPct val="100000"/>
              <a:buChar char="•"/>
            </a:pPr>
            <a:r>
              <a:rPr lang="en-US" sz="1350" b="1" dirty="0">
                <a:solidFill>
                  <a:srgbClr val="2B2E3C"/>
                </a:solidFill>
                <a:latin typeface="Open Sans" pitchFamily="34" charset="0"/>
                <a:ea typeface="Open Sans" pitchFamily="34" charset="-122"/>
                <a:cs typeface="Open Sans" pitchFamily="34" charset="-120"/>
              </a:rPr>
              <a:t>Desventajas:</a:t>
            </a:r>
            <a:pPr algn="l" indent="0" marL="0">
              <a:lnSpc>
                <a:spcPts val="2200"/>
              </a:lnSpc>
              <a:buNone/>
            </a:pPr>
            <a:r>
              <a:rPr lang="en-US" sz="1350" dirty="0">
                <a:solidFill>
                  <a:srgbClr val="2B2E3C"/>
                </a:solidFill>
                <a:latin typeface="Open Sans" pitchFamily="34" charset="0"/>
                <a:ea typeface="Open Sans" pitchFamily="34" charset="-122"/>
                <a:cs typeface="Open Sans" pitchFamily="34" charset="-120"/>
              </a:rPr>
              <a:t> Requiere mecanismos externos para consolidar las ejecuciones contiguas de bloques.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4252" y="640199"/>
            <a:ext cx="11729204" cy="610910"/>
          </a:xfrm>
          <a:prstGeom prst="rect">
            <a:avLst/>
          </a:prstGeom>
          <a:noFill/>
          <a:ln/>
        </p:spPr>
        <p:txBody>
          <a:bodyPr wrap="none" lIns="0" tIns="0" rIns="0" bIns="0" rtlCol="0" anchor="t"/>
          <a:lstStyle/>
          <a:p>
            <a:pPr algn="l" indent="0" marL="0">
              <a:lnSpc>
                <a:spcPts val="4800"/>
              </a:lnSpc>
              <a:buNone/>
            </a:pPr>
            <a:r>
              <a:rPr lang="en-US" sz="3800" dirty="0">
                <a:solidFill>
                  <a:srgbClr val="000000"/>
                </a:solidFill>
                <a:latin typeface="Bitter Medium" pitchFamily="34" charset="0"/>
                <a:ea typeface="Bitter Medium" pitchFamily="34" charset="-122"/>
                <a:cs typeface="Bitter Medium" pitchFamily="34" charset="-120"/>
              </a:rPr>
              <a:t>Conclusión: La Importancia del Sistema de Archivos</a:t>
            </a:r>
            <a:endParaRPr lang="en-US" sz="3800" dirty="0"/>
          </a:p>
        </p:txBody>
      </p:sp>
      <p:sp>
        <p:nvSpPr>
          <p:cNvPr id="3" name="Text 1"/>
          <p:cNvSpPr/>
          <p:nvPr/>
        </p:nvSpPr>
        <p:spPr>
          <a:xfrm>
            <a:off x="977503" y="1862018"/>
            <a:ext cx="12968645" cy="1563886"/>
          </a:xfrm>
          <a:prstGeom prst="rect">
            <a:avLst/>
          </a:prstGeom>
          <a:noFill/>
          <a:ln/>
        </p:spPr>
        <p:txBody>
          <a:bodyPr wrap="square" lIns="0" tIns="0" rIns="0" bIns="0" rtlCol="0" anchor="t"/>
          <a:lstStyle/>
          <a:p>
            <a:pPr algn="l" indent="0" marL="0">
              <a:lnSpc>
                <a:spcPts val="2450"/>
              </a:lnSpc>
              <a:buNone/>
            </a:pPr>
            <a:r>
              <a:rPr lang="en-US" sz="1500" dirty="0">
                <a:solidFill>
                  <a:srgbClr val="2B2E3C"/>
                </a:solidFill>
                <a:latin typeface="Open Sans" pitchFamily="34" charset="0"/>
                <a:ea typeface="Open Sans" pitchFamily="34" charset="-122"/>
                <a:cs typeface="Open Sans" pitchFamily="34" charset="-120"/>
              </a:rPr>
              <a:t>El conocimiento profundo del sistema de archivos es esencial para cualquier usuario y administrador. Comprender cómo se almacena, organiza y accede la información, desde la estructuración de directorios jerárquicos y nodos-I, hasta las jerarquías avanzadas para compartir recursos, es fundamental. Esta base permite una administración eficaz de archivos y directorios, optimiza el rendimiento mediante la gestión del espacio en disco y la compresión, y asegura la implementación de copias de seguridad robustas. Dominar estos conceptos garantiza la integridad, seguridad y disponibilidad de la información, vital para la operación fluida del sistema y la protección contra la pérdida de datos.</a:t>
            </a:r>
            <a:endParaRPr lang="en-US" sz="1500" dirty="0"/>
          </a:p>
        </p:txBody>
      </p:sp>
      <p:sp>
        <p:nvSpPr>
          <p:cNvPr id="4" name="Shape 2"/>
          <p:cNvSpPr/>
          <p:nvPr/>
        </p:nvSpPr>
        <p:spPr>
          <a:xfrm>
            <a:off x="684252" y="1642110"/>
            <a:ext cx="22860" cy="2003703"/>
          </a:xfrm>
          <a:prstGeom prst="rect">
            <a:avLst/>
          </a:prstGeom>
          <a:solidFill>
            <a:srgbClr val="D2600F"/>
          </a:solidFill>
          <a:ln/>
        </p:spPr>
      </p:sp>
      <p:pic>
        <p:nvPicPr>
          <p:cNvPr id="5" name="Image 0" descr="preencoded.png">    </p:cNvPr>
          <p:cNvPicPr>
            <a:picLocks noChangeAspect="1"/>
          </p:cNvPicPr>
          <p:nvPr/>
        </p:nvPicPr>
        <p:blipFill>
          <a:blip r:embed="rId1"/>
          <a:stretch>
            <a:fillRect/>
          </a:stretch>
        </p:blipFill>
        <p:spPr>
          <a:xfrm>
            <a:off x="3553897" y="3865721"/>
            <a:ext cx="7522488" cy="372356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2025-10-23T06:27:58Z</dcterms:created>
  <dcterms:modified xsi:type="dcterms:W3CDTF">2025-10-23T06:27:58Z</dcterms:modified>
</cp:coreProperties>
</file>
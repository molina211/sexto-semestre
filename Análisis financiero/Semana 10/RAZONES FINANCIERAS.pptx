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26AF44C-5CEC-4553-B669-9AF17B749601}" type="datetimeFigureOut">
              <a:rPr lang="es-CO" smtClean="0"/>
              <a:t>10/04/2025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CA3D813-310F-4CD1-80F0-2D1567A00706}" type="slidenum">
              <a:rPr lang="es-CO" smtClean="0"/>
              <a:t>‹Nº›</a:t>
            </a:fld>
            <a:endParaRPr lang="es-C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203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26AF44C-5CEC-4553-B669-9AF17B749601}" type="datetimeFigureOut">
              <a:rPr lang="es-CO" smtClean="0"/>
              <a:t>10/04/2025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CA3D813-310F-4CD1-80F0-2D1567A00706}" type="slidenum">
              <a:rPr lang="es-CO" smtClean="0"/>
              <a:t>‹Nº›</a:t>
            </a:fld>
            <a:endParaRPr lang="es-CO"/>
          </a:p>
        </p:txBody>
      </p:sp>
    </p:spTree>
    <p:extLst>
      <p:ext uri="{BB962C8B-B14F-4D97-AF65-F5344CB8AC3E}">
        <p14:creationId xmlns:p14="http://schemas.microsoft.com/office/powerpoint/2010/main" val="3658777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26AF44C-5CEC-4553-B669-9AF17B749601}" type="datetimeFigureOut">
              <a:rPr lang="es-CO" smtClean="0"/>
              <a:t>10/04/2025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CA3D813-310F-4CD1-80F0-2D1567A00706}" type="slidenum">
              <a:rPr lang="es-CO" smtClean="0"/>
              <a:t>‹Nº›</a:t>
            </a:fld>
            <a:endParaRPr lang="es-C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656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26AF44C-5CEC-4553-B669-9AF17B749601}" type="datetimeFigureOut">
              <a:rPr lang="es-CO" smtClean="0"/>
              <a:t>10/04/2025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3CA3D813-310F-4CD1-80F0-2D1567A00706}" type="slidenum">
              <a:rPr lang="es-CO" smtClean="0"/>
              <a:t>‹Nº›</a:t>
            </a:fld>
            <a:endParaRPr lang="es-CO"/>
          </a:p>
        </p:txBody>
      </p:sp>
    </p:spTree>
    <p:extLst>
      <p:ext uri="{BB962C8B-B14F-4D97-AF65-F5344CB8AC3E}">
        <p14:creationId xmlns:p14="http://schemas.microsoft.com/office/powerpoint/2010/main" val="563238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26AF44C-5CEC-4553-B669-9AF17B749601}" type="datetimeFigureOut">
              <a:rPr lang="es-CO" smtClean="0"/>
              <a:t>10/04/2025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3CA3D813-310F-4CD1-80F0-2D1567A00706}" type="slidenum">
              <a:rPr lang="es-CO" smtClean="0"/>
              <a:t>‹Nº›</a:t>
            </a:fld>
            <a:endParaRPr lang="es-CO"/>
          </a:p>
        </p:txBody>
      </p:sp>
    </p:spTree>
    <p:extLst>
      <p:ext uri="{BB962C8B-B14F-4D97-AF65-F5344CB8AC3E}">
        <p14:creationId xmlns:p14="http://schemas.microsoft.com/office/powerpoint/2010/main" val="2484100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26AF44C-5CEC-4553-B669-9AF17B749601}" type="datetimeFigureOut">
              <a:rPr lang="es-CO" smtClean="0"/>
              <a:t>10/04/2025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3CA3D813-310F-4CD1-80F0-2D1567A00706}" type="slidenum">
              <a:rPr lang="es-CO" smtClean="0"/>
              <a:t>‹Nº›</a:t>
            </a:fld>
            <a:endParaRPr lang="es-CO"/>
          </a:p>
        </p:txBody>
      </p:sp>
    </p:spTree>
    <p:extLst>
      <p:ext uri="{BB962C8B-B14F-4D97-AF65-F5344CB8AC3E}">
        <p14:creationId xmlns:p14="http://schemas.microsoft.com/office/powerpoint/2010/main" val="820899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26AF44C-5CEC-4553-B669-9AF17B749601}" type="datetimeFigureOut">
              <a:rPr lang="es-CO" smtClean="0"/>
              <a:t>10/04/2025</a:t>
            </a:fld>
            <a:endParaRPr lang="es-C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CO"/>
          </a:p>
        </p:txBody>
      </p:sp>
      <p:sp>
        <p:nvSpPr>
          <p:cNvPr id="9" name="Slide Number Placeholder 8"/>
          <p:cNvSpPr>
            <a:spLocks noGrp="1"/>
          </p:cNvSpPr>
          <p:nvPr>
            <p:ph type="sldNum" sz="quarter" idx="12"/>
          </p:nvPr>
        </p:nvSpPr>
        <p:spPr/>
        <p:txBody>
          <a:bodyPr/>
          <a:lstStyle/>
          <a:p>
            <a:fld id="{3CA3D813-310F-4CD1-80F0-2D1567A00706}" type="slidenum">
              <a:rPr lang="es-CO" smtClean="0"/>
              <a:t>‹Nº›</a:t>
            </a:fld>
            <a:endParaRPr lang="es-CO"/>
          </a:p>
        </p:txBody>
      </p:sp>
    </p:spTree>
    <p:extLst>
      <p:ext uri="{BB962C8B-B14F-4D97-AF65-F5344CB8AC3E}">
        <p14:creationId xmlns:p14="http://schemas.microsoft.com/office/powerpoint/2010/main" val="3678667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26AF44C-5CEC-4553-B669-9AF17B749601}" type="datetimeFigureOut">
              <a:rPr lang="es-CO" smtClean="0"/>
              <a:t>10/04/2025</a:t>
            </a:fld>
            <a:endParaRPr lang="es-CO"/>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C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CA3D813-310F-4CD1-80F0-2D1567A00706}" type="slidenum">
              <a:rPr lang="es-CO" smtClean="0"/>
              <a:t>‹Nº›</a:t>
            </a:fld>
            <a:endParaRPr lang="es-CO"/>
          </a:p>
        </p:txBody>
      </p:sp>
    </p:spTree>
    <p:extLst>
      <p:ext uri="{BB962C8B-B14F-4D97-AF65-F5344CB8AC3E}">
        <p14:creationId xmlns:p14="http://schemas.microsoft.com/office/powerpoint/2010/main" val="744376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26AF44C-5CEC-4553-B669-9AF17B749601}" type="datetimeFigureOut">
              <a:rPr lang="es-CO" smtClean="0"/>
              <a:t>10/04/2025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3CA3D813-310F-4CD1-80F0-2D1567A00706}" type="slidenum">
              <a:rPr lang="es-CO" smtClean="0"/>
              <a:t>‹Nº›</a:t>
            </a:fld>
            <a:endParaRPr lang="es-CO"/>
          </a:p>
        </p:txBody>
      </p:sp>
    </p:spTree>
    <p:extLst>
      <p:ext uri="{BB962C8B-B14F-4D97-AF65-F5344CB8AC3E}">
        <p14:creationId xmlns:p14="http://schemas.microsoft.com/office/powerpoint/2010/main" val="1323193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26AF44C-5CEC-4553-B669-9AF17B749601}" type="datetimeFigureOut">
              <a:rPr lang="es-CO" smtClean="0"/>
              <a:t>10/04/2025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CA3D813-310F-4CD1-80F0-2D1567A00706}" type="slidenum">
              <a:rPr lang="es-CO" smtClean="0"/>
              <a:t>‹Nº›</a:t>
            </a:fld>
            <a:endParaRPr lang="es-CO"/>
          </a:p>
        </p:txBody>
      </p:sp>
    </p:spTree>
    <p:extLst>
      <p:ext uri="{BB962C8B-B14F-4D97-AF65-F5344CB8AC3E}">
        <p14:creationId xmlns:p14="http://schemas.microsoft.com/office/powerpoint/2010/main" val="3731585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26AF44C-5CEC-4553-B669-9AF17B749601}" type="datetimeFigureOut">
              <a:rPr lang="es-CO" smtClean="0"/>
              <a:t>10/04/2025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CA3D813-310F-4CD1-80F0-2D1567A00706}" type="slidenum">
              <a:rPr lang="es-CO" smtClean="0"/>
              <a:t>‹Nº›</a:t>
            </a:fld>
            <a:endParaRPr lang="es-CO"/>
          </a:p>
        </p:txBody>
      </p:sp>
    </p:spTree>
    <p:extLst>
      <p:ext uri="{BB962C8B-B14F-4D97-AF65-F5344CB8AC3E}">
        <p14:creationId xmlns:p14="http://schemas.microsoft.com/office/powerpoint/2010/main" val="3106159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26AF44C-5CEC-4553-B669-9AF17B749601}" type="datetimeFigureOut">
              <a:rPr lang="es-CO" smtClean="0"/>
              <a:t>10/04/2025</a:t>
            </a:fld>
            <a:endParaRPr lang="es-CO"/>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CO"/>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CA3D813-310F-4CD1-80F0-2D1567A00706}" type="slidenum">
              <a:rPr lang="es-CO" smtClean="0"/>
              <a:t>‹Nº›</a:t>
            </a:fld>
            <a:endParaRPr lang="es-CO"/>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928654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7F6D35C-1090-67C2-F472-A5E9264A888C}"/>
              </a:ext>
            </a:extLst>
          </p:cNvPr>
          <p:cNvPicPr>
            <a:picLocks noChangeAspect="1"/>
          </p:cNvPicPr>
          <p:nvPr/>
        </p:nvPicPr>
        <p:blipFill>
          <a:blip r:embed="rId2"/>
          <a:srcRect r="12933" b="-1"/>
          <a:stretch/>
        </p:blipFill>
        <p:spPr>
          <a:xfrm>
            <a:off x="1" y="10"/>
            <a:ext cx="9669642" cy="6857990"/>
          </a:xfrm>
          <a:prstGeom prst="rect">
            <a:avLst/>
          </a:prstGeom>
        </p:spPr>
      </p:pic>
      <p:sp>
        <p:nvSpPr>
          <p:cNvPr id="2" name="Título 1">
            <a:extLst>
              <a:ext uri="{FF2B5EF4-FFF2-40B4-BE49-F238E27FC236}">
                <a16:creationId xmlns:a16="http://schemas.microsoft.com/office/drawing/2014/main" id="{51756564-A0DF-64A1-1F41-566EFD8510B5}"/>
              </a:ext>
            </a:extLst>
          </p:cNvPr>
          <p:cNvSpPr>
            <a:spLocks noGrp="1"/>
          </p:cNvSpPr>
          <p:nvPr>
            <p:ph type="ctrTitle"/>
          </p:nvPr>
        </p:nvSpPr>
        <p:spPr>
          <a:xfrm>
            <a:off x="7180290" y="743447"/>
            <a:ext cx="4200878" cy="3692028"/>
          </a:xfrm>
          <a:noFill/>
        </p:spPr>
        <p:txBody>
          <a:bodyPr>
            <a:normAutofit/>
          </a:bodyPr>
          <a:lstStyle/>
          <a:p>
            <a:r>
              <a:rPr lang="es-MX" sz="5200" b="1" dirty="0"/>
              <a:t>RAZONES FINANCIERAS</a:t>
            </a:r>
            <a:endParaRPr lang="es-CO" sz="5200" b="1" dirty="0"/>
          </a:p>
        </p:txBody>
      </p:sp>
    </p:spTree>
    <p:extLst>
      <p:ext uri="{BB962C8B-B14F-4D97-AF65-F5344CB8AC3E}">
        <p14:creationId xmlns:p14="http://schemas.microsoft.com/office/powerpoint/2010/main" val="177799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2D9F6B-60E2-20B4-ECC1-98A0380C99FF}"/>
              </a:ext>
            </a:extLst>
          </p:cNvPr>
          <p:cNvSpPr>
            <a:spLocks noGrp="1"/>
          </p:cNvSpPr>
          <p:nvPr>
            <p:ph type="title"/>
          </p:nvPr>
        </p:nvSpPr>
        <p:spPr/>
        <p:txBody>
          <a:bodyPr/>
          <a:lstStyle/>
          <a:p>
            <a:pPr algn="ctr"/>
            <a:r>
              <a:rPr lang="es-MX" b="1" i="0" dirty="0">
                <a:solidFill>
                  <a:srgbClr val="000000"/>
                </a:solidFill>
                <a:effectLst/>
                <a:latin typeface="Satoshi"/>
              </a:rPr>
              <a:t>¿Qué son las razones financieras?</a:t>
            </a:r>
            <a:br>
              <a:rPr lang="es-MX" b="1" i="0" dirty="0">
                <a:solidFill>
                  <a:srgbClr val="000000"/>
                </a:solidFill>
                <a:effectLst/>
                <a:latin typeface="Satoshi"/>
              </a:rPr>
            </a:br>
            <a:endParaRPr lang="es-CO" dirty="0"/>
          </a:p>
        </p:txBody>
      </p:sp>
      <p:sp>
        <p:nvSpPr>
          <p:cNvPr id="3" name="Marcador de contenido 2">
            <a:extLst>
              <a:ext uri="{FF2B5EF4-FFF2-40B4-BE49-F238E27FC236}">
                <a16:creationId xmlns:a16="http://schemas.microsoft.com/office/drawing/2014/main" id="{C96B1C4C-CB0F-4A1F-B272-11C3B3A62C2D}"/>
              </a:ext>
            </a:extLst>
          </p:cNvPr>
          <p:cNvSpPr>
            <a:spLocks noGrp="1"/>
          </p:cNvSpPr>
          <p:nvPr>
            <p:ph idx="1"/>
          </p:nvPr>
        </p:nvSpPr>
        <p:spPr/>
        <p:txBody>
          <a:bodyPr>
            <a:normAutofit/>
          </a:bodyPr>
          <a:lstStyle/>
          <a:p>
            <a:pPr algn="just"/>
            <a:r>
              <a:rPr lang="es-MX" sz="4400" b="0" i="0" dirty="0">
                <a:solidFill>
                  <a:srgbClr val="000000"/>
                </a:solidFill>
                <a:effectLst/>
                <a:latin typeface="Satoshi"/>
              </a:rPr>
              <a:t>Las </a:t>
            </a:r>
            <a:r>
              <a:rPr lang="es-MX" sz="4400" b="1" i="0" dirty="0">
                <a:solidFill>
                  <a:srgbClr val="000000"/>
                </a:solidFill>
                <a:effectLst/>
                <a:latin typeface="Satoshi"/>
              </a:rPr>
              <a:t>razones financieras</a:t>
            </a:r>
            <a:r>
              <a:rPr lang="es-MX" sz="4400" b="0" i="0" dirty="0">
                <a:solidFill>
                  <a:srgbClr val="000000"/>
                </a:solidFill>
                <a:effectLst/>
                <a:latin typeface="Satoshi"/>
              </a:rPr>
              <a:t> son indicadores claves del desempeño financiero de una empresa, creadas con la utilización de montos numéricos emanados de los estados financieros para obtener información sobre una organización</a:t>
            </a:r>
            <a:r>
              <a:rPr lang="es-MX" b="0" i="0" dirty="0">
                <a:solidFill>
                  <a:srgbClr val="000000"/>
                </a:solidFill>
                <a:effectLst/>
                <a:latin typeface="Satoshi"/>
              </a:rPr>
              <a:t>.</a:t>
            </a:r>
            <a:endParaRPr lang="es-CO" dirty="0"/>
          </a:p>
        </p:txBody>
      </p:sp>
    </p:spTree>
    <p:extLst>
      <p:ext uri="{BB962C8B-B14F-4D97-AF65-F5344CB8AC3E}">
        <p14:creationId xmlns:p14="http://schemas.microsoft.com/office/powerpoint/2010/main" val="821835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0363D51-921B-F264-3AFA-8A979BFCD86B}"/>
              </a:ext>
            </a:extLst>
          </p:cNvPr>
          <p:cNvSpPr>
            <a:spLocks noGrp="1"/>
          </p:cNvSpPr>
          <p:nvPr>
            <p:ph idx="1"/>
          </p:nvPr>
        </p:nvSpPr>
        <p:spPr>
          <a:xfrm>
            <a:off x="838200" y="836274"/>
            <a:ext cx="10515600" cy="4351338"/>
          </a:xfrm>
        </p:spPr>
        <p:txBody>
          <a:bodyPr>
            <a:noAutofit/>
          </a:bodyPr>
          <a:lstStyle/>
          <a:p>
            <a:r>
              <a:rPr lang="es-MX" dirty="0"/>
              <a:t>Los números que se encuentran en los estados financieros de una empresa, que son balance general, estado de ingresos y estado de flujo de efectivo, se utilizan para hacer un análisis cuantitativo y evaluar liquidez, crecimiento, márgenes, tasas de rendimiento, apalancamiento, rentabilidad y valoración de una empresa.</a:t>
            </a:r>
          </a:p>
          <a:p>
            <a:endParaRPr lang="es-MX" dirty="0"/>
          </a:p>
          <a:p>
            <a:r>
              <a:rPr lang="es-MX" dirty="0"/>
              <a:t>Cuando se trata de invertir, el análisis de la información de los estados financieros es uno de los elementos más importantes del proceso, si no el más importante.</a:t>
            </a:r>
          </a:p>
          <a:p>
            <a:endParaRPr lang="es-MX" dirty="0"/>
          </a:p>
          <a:p>
            <a:r>
              <a:rPr lang="es-MX" dirty="0"/>
              <a:t>Al mismo tiempo, la gran cantidad de números en los estados financieros de una compañía puede ser desconcertante e intimidante para muchos inversores. Sin embargo, a través del análisis de las razones financieras, se podrá trabajar con estos números de manera organizada.</a:t>
            </a:r>
            <a:endParaRPr lang="es-CO" dirty="0"/>
          </a:p>
        </p:txBody>
      </p:sp>
    </p:spTree>
    <p:extLst>
      <p:ext uri="{BB962C8B-B14F-4D97-AF65-F5344CB8AC3E}">
        <p14:creationId xmlns:p14="http://schemas.microsoft.com/office/powerpoint/2010/main" val="525995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49E25-1DE4-15E9-EDE0-7A4DA437E2F1}"/>
              </a:ext>
            </a:extLst>
          </p:cNvPr>
          <p:cNvSpPr>
            <a:spLocks noGrp="1"/>
          </p:cNvSpPr>
          <p:nvPr>
            <p:ph type="title"/>
          </p:nvPr>
        </p:nvSpPr>
        <p:spPr/>
        <p:txBody>
          <a:bodyPr>
            <a:normAutofit fontScale="90000"/>
          </a:bodyPr>
          <a:lstStyle/>
          <a:p>
            <a:r>
              <a:rPr lang="es-MX" b="1" i="0" dirty="0">
                <a:solidFill>
                  <a:srgbClr val="000000"/>
                </a:solidFill>
                <a:effectLst/>
                <a:latin typeface="Satoshi"/>
              </a:rPr>
              <a:t>Tipos de razones financieras y sus características</a:t>
            </a:r>
            <a:br>
              <a:rPr lang="es-MX" b="1" i="0" dirty="0">
                <a:solidFill>
                  <a:srgbClr val="000000"/>
                </a:solidFill>
                <a:effectLst/>
                <a:latin typeface="Satoshi"/>
              </a:rPr>
            </a:br>
            <a:endParaRPr lang="es-CO" dirty="0"/>
          </a:p>
        </p:txBody>
      </p:sp>
      <p:sp>
        <p:nvSpPr>
          <p:cNvPr id="3" name="Marcador de contenido 2">
            <a:extLst>
              <a:ext uri="{FF2B5EF4-FFF2-40B4-BE49-F238E27FC236}">
                <a16:creationId xmlns:a16="http://schemas.microsoft.com/office/drawing/2014/main" id="{F4215161-F13E-A72B-5BFD-F0BFEAA3C8A5}"/>
              </a:ext>
            </a:extLst>
          </p:cNvPr>
          <p:cNvSpPr>
            <a:spLocks noGrp="1"/>
          </p:cNvSpPr>
          <p:nvPr>
            <p:ph idx="1"/>
          </p:nvPr>
        </p:nvSpPr>
        <p:spPr>
          <a:xfrm>
            <a:off x="838200" y="1259174"/>
            <a:ext cx="10515600" cy="5233701"/>
          </a:xfrm>
        </p:spPr>
        <p:txBody>
          <a:bodyPr>
            <a:normAutofit lnSpcReduction="10000"/>
          </a:bodyPr>
          <a:lstStyle/>
          <a:p>
            <a:r>
              <a:rPr lang="es-MX" b="1" dirty="0"/>
              <a:t>Razones de liquidez</a:t>
            </a:r>
            <a:r>
              <a:rPr lang="es-MX" dirty="0"/>
              <a:t>. Miden la capacidad de una empresa para pagar sus obligaciones financieras a corto y largo plazo. Las razones financieras de liquidez más comunes incluyen las siguientes:</a:t>
            </a:r>
          </a:p>
          <a:p>
            <a:endParaRPr lang="es-MX" dirty="0"/>
          </a:p>
          <a:p>
            <a:pPr marL="0" indent="0">
              <a:buNone/>
            </a:pPr>
            <a:r>
              <a:rPr lang="es-MX" dirty="0"/>
              <a:t>Razón circulante. Mide la capacidad de una empresa para pagar los pasivos a corto plazo con los activos circulantes:</a:t>
            </a:r>
          </a:p>
          <a:p>
            <a:pPr marL="0" indent="0">
              <a:buNone/>
            </a:pPr>
            <a:r>
              <a:rPr lang="es-MX" dirty="0"/>
              <a:t>Razón circulante = activos circulantes / pasivos circulantes.</a:t>
            </a:r>
          </a:p>
          <a:p>
            <a:endParaRPr lang="es-MX" dirty="0"/>
          </a:p>
          <a:p>
            <a:pPr marL="0" indent="0">
              <a:buNone/>
            </a:pPr>
            <a:r>
              <a:rPr lang="es-MX" dirty="0"/>
              <a:t>Razón rápida. Mide la capacidad de una empresa para pagar los pasivos a corto plazo con activos rápidos:</a:t>
            </a:r>
          </a:p>
          <a:p>
            <a:pPr marL="0" indent="0">
              <a:buNone/>
            </a:pPr>
            <a:r>
              <a:rPr lang="es-MX" dirty="0"/>
              <a:t>Razón rápida = (activos circulantes – inventarios) / pasivos circulantes.</a:t>
            </a:r>
          </a:p>
          <a:p>
            <a:endParaRPr lang="es-MX" dirty="0"/>
          </a:p>
          <a:p>
            <a:pPr marL="0" indent="0">
              <a:buNone/>
            </a:pPr>
            <a:r>
              <a:rPr lang="es-MX" dirty="0"/>
              <a:t>Razón de flujo de efectivo operativo. Es una medida de la cantidad de veces que una empresa puede pagar los pasivos circulantes con el efectivo generado en un período determinado:</a:t>
            </a:r>
          </a:p>
          <a:p>
            <a:pPr marL="0" indent="0">
              <a:buNone/>
            </a:pPr>
            <a:r>
              <a:rPr lang="es-MX" dirty="0"/>
              <a:t>Razón de flujo de efectivo operativo = flujo de efectivo operativo / pasivos circulantes.</a:t>
            </a:r>
            <a:endParaRPr lang="es-CO" dirty="0"/>
          </a:p>
        </p:txBody>
      </p:sp>
    </p:spTree>
    <p:extLst>
      <p:ext uri="{BB962C8B-B14F-4D97-AF65-F5344CB8AC3E}">
        <p14:creationId xmlns:p14="http://schemas.microsoft.com/office/powerpoint/2010/main" val="1405240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5471EC5-0625-44C0-7118-3611663D24BA}"/>
              </a:ext>
            </a:extLst>
          </p:cNvPr>
          <p:cNvSpPr>
            <a:spLocks noGrp="1"/>
          </p:cNvSpPr>
          <p:nvPr>
            <p:ph idx="1"/>
          </p:nvPr>
        </p:nvSpPr>
        <p:spPr>
          <a:xfrm>
            <a:off x="838200" y="359764"/>
            <a:ext cx="10515600" cy="5817199"/>
          </a:xfrm>
        </p:spPr>
        <p:txBody>
          <a:bodyPr>
            <a:normAutofit fontScale="85000" lnSpcReduction="20000"/>
          </a:bodyPr>
          <a:lstStyle/>
          <a:p>
            <a:r>
              <a:rPr lang="es-MX" b="1" dirty="0"/>
              <a:t>Razones de apalancamiento</a:t>
            </a:r>
            <a:r>
              <a:rPr lang="es-MX" dirty="0"/>
              <a:t>. Miden la cantidad de capital que proviene de la deuda. En otras palabras, las razones financieras de apalancamiento se utilizan para evaluar los niveles de deuda de una empresa. Las más comunes incluyen:</a:t>
            </a:r>
          </a:p>
          <a:p>
            <a:endParaRPr lang="es-MX" dirty="0"/>
          </a:p>
          <a:p>
            <a:pPr marL="0" indent="0">
              <a:buNone/>
            </a:pPr>
            <a:r>
              <a:rPr lang="es-MX" dirty="0"/>
              <a:t>Razón deuda activos. Mide la cantidad relativa de los activos de una empresa que son proporcionados gracias a la deuda:</a:t>
            </a:r>
          </a:p>
          <a:p>
            <a:pPr marL="0" indent="0">
              <a:buNone/>
            </a:pPr>
            <a:endParaRPr lang="es-MX" dirty="0"/>
          </a:p>
          <a:p>
            <a:pPr marL="0" indent="0">
              <a:buNone/>
            </a:pPr>
            <a:r>
              <a:rPr lang="es-MX" dirty="0"/>
              <a:t>Razón deuda a activos = pasivos totales / activos totales.</a:t>
            </a:r>
          </a:p>
          <a:p>
            <a:pPr marL="0" indent="0">
              <a:buNone/>
            </a:pPr>
            <a:endParaRPr lang="es-MX" dirty="0"/>
          </a:p>
          <a:p>
            <a:pPr marL="0" indent="0">
              <a:buNone/>
            </a:pPr>
            <a:r>
              <a:rPr lang="es-MX" dirty="0"/>
              <a:t>Razón deuda a capital. Calcula el peso de la deuda total y los pasivos financieros frente al capital contable:</a:t>
            </a:r>
          </a:p>
          <a:p>
            <a:pPr marL="0" indent="0">
              <a:buNone/>
            </a:pPr>
            <a:r>
              <a:rPr lang="es-MX" dirty="0"/>
              <a:t>Razón deuda a capital = Pasivos totales / Patrimonio de los accionistas.</a:t>
            </a:r>
          </a:p>
          <a:p>
            <a:pPr marL="0" indent="0">
              <a:buNone/>
            </a:pPr>
            <a:endParaRPr lang="es-MX" dirty="0"/>
          </a:p>
          <a:p>
            <a:pPr marL="0" indent="0">
              <a:buNone/>
            </a:pPr>
            <a:r>
              <a:rPr lang="es-MX" dirty="0"/>
              <a:t>Razón de cobertura de intereses. Determina la facilidad con que una empresa puede pagar sus gastos de intereses:</a:t>
            </a:r>
          </a:p>
          <a:p>
            <a:pPr marL="0" indent="0">
              <a:buNone/>
            </a:pPr>
            <a:r>
              <a:rPr lang="es-MX" dirty="0"/>
              <a:t>Razón de cobertura de intereses = ingresos operativos / gastos de intereses.</a:t>
            </a:r>
          </a:p>
          <a:p>
            <a:pPr marL="0" indent="0">
              <a:buNone/>
            </a:pPr>
            <a:endParaRPr lang="es-MX" dirty="0"/>
          </a:p>
          <a:p>
            <a:pPr marL="0" indent="0">
              <a:buNone/>
            </a:pPr>
            <a:r>
              <a:rPr lang="es-MX" dirty="0"/>
              <a:t>Razón de cobertura del servicio de la deuda. Determina la facilidad con que una empresa puede pagar sus obligaciones de deuda:</a:t>
            </a:r>
          </a:p>
          <a:p>
            <a:pPr marL="0" indent="0">
              <a:buNone/>
            </a:pPr>
            <a:r>
              <a:rPr lang="es-MX" dirty="0"/>
              <a:t>Razón de cobertura del servicio de la deuda = utilidad operativa / servicio de la deuda total.</a:t>
            </a:r>
            <a:endParaRPr lang="es-CO" dirty="0"/>
          </a:p>
        </p:txBody>
      </p:sp>
    </p:spTree>
    <p:extLst>
      <p:ext uri="{BB962C8B-B14F-4D97-AF65-F5344CB8AC3E}">
        <p14:creationId xmlns:p14="http://schemas.microsoft.com/office/powerpoint/2010/main" val="3558136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3D2C9EF-C8C6-9997-3C64-5B033E97E079}"/>
              </a:ext>
            </a:extLst>
          </p:cNvPr>
          <p:cNvSpPr>
            <a:spLocks noGrp="1"/>
          </p:cNvSpPr>
          <p:nvPr>
            <p:ph idx="1"/>
          </p:nvPr>
        </p:nvSpPr>
        <p:spPr>
          <a:xfrm>
            <a:off x="838200" y="389744"/>
            <a:ext cx="10515600" cy="5787219"/>
          </a:xfrm>
        </p:spPr>
        <p:txBody>
          <a:bodyPr>
            <a:normAutofit fontScale="92500" lnSpcReduction="20000"/>
          </a:bodyPr>
          <a:lstStyle/>
          <a:p>
            <a:r>
              <a:rPr lang="es-MX" dirty="0"/>
              <a:t>Razones de eficiencia. También son conocidas como índices financieros de actividad. Se utilizan para medir cuán bien una empresa utiliza sus activos y recursos. Las más comunes incluyen:</a:t>
            </a:r>
          </a:p>
          <a:p>
            <a:pPr marL="0" indent="0">
              <a:buNone/>
            </a:pPr>
            <a:r>
              <a:rPr lang="es-MX" dirty="0"/>
              <a:t>Razón de rotación de activos. Mide la capacidad de una empresa para generar ventas a partir de los activos:</a:t>
            </a:r>
          </a:p>
          <a:p>
            <a:pPr marL="0" indent="0">
              <a:buNone/>
            </a:pPr>
            <a:r>
              <a:rPr lang="es-MX" dirty="0"/>
              <a:t>Razón de rotación de activos = ventas netas / activos totales.</a:t>
            </a:r>
          </a:p>
          <a:p>
            <a:endParaRPr lang="es-MX" dirty="0"/>
          </a:p>
          <a:p>
            <a:pPr marL="0" indent="0">
              <a:buNone/>
            </a:pPr>
            <a:r>
              <a:rPr lang="es-MX" dirty="0"/>
              <a:t>Razón de rotación del inventario. Mide cuántas veces se vende y se reemplaza el inventario de una empresa en un período determinado:</a:t>
            </a:r>
          </a:p>
          <a:p>
            <a:pPr marL="0" indent="0">
              <a:buNone/>
            </a:pPr>
            <a:r>
              <a:rPr lang="es-MX" dirty="0"/>
              <a:t>Razón de rotación del inventario = costo de mercancía vendida / inventario promedio.</a:t>
            </a:r>
          </a:p>
          <a:p>
            <a:endParaRPr lang="es-MX" dirty="0"/>
          </a:p>
          <a:p>
            <a:pPr marL="0" indent="0">
              <a:buNone/>
            </a:pPr>
            <a:r>
              <a:rPr lang="es-MX" dirty="0"/>
              <a:t>Razón de rotación de cuentas por cobrar. Mide la cantidad de veces que una empresa puede convertir las cuentas por cobrar en efectivo durante un período determinado:</a:t>
            </a:r>
          </a:p>
          <a:p>
            <a:pPr marL="0" indent="0">
              <a:buNone/>
            </a:pPr>
            <a:r>
              <a:rPr lang="es-MX" dirty="0"/>
              <a:t>Razón de rotación de cuentas por cobrar = ventas netas de crédito / promedio de cuentas por cobrar.</a:t>
            </a:r>
          </a:p>
          <a:p>
            <a:endParaRPr lang="es-MX" dirty="0"/>
          </a:p>
          <a:p>
            <a:pPr marL="0" indent="0">
              <a:buNone/>
            </a:pPr>
            <a:r>
              <a:rPr lang="es-MX" dirty="0"/>
              <a:t>Días de ventas en inventario. Mide la cantidad promedio de días que una compañía mantiene en su inventario antes de venderlo a los clientes:</a:t>
            </a:r>
          </a:p>
          <a:p>
            <a:pPr marL="0" indent="0">
              <a:buNone/>
            </a:pPr>
            <a:r>
              <a:rPr lang="es-MX" dirty="0"/>
              <a:t>Días de ventas en inventario = 365 días / razón de rotación del inventario.</a:t>
            </a:r>
            <a:endParaRPr lang="es-CO" dirty="0"/>
          </a:p>
        </p:txBody>
      </p:sp>
    </p:spTree>
    <p:extLst>
      <p:ext uri="{BB962C8B-B14F-4D97-AF65-F5344CB8AC3E}">
        <p14:creationId xmlns:p14="http://schemas.microsoft.com/office/powerpoint/2010/main" val="3005500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161E4D6-E282-2C18-A5E7-976245E135D6}"/>
              </a:ext>
            </a:extLst>
          </p:cNvPr>
          <p:cNvSpPr>
            <a:spLocks noGrp="1"/>
          </p:cNvSpPr>
          <p:nvPr>
            <p:ph idx="1"/>
          </p:nvPr>
        </p:nvSpPr>
        <p:spPr>
          <a:xfrm>
            <a:off x="838200" y="569626"/>
            <a:ext cx="10515600" cy="5607337"/>
          </a:xfrm>
        </p:spPr>
        <p:txBody>
          <a:bodyPr>
            <a:normAutofit fontScale="85000" lnSpcReduction="20000"/>
          </a:bodyPr>
          <a:lstStyle/>
          <a:p>
            <a:pPr algn="l">
              <a:buFont typeface="Arial" panose="020B0604020202020204" pitchFamily="34" charset="0"/>
              <a:buChar char="•"/>
            </a:pPr>
            <a:r>
              <a:rPr lang="es-MX" b="1" i="0" dirty="0">
                <a:solidFill>
                  <a:srgbClr val="000000"/>
                </a:solidFill>
                <a:effectLst/>
                <a:latin typeface="Satoshi"/>
              </a:rPr>
              <a:t>Razones de rentabilidad</a:t>
            </a:r>
            <a:r>
              <a:rPr lang="es-MX" b="0" i="0" dirty="0">
                <a:solidFill>
                  <a:srgbClr val="000000"/>
                </a:solidFill>
                <a:effectLst/>
                <a:latin typeface="Satoshi"/>
              </a:rPr>
              <a:t>. Miden la capacidad de una empresa para generar ingresos en relación con los ingresos, los activos del balance, los costos operativos y el capital. Las más comunes incluyen:</a:t>
            </a:r>
          </a:p>
          <a:p>
            <a:pPr marL="0" indent="0" algn="l">
              <a:buNone/>
            </a:pPr>
            <a:r>
              <a:rPr lang="es-MX" b="1" i="0" dirty="0">
                <a:solidFill>
                  <a:srgbClr val="000000"/>
                </a:solidFill>
                <a:effectLst/>
                <a:latin typeface="Satoshi"/>
              </a:rPr>
              <a:t>Razón de rentabilidad bruta. </a:t>
            </a:r>
            <a:r>
              <a:rPr lang="es-MX" b="0" i="0" dirty="0">
                <a:solidFill>
                  <a:srgbClr val="000000"/>
                </a:solidFill>
                <a:effectLst/>
                <a:latin typeface="Satoshi"/>
              </a:rPr>
              <a:t>Compara la ganancia bruta de una empresa con sus ventas netas para mostrar cuánta ganancia obtiene una empresa después de pagar el costo de mercancía vendida:</a:t>
            </a:r>
          </a:p>
          <a:p>
            <a:pPr algn="ctr">
              <a:spcAft>
                <a:spcPts val="2079"/>
              </a:spcAft>
              <a:buNone/>
            </a:pPr>
            <a:r>
              <a:rPr lang="es-MX" b="0" i="0" dirty="0">
                <a:solidFill>
                  <a:srgbClr val="000000"/>
                </a:solidFill>
                <a:effectLst/>
                <a:latin typeface="Satoshi"/>
              </a:rPr>
              <a:t>Razón de rentabilidad bruta = ganancia bruta / ventas netas.</a:t>
            </a:r>
          </a:p>
          <a:p>
            <a:pPr algn="ctr">
              <a:spcAft>
                <a:spcPts val="2079"/>
              </a:spcAft>
              <a:buNone/>
            </a:pPr>
            <a:r>
              <a:rPr lang="es-MX" b="1" i="0" dirty="0">
                <a:solidFill>
                  <a:srgbClr val="000000"/>
                </a:solidFill>
                <a:effectLst/>
                <a:latin typeface="Satoshi"/>
              </a:rPr>
              <a:t>Razón de rentabilidad operativa</a:t>
            </a:r>
            <a:r>
              <a:rPr lang="es-MX" b="0" i="0" dirty="0">
                <a:solidFill>
                  <a:srgbClr val="000000"/>
                </a:solidFill>
                <a:effectLst/>
                <a:latin typeface="Satoshi"/>
              </a:rPr>
              <a:t>. Compara el ingreso operativo de una empresa con sus ventas netas para determinar la eficiencia operativa:</a:t>
            </a:r>
          </a:p>
          <a:p>
            <a:r>
              <a:rPr lang="es-MX" dirty="0"/>
              <a:t>Razón de rentabilidad operativa = rentabilidad operativa / ventas netas.</a:t>
            </a:r>
          </a:p>
          <a:p>
            <a:endParaRPr lang="es-MX" dirty="0"/>
          </a:p>
          <a:p>
            <a:r>
              <a:rPr lang="es-MX" dirty="0"/>
              <a:t>Razón de rentabilidad sobre activos. Mide la eficiencia con la que una empresa utiliza sus activos para generar ganancias:</a:t>
            </a:r>
          </a:p>
          <a:p>
            <a:r>
              <a:rPr lang="es-MX" dirty="0"/>
              <a:t>Razón de rentabilidad sobre activos = rentabilidad neta / activos totales.</a:t>
            </a:r>
          </a:p>
          <a:p>
            <a:endParaRPr lang="es-MX" dirty="0"/>
          </a:p>
          <a:p>
            <a:r>
              <a:rPr lang="es-MX" dirty="0"/>
              <a:t>Razón de rentabilidad sobre patrimonio. Mide la eficiencia con la que una empresa utiliza su patrimonio para generar ganancias:</a:t>
            </a:r>
          </a:p>
          <a:p>
            <a:r>
              <a:rPr lang="es-MX" dirty="0"/>
              <a:t>Razón de rentabilidad sobre patrimonio = rentabilidad neta / patrimonio de los accionistas.</a:t>
            </a:r>
            <a:endParaRPr lang="es-CO" dirty="0"/>
          </a:p>
        </p:txBody>
      </p:sp>
    </p:spTree>
    <p:extLst>
      <p:ext uri="{BB962C8B-B14F-4D97-AF65-F5344CB8AC3E}">
        <p14:creationId xmlns:p14="http://schemas.microsoft.com/office/powerpoint/2010/main" val="4053684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15578E1-4183-A647-C865-657603EC6EF2}"/>
              </a:ext>
            </a:extLst>
          </p:cNvPr>
          <p:cNvSpPr>
            <a:spLocks noGrp="1"/>
          </p:cNvSpPr>
          <p:nvPr>
            <p:ph idx="1"/>
          </p:nvPr>
        </p:nvSpPr>
        <p:spPr>
          <a:xfrm>
            <a:off x="838200" y="449705"/>
            <a:ext cx="10515600" cy="5727258"/>
          </a:xfrm>
        </p:spPr>
        <p:txBody>
          <a:bodyPr>
            <a:normAutofit fontScale="92500" lnSpcReduction="10000"/>
          </a:bodyPr>
          <a:lstStyle/>
          <a:p>
            <a:r>
              <a:rPr lang="es-MX" dirty="0"/>
              <a:t>Razones de valor de mercado. Se utilizan para evaluar el precio de las acciones de una empresa. Las más comunes son:</a:t>
            </a:r>
          </a:p>
          <a:p>
            <a:r>
              <a:rPr lang="es-MX" dirty="0"/>
              <a:t>Razón valor en libros por acción. Calcula el valor por acción de una empresa en función del capital disponible para los accionistas:</a:t>
            </a:r>
          </a:p>
          <a:p>
            <a:r>
              <a:rPr lang="es-MX" dirty="0"/>
              <a:t>Razón valor en libros por acción = capital contable / Total de acciones en circulación.</a:t>
            </a:r>
          </a:p>
          <a:p>
            <a:endParaRPr lang="es-MX" dirty="0"/>
          </a:p>
          <a:p>
            <a:r>
              <a:rPr lang="es-MX" dirty="0"/>
              <a:t>Razón de rendimiento de dividendos. Mide la cantidad de dividendos atribuidos a los accionistas en relación con el valor de mercado por acción:</a:t>
            </a:r>
          </a:p>
          <a:p>
            <a:r>
              <a:rPr lang="es-MX" dirty="0"/>
              <a:t>Razón de rendimiento de dividendos = dividendos por acción / precio de la acción.</a:t>
            </a:r>
          </a:p>
          <a:p>
            <a:endParaRPr lang="es-MX" dirty="0"/>
          </a:p>
          <a:p>
            <a:r>
              <a:rPr lang="es-MX" dirty="0"/>
              <a:t>Razón de ganancias por acción. Mide la cantidad de ingresos netos obtenidos por cada acción pendiente:</a:t>
            </a:r>
          </a:p>
          <a:p>
            <a:r>
              <a:rPr lang="es-MX" dirty="0"/>
              <a:t>Razón de ganancias por acción = ganancias netas / total de acciones en circulación.</a:t>
            </a:r>
          </a:p>
          <a:p>
            <a:endParaRPr lang="es-MX" dirty="0"/>
          </a:p>
          <a:p>
            <a:r>
              <a:rPr lang="es-MX" dirty="0"/>
              <a:t>Razón precio-ganancias. Compara el precio de las acciones de una empresa con las ganancias por acción:</a:t>
            </a:r>
          </a:p>
          <a:p>
            <a:r>
              <a:rPr lang="es-MX" dirty="0"/>
              <a:t>Razón precio-ganancias = Precio de la acción / Ganancias por acción.</a:t>
            </a:r>
            <a:endParaRPr lang="es-CO" dirty="0"/>
          </a:p>
        </p:txBody>
      </p:sp>
    </p:spTree>
    <p:extLst>
      <p:ext uri="{BB962C8B-B14F-4D97-AF65-F5344CB8AC3E}">
        <p14:creationId xmlns:p14="http://schemas.microsoft.com/office/powerpoint/2010/main" val="2859132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373CD9-DC8B-5F79-4B6E-AC050E291DF0}"/>
              </a:ext>
            </a:extLst>
          </p:cNvPr>
          <p:cNvSpPr>
            <a:spLocks noGrp="1"/>
          </p:cNvSpPr>
          <p:nvPr>
            <p:ph type="title"/>
          </p:nvPr>
        </p:nvSpPr>
        <p:spPr/>
        <p:txBody>
          <a:bodyPr>
            <a:normAutofit fontScale="90000"/>
          </a:bodyPr>
          <a:lstStyle/>
          <a:p>
            <a:r>
              <a:rPr lang="es-MX" b="1" i="0" dirty="0">
                <a:solidFill>
                  <a:srgbClr val="000000"/>
                </a:solidFill>
                <a:effectLst/>
                <a:latin typeface="Satoshi"/>
              </a:rPr>
              <a:t>¿Para qué sirven las razones financieras?</a:t>
            </a:r>
            <a:br>
              <a:rPr lang="es-MX" b="1" i="0" dirty="0">
                <a:solidFill>
                  <a:srgbClr val="000000"/>
                </a:solidFill>
                <a:effectLst/>
                <a:latin typeface="Satoshi"/>
              </a:rPr>
            </a:br>
            <a:endParaRPr lang="es-CO" dirty="0"/>
          </a:p>
        </p:txBody>
      </p:sp>
      <p:sp>
        <p:nvSpPr>
          <p:cNvPr id="3" name="Marcador de contenido 2">
            <a:extLst>
              <a:ext uri="{FF2B5EF4-FFF2-40B4-BE49-F238E27FC236}">
                <a16:creationId xmlns:a16="http://schemas.microsoft.com/office/drawing/2014/main" id="{C6CB4B7E-BA64-B7CB-E5A2-ACD3E5164F0B}"/>
              </a:ext>
            </a:extLst>
          </p:cNvPr>
          <p:cNvSpPr>
            <a:spLocks noGrp="1"/>
          </p:cNvSpPr>
          <p:nvPr>
            <p:ph idx="1"/>
          </p:nvPr>
        </p:nvSpPr>
        <p:spPr/>
        <p:txBody>
          <a:bodyPr/>
          <a:lstStyle/>
          <a:p>
            <a:pPr marL="0" indent="0" algn="just">
              <a:buNone/>
            </a:pPr>
            <a:r>
              <a:rPr lang="es-MX" dirty="0"/>
              <a:t>Las razones financieras son las herramientas más comunes y generalizadas para analizar la situación financiera de una empresa. Las razones son fáciles de entender y fáciles de calcular. También se pueden utilizar para comparar diferentes empresas en distintas industrias.</a:t>
            </a:r>
          </a:p>
          <a:p>
            <a:pPr algn="just"/>
            <a:endParaRPr lang="es-MX" dirty="0"/>
          </a:p>
          <a:p>
            <a:pPr marL="0" indent="0" algn="just">
              <a:buNone/>
            </a:pPr>
            <a:r>
              <a:rPr lang="es-MX" dirty="0"/>
              <a:t>Dado que una razón es simplemente una comparación matemática basada en proporciones, tanto empresas grandes como pequeñas pueden utilizar razones para comparar su información financiera.</a:t>
            </a:r>
            <a:endParaRPr lang="es-CO" dirty="0"/>
          </a:p>
        </p:txBody>
      </p:sp>
    </p:spTree>
    <p:extLst>
      <p:ext uri="{BB962C8B-B14F-4D97-AF65-F5344CB8AC3E}">
        <p14:creationId xmlns:p14="http://schemas.microsoft.com/office/powerpoint/2010/main" val="4146758666"/>
      </p:ext>
    </p:extLst>
  </p:cSld>
  <p:clrMapOvr>
    <a:masterClrMapping/>
  </p:clrMapOvr>
</p:sld>
</file>

<file path=ppt/theme/theme1.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TM04033919[[fn=Circuito]]</Template>
  <TotalTime>23</TotalTime>
  <Words>1125</Words>
  <Application>Microsoft Office PowerPoint</Application>
  <PresentationFormat>Panorámica</PresentationFormat>
  <Paragraphs>72</Paragraphs>
  <Slides>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Calibri Light</vt:lpstr>
      <vt:lpstr>Satoshi</vt:lpstr>
      <vt:lpstr>Retrospección</vt:lpstr>
      <vt:lpstr>RAZONES FINANCIERAS</vt:lpstr>
      <vt:lpstr>¿Qué son las razones financieras? </vt:lpstr>
      <vt:lpstr>Presentación de PowerPoint</vt:lpstr>
      <vt:lpstr>Tipos de razones financieras y sus características </vt:lpstr>
      <vt:lpstr>Presentación de PowerPoint</vt:lpstr>
      <vt:lpstr>Presentación de PowerPoint</vt:lpstr>
      <vt:lpstr>Presentación de PowerPoint</vt:lpstr>
      <vt:lpstr>Presentación de PowerPoint</vt:lpstr>
      <vt:lpstr>¿Para qué sirven las razones financieras?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Nubia Marcela  Díaz Cortés</dc:creator>
  <cp:lastModifiedBy>Nubia Marcela  Díaz Cortés</cp:lastModifiedBy>
  <cp:revision>2</cp:revision>
  <dcterms:created xsi:type="dcterms:W3CDTF">2025-04-11T00:53:57Z</dcterms:created>
  <dcterms:modified xsi:type="dcterms:W3CDTF">2025-04-11T01:17:31Z</dcterms:modified>
</cp:coreProperties>
</file>
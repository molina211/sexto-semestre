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82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75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03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8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309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53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621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82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44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381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41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D5C1-3889-4944-B2CD-33628E883325}" type="datetimeFigureOut">
              <a:rPr lang="es-CO" smtClean="0"/>
              <a:t>24/03/2025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811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550AD-19C9-744E-37A7-AD1B98EC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RAZONAMIENTO CONTABLE Y FINANCIERO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79196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891FED7-7934-9759-B080-C072D506452F}"/>
              </a:ext>
            </a:extLst>
          </p:cNvPr>
          <p:cNvSpPr txBox="1"/>
          <p:nvPr/>
        </p:nvSpPr>
        <p:spPr>
          <a:xfrm>
            <a:off x="808759" y="1748457"/>
            <a:ext cx="78867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/>
              <a:t>El </a:t>
            </a:r>
            <a:r>
              <a:rPr lang="es-MX" sz="2800" b="1" dirty="0"/>
              <a:t>razonamiento contable y financiero</a:t>
            </a:r>
            <a:r>
              <a:rPr lang="es-MX" sz="2800" dirty="0"/>
              <a:t> se refiere al conjunto de habilidades y procesos mentales necesarios para analizar, interpretar y tomar decisiones relacionadas con la información financiera y contable de una organización o individuo. Este razonamiento combina aspectos técnicos, analíticos y estratégicos para garantizar una comprensión precisa de los datos financieros y su impacto en los objetivos económicos.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00462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B927F-7AF1-1D43-B375-F3DD708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D66B5-7893-5781-CC09-09DD2563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Razonamiento Contable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66EA2D-97BF-ED65-DF1A-3F382427CB31}"/>
              </a:ext>
            </a:extLst>
          </p:cNvPr>
          <p:cNvSpPr txBox="1"/>
          <p:nvPr/>
        </p:nvSpPr>
        <p:spPr>
          <a:xfrm>
            <a:off x="346364" y="1858691"/>
            <a:ext cx="87976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dirty="0"/>
              <a:t>El razonamiento contable se enfoca en el registro, clasificación y análisis de las transacciones financieras. Sus principales aspectos incluyen:</a:t>
            </a:r>
          </a:p>
          <a:p>
            <a:pPr>
              <a:buNone/>
            </a:pPr>
            <a:endParaRPr lang="es-MX" sz="2400" dirty="0"/>
          </a:p>
          <a:p>
            <a:pPr>
              <a:buFont typeface="+mj-lt"/>
              <a:buAutoNum type="arabicPeriod"/>
            </a:pPr>
            <a:r>
              <a:rPr lang="es-MX" sz="2400" b="1" dirty="0"/>
              <a:t>Comprensión de principios contables:</a:t>
            </a:r>
            <a:endParaRPr lang="es-MX" sz="2400" dirty="0"/>
          </a:p>
          <a:p>
            <a:pPr marL="742950" lvl="1" indent="-285750">
              <a:buFont typeface="+mj-lt"/>
              <a:buAutoNum type="arabicPeriod"/>
            </a:pPr>
            <a:r>
              <a:rPr lang="es-MX" sz="2400" dirty="0"/>
              <a:t>Conocer y aplicar normas contables como las NIIF (Normas Internacionales de Información Financiera) o los PCGA (Principios de Contabilidad Generalmente Aceptados).</a:t>
            </a:r>
          </a:p>
          <a:p>
            <a:pPr>
              <a:buFont typeface="+mj-lt"/>
              <a:buAutoNum type="arabicPeriod"/>
            </a:pPr>
            <a:r>
              <a:rPr lang="es-MX" sz="2400" b="1" dirty="0"/>
              <a:t>Identificación de transacciones:</a:t>
            </a:r>
            <a:endParaRPr lang="es-MX" sz="2400" dirty="0"/>
          </a:p>
          <a:p>
            <a:pPr marL="742950" lvl="1" indent="-285750">
              <a:buFont typeface="+mj-lt"/>
              <a:buAutoNum type="arabicPeriod"/>
            </a:pPr>
            <a:r>
              <a:rPr lang="es-MX" sz="2400" dirty="0"/>
              <a:t>Entender cómo registrar las transacciones financieras en los libros contables, como el libro diario, el libro mayor y los estados financieros.</a:t>
            </a:r>
          </a:p>
        </p:txBody>
      </p:sp>
    </p:spTree>
    <p:extLst>
      <p:ext uri="{BB962C8B-B14F-4D97-AF65-F5344CB8AC3E}">
        <p14:creationId xmlns:p14="http://schemas.microsoft.com/office/powerpoint/2010/main" val="102404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0CA61-1BC1-7D8B-EDB7-209A456C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6573FBDC-1350-88DF-30D2-87508CEC54E1}"/>
              </a:ext>
            </a:extLst>
          </p:cNvPr>
          <p:cNvSpPr txBox="1"/>
          <p:nvPr/>
        </p:nvSpPr>
        <p:spPr>
          <a:xfrm>
            <a:off x="568036" y="1291165"/>
            <a:ext cx="80079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4. </a:t>
            </a:r>
            <a:r>
              <a:rPr lang="es-MX" sz="2800" b="1" dirty="0"/>
              <a:t>Análisis de estados financieros: </a:t>
            </a:r>
            <a:r>
              <a:rPr lang="es-MX" sz="2800" dirty="0"/>
              <a:t>Interpretar documentos como el balance general, el estado de resultados y el flujo de efectivo para evaluar la salud financiera de una organización.</a:t>
            </a:r>
          </a:p>
          <a:p>
            <a:endParaRPr lang="es-MX" sz="2800" dirty="0"/>
          </a:p>
          <a:p>
            <a:r>
              <a:rPr lang="es-MX" sz="2800" dirty="0"/>
              <a:t>5. </a:t>
            </a:r>
            <a:r>
              <a:rPr lang="es-MX" sz="2800" b="1" dirty="0"/>
              <a:t>Toma de decisiones operativas</a:t>
            </a:r>
            <a:r>
              <a:rPr lang="es-MX" sz="2800" dirty="0"/>
              <a:t>: Usar la información contable para ajustar presupuestos, controlar costos y planificar estrategias financieras a corto plazo.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08894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F69AF-4C0E-E9A4-DA4A-DF7D7AE6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9C35B-79F0-F748-0E1C-2612C826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Razonamiento Financiero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036974-5B80-CB18-37C2-E28D922B41E2}"/>
              </a:ext>
            </a:extLst>
          </p:cNvPr>
          <p:cNvSpPr txBox="1"/>
          <p:nvPr/>
        </p:nvSpPr>
        <p:spPr>
          <a:xfrm>
            <a:off x="484909" y="1956413"/>
            <a:ext cx="85482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dirty="0"/>
              <a:t>El razonamiento financiero va más allá de la contabilidad, enfocándose en el análisis y la estrategia para maximizar el valor económico. Sus aspectos clave son:</a:t>
            </a:r>
          </a:p>
          <a:p>
            <a:pPr>
              <a:buNone/>
            </a:pPr>
            <a:endParaRPr lang="es-MX" sz="2400" dirty="0"/>
          </a:p>
          <a:p>
            <a:pPr>
              <a:buFont typeface="+mj-lt"/>
              <a:buAutoNum type="arabicPeriod"/>
            </a:pPr>
            <a:r>
              <a:rPr lang="es-MX" sz="2400" b="1" dirty="0"/>
              <a:t>Evaluación del rendimiento financiero:</a:t>
            </a:r>
            <a:endParaRPr lang="es-MX" sz="2400" dirty="0"/>
          </a:p>
          <a:p>
            <a:pPr marL="742950" lvl="1" indent="-285750">
              <a:buFont typeface="+mj-lt"/>
              <a:buAutoNum type="arabicPeriod"/>
            </a:pPr>
            <a:r>
              <a:rPr lang="es-MX" sz="2400" dirty="0"/>
              <a:t>Analizar métricas como la rentabilidad, el apalancamiento y la liquidez para evaluar el desempeño de una organización.</a:t>
            </a:r>
          </a:p>
          <a:p>
            <a:pPr lvl="1"/>
            <a:endParaRPr lang="es-MX" sz="2400" dirty="0"/>
          </a:p>
          <a:p>
            <a:pPr>
              <a:buFont typeface="+mj-lt"/>
              <a:buAutoNum type="arabicPeriod"/>
            </a:pPr>
            <a:r>
              <a:rPr lang="es-MX" sz="2400" b="1" dirty="0"/>
              <a:t>Gestión del riesgo:</a:t>
            </a:r>
            <a:endParaRPr lang="es-MX" sz="2400" dirty="0"/>
          </a:p>
          <a:p>
            <a:pPr marL="742950" lvl="1" indent="-285750">
              <a:buFont typeface="+mj-lt"/>
              <a:buAutoNum type="arabicPeriod"/>
            </a:pPr>
            <a:r>
              <a:rPr lang="es-MX" sz="2400" dirty="0"/>
              <a:t>Identificar y mitigar riesgos financieros mediante herramientas como análisis de sensibilidad y diversificación.</a:t>
            </a:r>
          </a:p>
        </p:txBody>
      </p:sp>
    </p:spTree>
    <p:extLst>
      <p:ext uri="{BB962C8B-B14F-4D97-AF65-F5344CB8AC3E}">
        <p14:creationId xmlns:p14="http://schemas.microsoft.com/office/powerpoint/2010/main" val="122666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71B7F-60BA-4B0B-5ADB-4C34E5C0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F84D10-3856-D2F4-6C0A-757137937645}"/>
              </a:ext>
            </a:extLst>
          </p:cNvPr>
          <p:cNvSpPr txBox="1"/>
          <p:nvPr/>
        </p:nvSpPr>
        <p:spPr>
          <a:xfrm>
            <a:off x="685800" y="1277541"/>
            <a:ext cx="7772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3. Estrategias de largo plazo:</a:t>
            </a:r>
            <a:endParaRPr lang="es-MX" sz="2800" dirty="0"/>
          </a:p>
          <a:p>
            <a:pPr marL="742950" lvl="1" indent="-285750">
              <a:buFont typeface="+mj-lt"/>
              <a:buAutoNum type="arabicPeriod"/>
            </a:pPr>
            <a:r>
              <a:rPr lang="es-MX" sz="2800" dirty="0"/>
              <a:t>Diseñar planes financieros sostenibles que equilibren el crecimiento, la rentabilidad y la estabilidad a través de decisiones estratégicas</a:t>
            </a:r>
          </a:p>
          <a:p>
            <a:pPr lvl="1"/>
            <a:endParaRPr lang="es-MX" sz="2800" dirty="0"/>
          </a:p>
          <a:p>
            <a:r>
              <a:rPr lang="es-MX" sz="2800" b="1" dirty="0"/>
              <a:t>4. Planificación e inversión:</a:t>
            </a:r>
            <a:endParaRPr lang="es-MX" sz="2800" dirty="0"/>
          </a:p>
          <a:p>
            <a:pPr marL="742950" lvl="1" indent="-285750">
              <a:buFont typeface="+mj-lt"/>
              <a:buAutoNum type="arabicPeriod"/>
            </a:pPr>
            <a:r>
              <a:rPr lang="es-MX" sz="2800" dirty="0"/>
              <a:t>Tomar decisiones sobre la asignación de recursos, como inversiones en activos fijos, estrategias de financiación y selección de proyectos con base en metodologías como el VAN (Valor Actual Neto) o la TIR (Tasa Interna de Retorno).</a:t>
            </a:r>
          </a:p>
        </p:txBody>
      </p:sp>
    </p:spTree>
    <p:extLst>
      <p:ext uri="{BB962C8B-B14F-4D97-AF65-F5344CB8AC3E}">
        <p14:creationId xmlns:p14="http://schemas.microsoft.com/office/powerpoint/2010/main" val="158315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E13A5-4142-7B38-44DF-D8694151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403C41-B34A-4CC8-DE51-ACC965EB125E}"/>
              </a:ext>
            </a:extLst>
          </p:cNvPr>
          <p:cNvSpPr txBox="1"/>
          <p:nvPr/>
        </p:nvSpPr>
        <p:spPr>
          <a:xfrm>
            <a:off x="692726" y="1318782"/>
            <a:ext cx="69826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200" dirty="0"/>
              <a:t>En resumen, el razonamiento contable y financiero no solo permite comprender la información económica, sino que también impulsa el análisis crítico necesario para la toma de decisiones eficaces en cualquier organización.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516894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384</Words>
  <Application>Microsoft Office PowerPoint</Application>
  <PresentationFormat>Presentación en pantalla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RAZONAMIENTO CONTABLE Y FINANCIERO</vt:lpstr>
      <vt:lpstr>Presentación de PowerPoint</vt:lpstr>
      <vt:lpstr>Razonamiento Contable</vt:lpstr>
      <vt:lpstr>Presentación de PowerPoint</vt:lpstr>
      <vt:lpstr>Razonamiento Financiero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Nubia Marcela  Díaz Cortés</cp:lastModifiedBy>
  <cp:revision>8</cp:revision>
  <dcterms:created xsi:type="dcterms:W3CDTF">2018-03-01T14:57:04Z</dcterms:created>
  <dcterms:modified xsi:type="dcterms:W3CDTF">2025-03-24T16:01:04Z</dcterms:modified>
</cp:coreProperties>
</file>